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92" r:id="rId43"/>
    <p:sldId id="293" r:id="rId44"/>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91" r:id="rId31"/>
    <p:sldId id="285" r:id="rId32"/>
    <p:sldId id="286" r:id="rId33"/>
    <p:sldId id="287" r:id="rId34"/>
    <p:sldId id="288" r:id="rId35"/>
    <p:sldId id="290" r:id="rId36"/>
    <p:sldId id="289" r:id="rId3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282"/>
    <p:restoredTop sz="94610"/>
  </p:normalViewPr>
  <p:slideViewPr>
    <p:cSldViewPr snapToGrid="0" snapToObjects="1">
      <p:cViewPr varScale="1">
        <p:scale>
          <a:sx n="107" d="100"/>
          <a:sy n="107" d="100"/>
        </p:scale>
        <p:origin x="480"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7.xml"/><Relationship Id="rId17" Type="http://schemas.openxmlformats.org/officeDocument/2006/relationships/slide" Target="slides/slide18.xml"/><Relationship Id="rId18" Type="http://schemas.openxmlformats.org/officeDocument/2006/relationships/slide" Target="slides/slide19.xml"/><Relationship Id="rId19" Type="http://schemas.openxmlformats.org/officeDocument/2006/relationships/slide" Target="slides/slide20.xml"/><Relationship Id="rId20" Type="http://schemas.openxmlformats.org/officeDocument/2006/relationships/slide" Target="slides/slide21.xml"/><Relationship Id="rId21" Type="http://schemas.openxmlformats.org/officeDocument/2006/relationships/slide" Target="slides/slide22.xml"/><Relationship Id="rId22" Type="http://schemas.openxmlformats.org/officeDocument/2006/relationships/slide" Target="slides/slide23.xml"/><Relationship Id="rId23" Type="http://schemas.openxmlformats.org/officeDocument/2006/relationships/slide" Target="slides/slide24.xml"/><Relationship Id="rId24" Type="http://schemas.openxmlformats.org/officeDocument/2006/relationships/slide" Target="slides/slide25.xml"/><Relationship Id="rId25" Type="http://schemas.openxmlformats.org/officeDocument/2006/relationships/slide" Target="slides/slide26.xml"/><Relationship Id="rId26" Type="http://schemas.openxmlformats.org/officeDocument/2006/relationships/slide" Target="slides/slide27.xml"/><Relationship Id="rId27" Type="http://schemas.openxmlformats.org/officeDocument/2006/relationships/slide" Target="slides/slide28.xml"/><Relationship Id="rId28" Type="http://schemas.openxmlformats.org/officeDocument/2006/relationships/slide" Target="slides/slide29.xml"/><Relationship Id="rId29" Type="http://schemas.openxmlformats.org/officeDocument/2006/relationships/slide" Target="slides/slide30.xml"/><Relationship Id="rId30" Type="http://schemas.openxmlformats.org/officeDocument/2006/relationships/slide" Target="slides/slide31.xml"/><Relationship Id="rId31" Type="http://schemas.openxmlformats.org/officeDocument/2006/relationships/slide" Target="slides/slide32.xml"/><Relationship Id="rId32" Type="http://schemas.openxmlformats.org/officeDocument/2006/relationships/slide" Target="slides/slide33.xml"/><Relationship Id="rId33" Type="http://schemas.openxmlformats.org/officeDocument/2006/relationships/slide" Target="slides/slide34.xml"/><Relationship Id="rId34" Type="http://schemas.openxmlformats.org/officeDocument/2006/relationships/slide" Target="slides/slide35.xml"/><Relationship Id="rId35" Type="http://schemas.openxmlformats.org/officeDocument/2006/relationships/slide" Target="slides/slide36.xml"/><Relationship Id="rId36" Type="http://schemas.openxmlformats.org/officeDocument/2006/relationships/slide" Target="slides/slide37.xml"/><Relationship Id="rId37" Type="http://schemas.openxmlformats.org/officeDocument/2006/relationships/slide" Target="slides/slide38.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 Id="rId43" Type="http://schemas.openxmlformats.org/officeDocument/2006/relationships/slide" Target="slides/slide15.xml"/><Relationship Id="rId44" Type="http://schemas.openxmlformats.org/officeDocument/2006/relationships/slide" Target="slides/slide1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title>
      <c:tx>
        <c:rich>
          <a:bodyPr/>
          <a:lstStyle/>
          <a:p>
            <a:pPr>
              <a:defRPr sz="1300" b="0" i="0" u="none" strike="noStrike">
                <a:solidFill>
                  <a:srgbClr val="24241F"/>
                </a:solidFill>
                <a:latin typeface="Calibri"/>
              </a:defRPr>
            </a:pPr>
            <a:r>
              <a:rPr lang="en-IN" sz="1300" b="0" i="0" u="none" strike="noStrike">
                <a:solidFill>
                  <a:srgbClr val="24241F"/>
                </a:solidFill>
                <a:latin typeface="Calibri"/>
              </a:rPr>
              <a:t>Units sold per week</a:t>
            </a:r>
          </a:p>
        </c:rich>
      </c:tx>
      <c:overlay val="0"/>
    </c:title>
    <c:autoTitleDeleted val="0"/>
    <c:plotArea>
      <c:layout/>
      <c:lineChart>
        <c:grouping val="standard"/>
        <c:varyColors val="0"/>
        <c:ser>
          <c:idx val="0"/>
          <c:order val="0"/>
          <c:tx>
            <c:strRef>
              <c:f>Sheet1!$B$1</c:f>
              <c:strCache>
                <c:ptCount val="1"/>
                <c:pt idx="0">
                  <c:v>In store</c:v>
                </c:pt>
              </c:strCache>
            </c:strRef>
          </c:tx>
          <c:spPr>
            <a:ln w="25400" cap="flat">
              <a:solidFill>
                <a:srgbClr val="B85042"/>
              </a:solidFill>
              <a:prstDash val="solid"/>
              <a:round/>
            </a:ln>
            <a:effectLst/>
          </c:spPr>
          <c:marker>
            <c:symbol val="circle"/>
            <c:size val="5"/>
            <c:spPr>
              <a:solidFill>
                <a:srgbClr val="B85042"/>
              </a:solidFill>
              <a:ln w="9525" cap="flat">
                <a:solidFill>
                  <a:srgbClr val="B85042"/>
                </a:solidFill>
                <a:prstDash val="solid"/>
                <a:round/>
              </a:ln>
              <a:effectLst/>
            </c:spPr>
          </c:marker>
          <c:cat>
            <c:strRef>
              <c:f>Sheet1!$A$2:$A$7</c:f>
              <c:strCache>
                <c:ptCount val="6"/>
                <c:pt idx="0">
                  <c:v>W21</c:v>
                </c:pt>
                <c:pt idx="1">
                  <c:v>W22</c:v>
                </c:pt>
                <c:pt idx="2">
                  <c:v>W23</c:v>
                </c:pt>
                <c:pt idx="3">
                  <c:v>W24</c:v>
                </c:pt>
                <c:pt idx="4">
                  <c:v>W25</c:v>
                </c:pt>
                <c:pt idx="5">
                  <c:v>W26</c:v>
                </c:pt>
              </c:strCache>
            </c:strRef>
          </c:cat>
          <c:val>
            <c:numRef>
              <c:f>Sheet1!$B$2:$B$7</c:f>
              <c:numCache>
                <c:formatCode>General</c:formatCode>
                <c:ptCount val="6"/>
                <c:pt idx="0">
                  <c:v>16</c:v>
                </c:pt>
                <c:pt idx="1">
                  <c:v>16</c:v>
                </c:pt>
                <c:pt idx="2">
                  <c:v>3</c:v>
                </c:pt>
                <c:pt idx="3">
                  <c:v>3</c:v>
                </c:pt>
                <c:pt idx="4">
                  <c:v>3</c:v>
                </c:pt>
                <c:pt idx="5">
                  <c:v>3</c:v>
                </c:pt>
              </c:numCache>
            </c:numRef>
          </c:val>
          <c:smooth val="0"/>
          <c:extLst>
            <c:ext xmlns:c16="http://schemas.microsoft.com/office/drawing/2014/chart" uri="{C3380CC4-5D6E-409C-BE32-E72D297353CC}">
              <c16:uniqueId val="{00000000-C1CA-EA48-BB58-D3D419E74ECE}"/>
            </c:ext>
          </c:extLst>
        </c:ser>
        <c:ser>
          <c:idx val="1"/>
          <c:order val="1"/>
          <c:tx>
            <c:strRef>
              <c:f>Sheet1!$C$1</c:f>
              <c:strCache>
                <c:ptCount val="1"/>
                <c:pt idx="0">
                  <c:v>Website</c:v>
                </c:pt>
              </c:strCache>
            </c:strRef>
          </c:tx>
          <c:spPr>
            <a:ln w="25400" cap="flat">
              <a:solidFill>
                <a:srgbClr val="2C5F2D"/>
              </a:solidFill>
              <a:prstDash val="solid"/>
              <a:round/>
            </a:ln>
            <a:effectLst/>
          </c:spPr>
          <c:marker>
            <c:symbol val="circle"/>
            <c:size val="5"/>
            <c:spPr>
              <a:solidFill>
                <a:srgbClr val="2C5F2D"/>
              </a:solidFill>
              <a:ln w="9525" cap="flat">
                <a:solidFill>
                  <a:srgbClr val="2C5F2D"/>
                </a:solidFill>
                <a:prstDash val="solid"/>
                <a:round/>
              </a:ln>
              <a:effectLst/>
            </c:spPr>
          </c:marker>
          <c:cat>
            <c:strRef>
              <c:f>Sheet1!$A$2:$A$7</c:f>
              <c:strCache>
                <c:ptCount val="6"/>
                <c:pt idx="0">
                  <c:v>W21</c:v>
                </c:pt>
                <c:pt idx="1">
                  <c:v>W22</c:v>
                </c:pt>
                <c:pt idx="2">
                  <c:v>W23</c:v>
                </c:pt>
                <c:pt idx="3">
                  <c:v>W24</c:v>
                </c:pt>
                <c:pt idx="4">
                  <c:v>W25</c:v>
                </c:pt>
                <c:pt idx="5">
                  <c:v>W26</c:v>
                </c:pt>
              </c:strCache>
            </c:strRef>
          </c:cat>
          <c:val>
            <c:numRef>
              <c:f>Sheet1!$C$2:$C$7</c:f>
              <c:numCache>
                <c:formatCode>General</c:formatCode>
                <c:ptCount val="6"/>
                <c:pt idx="0">
                  <c:v>14</c:v>
                </c:pt>
                <c:pt idx="1">
                  <c:v>13</c:v>
                </c:pt>
                <c:pt idx="2">
                  <c:v>26</c:v>
                </c:pt>
                <c:pt idx="3">
                  <c:v>20</c:v>
                </c:pt>
                <c:pt idx="4">
                  <c:v>21</c:v>
                </c:pt>
                <c:pt idx="5">
                  <c:v>22</c:v>
                </c:pt>
              </c:numCache>
            </c:numRef>
          </c:val>
          <c:smooth val="0"/>
          <c:extLst>
            <c:ext xmlns:c16="http://schemas.microsoft.com/office/drawing/2014/chart" uri="{C3380CC4-5D6E-409C-BE32-E72D297353CC}">
              <c16:uniqueId val="{00000001-C1CA-EA48-BB58-D3D419E74ECE}"/>
            </c:ext>
          </c:extLst>
        </c:ser>
        <c:ser>
          <c:idx val="2"/>
          <c:order val="2"/>
          <c:tx>
            <c:strRef>
              <c:f>Sheet1!$D$1</c:f>
              <c:strCache>
                <c:ptCount val="1"/>
                <c:pt idx="0">
                  <c:v>Total</c:v>
                </c:pt>
              </c:strCache>
            </c:strRef>
          </c:tx>
          <c:spPr>
            <a:ln w="25400" cap="flat">
              <a:solidFill>
                <a:srgbClr val="B9C4B0"/>
              </a:solidFill>
              <a:prstDash val="solid"/>
              <a:round/>
            </a:ln>
            <a:effectLst/>
          </c:spPr>
          <c:marker>
            <c:symbol val="circle"/>
            <c:size val="5"/>
            <c:spPr>
              <a:solidFill>
                <a:srgbClr val="B9C4B0"/>
              </a:solidFill>
              <a:ln w="9525" cap="flat">
                <a:solidFill>
                  <a:srgbClr val="B9C4B0"/>
                </a:solidFill>
                <a:prstDash val="solid"/>
                <a:round/>
              </a:ln>
              <a:effectLst/>
            </c:spPr>
          </c:marker>
          <c:cat>
            <c:strRef>
              <c:f>Sheet1!$A$2:$A$7</c:f>
              <c:strCache>
                <c:ptCount val="6"/>
                <c:pt idx="0">
                  <c:v>W21</c:v>
                </c:pt>
                <c:pt idx="1">
                  <c:v>W22</c:v>
                </c:pt>
                <c:pt idx="2">
                  <c:v>W23</c:v>
                </c:pt>
                <c:pt idx="3">
                  <c:v>W24</c:v>
                </c:pt>
                <c:pt idx="4">
                  <c:v>W25</c:v>
                </c:pt>
                <c:pt idx="5">
                  <c:v>W26</c:v>
                </c:pt>
              </c:strCache>
            </c:strRef>
          </c:cat>
          <c:val>
            <c:numRef>
              <c:f>Sheet1!$D$2:$D$7</c:f>
              <c:numCache>
                <c:formatCode>General</c:formatCode>
                <c:ptCount val="6"/>
                <c:pt idx="0">
                  <c:v>30</c:v>
                </c:pt>
                <c:pt idx="1">
                  <c:v>29</c:v>
                </c:pt>
                <c:pt idx="2">
                  <c:v>29</c:v>
                </c:pt>
                <c:pt idx="3">
                  <c:v>23</c:v>
                </c:pt>
                <c:pt idx="4">
                  <c:v>24</c:v>
                </c:pt>
                <c:pt idx="5">
                  <c:v>25</c:v>
                </c:pt>
              </c:numCache>
            </c:numRef>
          </c:val>
          <c:smooth val="0"/>
          <c:extLst>
            <c:ext xmlns:c16="http://schemas.microsoft.com/office/drawing/2014/chart" uri="{C3380CC4-5D6E-409C-BE32-E72D297353CC}">
              <c16:uniqueId val="{00000002-C1CA-EA48-BB58-D3D419E74ECE}"/>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E66"/>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E7EBE3"/>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E66"/>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6E6E66"/>
              </a:solidFill>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title>
      <c:tx>
        <c:rich>
          <a:bodyPr/>
          <a:lstStyle/>
          <a:p>
            <a:pPr>
              <a:defRPr sz="1250" b="0" i="0" u="none" strike="noStrike">
                <a:solidFill>
                  <a:srgbClr val="24241F"/>
                </a:solidFill>
                <a:latin typeface="Calibri"/>
              </a:defRPr>
            </a:pPr>
            <a:r>
              <a:rPr lang="en-IN" sz="1250" b="0" i="0" u="none" strike="noStrike">
                <a:solidFill>
                  <a:srgbClr val="24241F"/>
                </a:solidFill>
                <a:latin typeface="Calibri"/>
              </a:rPr>
              <a:t>Which number the order is sized against</a:t>
            </a:r>
          </a:p>
        </c:rich>
      </c:tx>
      <c:overlay val="0"/>
    </c:title>
    <c:autoTitleDeleted val="0"/>
    <c:plotArea>
      <c:layout/>
      <c:barChart>
        <c:barDir val="col"/>
        <c:grouping val="clustered"/>
        <c:varyColors val="0"/>
        <c:ser>
          <c:idx val="0"/>
          <c:order val="0"/>
          <c:tx>
            <c:strRef>
              <c:f>Sheet1!$B$1</c:f>
              <c:strCache>
                <c:ptCount val="1"/>
                <c:pt idx="0">
                  <c:v>Units per week</c:v>
                </c:pt>
              </c:strCache>
            </c:strRef>
          </c:tx>
          <c:spPr>
            <a:solidFill>
              <a:srgbClr val="2C5F2D"/>
            </a:solidFill>
            <a:effectLst/>
          </c:spPr>
          <c:invertIfNegative val="0"/>
          <c:dPt>
            <c:idx val="0"/>
            <c:invertIfNegative val="0"/>
            <c:bubble3D val="0"/>
            <c:extLst>
              <c:ext xmlns:c16="http://schemas.microsoft.com/office/drawing/2014/chart" uri="{C3380CC4-5D6E-409C-BE32-E72D297353CC}">
                <c16:uniqueId val="{00000001-5FA3-F947-A110-A939D6DD16D7}"/>
              </c:ext>
            </c:extLst>
          </c:dPt>
          <c:dPt>
            <c:idx val="1"/>
            <c:invertIfNegative val="0"/>
            <c:bubble3D val="0"/>
            <c:spPr>
              <a:solidFill>
                <a:srgbClr val="B85042"/>
              </a:solidFill>
              <a:effectLst/>
            </c:spPr>
            <c:extLst>
              <c:ext xmlns:c16="http://schemas.microsoft.com/office/drawing/2014/chart" uri="{C3380CC4-5D6E-409C-BE32-E72D297353CC}">
                <c16:uniqueId val="{00000003-5FA3-F947-A110-A939D6DD16D7}"/>
              </c:ext>
            </c:extLst>
          </c:dPt>
          <c:dPt>
            <c:idx val="2"/>
            <c:invertIfNegative val="0"/>
            <c:bubble3D val="0"/>
            <c:spPr>
              <a:solidFill>
                <a:srgbClr val="C9A9A1"/>
              </a:solidFill>
              <a:effectLst/>
            </c:spPr>
            <c:extLst>
              <c:ext xmlns:c16="http://schemas.microsoft.com/office/drawing/2014/chart" uri="{C3380CC4-5D6E-409C-BE32-E72D297353CC}">
                <c16:uniqueId val="{00000005-5FA3-F947-A110-A939D6DD16D7}"/>
              </c:ext>
            </c:extLst>
          </c:dPt>
          <c:dLbls>
            <c:numFmt formatCode="#,##0" sourceLinked="0"/>
            <c:spPr>
              <a:noFill/>
              <a:ln>
                <a:noFill/>
              </a:ln>
              <a:effectLst/>
            </c:spPr>
            <c:txPr>
              <a:bodyPr/>
              <a:lstStyle/>
              <a:p>
                <a:pPr>
                  <a:defRPr sz="1200" b="0" i="0" u="none" strike="noStrike">
                    <a:solidFill>
                      <a:srgbClr val="24241F"/>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True baseline</c:v>
                </c:pt>
                <c:pt idx="1">
                  <c:v>8-week 'fix'</c:v>
                </c:pt>
                <c:pt idx="2">
                  <c:v>4-week average</c:v>
                </c:pt>
              </c:strCache>
            </c:strRef>
          </c:cat>
          <c:val>
            <c:numRef>
              <c:f>Sheet1!$B$2:$B$4</c:f>
              <c:numCache>
                <c:formatCode>General</c:formatCode>
                <c:ptCount val="3"/>
                <c:pt idx="0">
                  <c:v>42</c:v>
                </c:pt>
                <c:pt idx="1">
                  <c:v>94.6</c:v>
                </c:pt>
                <c:pt idx="2">
                  <c:v>148.80000000000001</c:v>
                </c:pt>
              </c:numCache>
            </c:numRef>
          </c:val>
          <c:extLst>
            <c:ext xmlns:c16="http://schemas.microsoft.com/office/drawing/2014/chart" uri="{C3380CC4-5D6E-409C-BE32-E72D297353CC}">
              <c16:uniqueId val="{00000006-5FA3-F947-A110-A939D6DD16D7}"/>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E6E66"/>
                </a:solidFill>
                <a:latin typeface="Arial"/>
              </a:defRPr>
            </a:pPr>
            <a:endParaRPr lang="en-US"/>
          </a:p>
        </c:txPr>
        <c:crossAx val="2094734552"/>
        <c:crosses val="autoZero"/>
        <c:auto val="1"/>
        <c:lblAlgn val="ctr"/>
        <c:lblOffset val="100"/>
        <c:noMultiLvlLbl val="1"/>
      </c:catAx>
      <c:valAx>
        <c:axId val="2094734552"/>
        <c:scaling>
          <c:orientation val="minMax"/>
          <c:max val="175"/>
        </c:scaling>
        <c:delete val="0"/>
        <c:axPos val="l"/>
        <c:majorGridlines>
          <c:spPr>
            <a:ln w="12700" cap="flat">
              <a:solidFill>
                <a:srgbClr val="E7EBE3"/>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E66"/>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title>
      <c:tx>
        <c:rich>
          <a:bodyPr/>
          <a:lstStyle/>
          <a:p>
            <a:pPr>
              <a:defRPr sz="1250" b="0" i="0" u="none" strike="noStrike">
                <a:solidFill>
                  <a:srgbClr val="24241F"/>
                </a:solidFill>
                <a:latin typeface="Calibri"/>
              </a:defRPr>
            </a:pPr>
            <a:r>
              <a:rPr lang="en-IN" sz="1250" b="0" i="0" u="none" strike="noStrike">
                <a:solidFill>
                  <a:srgbClr val="24241F"/>
                </a:solidFill>
                <a:latin typeface="Calibri"/>
              </a:rPr>
              <a:t>Exposure while the shelf is empty</a:t>
            </a:r>
          </a:p>
        </c:rich>
      </c:tx>
      <c:overlay val="0"/>
    </c:title>
    <c:autoTitleDeleted val="0"/>
    <c:plotArea>
      <c:layout/>
      <c:barChart>
        <c:barDir val="bar"/>
        <c:grouping val="clustered"/>
        <c:varyColors val="0"/>
        <c:ser>
          <c:idx val="0"/>
          <c:order val="0"/>
          <c:tx>
            <c:strRef>
              <c:f>Sheet1!$B$1</c:f>
              <c:strCache>
                <c:ptCount val="1"/>
                <c:pt idx="0">
                  <c:v>Revenue at risk</c:v>
                </c:pt>
              </c:strCache>
            </c:strRef>
          </c:tx>
          <c:spPr>
            <a:solidFill>
              <a:srgbClr val="2C5F2D"/>
            </a:solidFill>
            <a:effectLst/>
          </c:spPr>
          <c:invertIfNegative val="0"/>
          <c:dLbls>
            <c:numFmt formatCode="#,##0" sourceLinked="0"/>
            <c:spPr>
              <a:noFill/>
              <a:ln>
                <a:noFill/>
              </a:ln>
              <a:effectLst/>
            </c:spPr>
            <c:txPr>
              <a:bodyPr/>
              <a:lstStyle/>
              <a:p>
                <a:pPr>
                  <a:defRPr sz="1100" b="0" i="0" u="none" strike="noStrike">
                    <a:solidFill>
                      <a:srgbClr val="24241F"/>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Jacket (13 days)</c:v>
                </c:pt>
                <c:pt idx="1">
                  <c:v>Shoe, men's (28 days)</c:v>
                </c:pt>
                <c:pt idx="2">
                  <c:v>Shoe, women's (27 days)</c:v>
                </c:pt>
              </c:strCache>
            </c:strRef>
          </c:cat>
          <c:val>
            <c:numRef>
              <c:f>Sheet1!$B$2:$B$4</c:f>
              <c:numCache>
                <c:formatCode>General</c:formatCode>
                <c:ptCount val="3"/>
                <c:pt idx="0">
                  <c:v>26172</c:v>
                </c:pt>
                <c:pt idx="1">
                  <c:v>22338</c:v>
                </c:pt>
                <c:pt idx="2">
                  <c:v>19945</c:v>
                </c:pt>
              </c:numCache>
            </c:numRef>
          </c:val>
          <c:extLst>
            <c:ext xmlns:c16="http://schemas.microsoft.com/office/drawing/2014/chart" uri="{C3380CC4-5D6E-409C-BE32-E72D297353CC}">
              <c16:uniqueId val="{00000000-8586-3C4B-89D6-EF6FA290B3D3}"/>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6E6E66"/>
                </a:solidFill>
                <a:latin typeface="Arial"/>
              </a:defRPr>
            </a:pPr>
            <a:endParaRPr lang="en-US"/>
          </a:p>
        </c:txPr>
        <c:crossAx val="2094734552"/>
        <c:crosses val="autoZero"/>
        <c:auto val="1"/>
        <c:lblAlgn val="ctr"/>
        <c:lblOffset val="100"/>
        <c:noMultiLvlLbl val="1"/>
      </c:catAx>
      <c:valAx>
        <c:axId val="2094734552"/>
        <c:scaling>
          <c:orientation val="minMax"/>
          <c:max val="32000"/>
        </c:scaling>
        <c:delete val="0"/>
        <c:axPos val="b"/>
        <c:majorGridlines>
          <c:spPr>
            <a:ln w="12700" cap="flat">
              <a:solidFill>
                <a:srgbClr val="E7EBE3"/>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6E6E66"/>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441056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Master deck. Section 1 is the business story for a non-retail audience. Sections 2a-2c are the technical submission. Section 4 is appendix material — a leave-behind, not for presenting live.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chart" Target="../charts/char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chart" Target="../charts/char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chart" Target="../charts/char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301A"/>
        </a:solidFill>
        <a:effectLst/>
      </p:bgPr>
    </p:bg>
    <p:spTree>
      <p:nvGrpSpPr>
        <p:cNvPr id="1" name=""/>
        <p:cNvGrpSpPr/>
        <p:nvPr/>
      </p:nvGrpSpPr>
      <p:grpSpPr>
        <a:xfrm>
          <a:off x="0" y="0"/>
          <a:ext cx="0" cy="0"/>
          <a:chOff x="0" y="0"/>
          <a:chExt cx="0" cy="0"/>
        </a:xfrm>
      </p:grpSpPr>
      <p:sp>
        <p:nvSpPr>
          <p:cNvPr id="2" name="Text 0"/>
          <p:cNvSpPr/>
          <p:nvPr/>
        </p:nvSpPr>
        <p:spPr>
          <a:xfrm>
            <a:off x="640080" y="1691640"/>
            <a:ext cx="8229600" cy="320040"/>
          </a:xfrm>
          <a:prstGeom prst="rect">
            <a:avLst/>
          </a:prstGeom>
          <a:noFill/>
          <a:ln/>
        </p:spPr>
        <p:txBody>
          <a:bodyPr wrap="square" rtlCol="0" anchor="ctr"/>
          <a:lstStyle/>
          <a:p>
            <a:pPr marL="0" indent="0">
              <a:buNone/>
            </a:pPr>
            <a:r>
              <a:rPr lang="en-US" sz="1300" b="1" kern="0" spc="300" dirty="0">
                <a:solidFill>
                  <a:srgbClr val="97BC62"/>
                </a:solidFill>
                <a:latin typeface="Calibri" pitchFamily="34" charset="0"/>
                <a:ea typeface="Calibri" pitchFamily="34" charset="-122"/>
                <a:cs typeface="Calibri" pitchFamily="34" charset="-120"/>
              </a:rPr>
              <a:t>AGENTIC OPERATIONS</a:t>
            </a:r>
            <a:endParaRPr lang="en-US" sz="1300" dirty="0"/>
          </a:p>
        </p:txBody>
      </p:sp>
      <p:sp>
        <p:nvSpPr>
          <p:cNvPr id="3" name="Text 1"/>
          <p:cNvSpPr/>
          <p:nvPr/>
        </p:nvSpPr>
        <p:spPr>
          <a:xfrm>
            <a:off x="640080" y="2057400"/>
            <a:ext cx="10241280" cy="1371600"/>
          </a:xfrm>
          <a:prstGeom prst="rect">
            <a:avLst/>
          </a:prstGeom>
          <a:noFill/>
          <a:ln/>
        </p:spPr>
        <p:txBody>
          <a:bodyPr wrap="square" rtlCol="0" anchor="t"/>
          <a:lstStyle/>
          <a:p>
            <a:pPr marL="0" indent="0">
              <a:buNone/>
            </a:pPr>
            <a:r>
              <a:rPr lang="en-US" sz="4600" b="1" dirty="0">
                <a:solidFill>
                  <a:srgbClr val="FFFFFF"/>
                </a:solidFill>
                <a:latin typeface="Cambria" pitchFamily="34" charset="0"/>
                <a:ea typeface="Cambria" pitchFamily="34" charset="-122"/>
                <a:cs typeface="Cambria" pitchFamily="34" charset="-120"/>
              </a:rPr>
              <a:t>Northpeak Outfitters</a:t>
            </a:r>
            <a:endParaRPr lang="en-US" sz="4600" dirty="0"/>
          </a:p>
        </p:txBody>
      </p:sp>
      <p:sp>
        <p:nvSpPr>
          <p:cNvPr id="4" name="Text 2"/>
          <p:cNvSpPr/>
          <p:nvPr/>
        </p:nvSpPr>
        <p:spPr>
          <a:xfrm>
            <a:off x="640080" y="3520440"/>
            <a:ext cx="9326880" cy="914400"/>
          </a:xfrm>
          <a:prstGeom prst="rect">
            <a:avLst/>
          </a:prstGeom>
          <a:noFill/>
          <a:ln/>
        </p:spPr>
        <p:txBody>
          <a:bodyPr wrap="square" rtlCol="0" anchor="ctr"/>
          <a:lstStyle/>
          <a:p>
            <a:pPr marL="0" indent="0">
              <a:lnSpc>
                <a:spcPts val="2600"/>
              </a:lnSpc>
              <a:buNone/>
            </a:pPr>
            <a:r>
              <a:rPr lang="en-US" sz="1700" dirty="0">
                <a:solidFill>
                  <a:srgbClr val="C7D6BE"/>
                </a:solidFill>
                <a:latin typeface="Calibri" pitchFamily="34" charset="0"/>
                <a:ea typeface="Calibri" pitchFamily="34" charset="-122"/>
                <a:cs typeface="Calibri" pitchFamily="34" charset="-120"/>
              </a:rPr>
              <a:t>Rebuilding stock replenishment around an AI agent — the business case, the working prototype, and an honest account of what it cannot do.</a:t>
            </a:r>
            <a:endParaRPr lang="en-US" sz="1700" dirty="0"/>
          </a:p>
        </p:txBody>
      </p:sp>
      <p:sp>
        <p:nvSpPr>
          <p:cNvPr id="5" name="Text 3"/>
          <p:cNvSpPr/>
          <p:nvPr/>
        </p:nvSpPr>
        <p:spPr>
          <a:xfrm>
            <a:off x="640080" y="5120640"/>
            <a:ext cx="8229600" cy="274320"/>
          </a:xfrm>
          <a:prstGeom prst="rect">
            <a:avLst/>
          </a:prstGeom>
          <a:noFill/>
          <a:ln/>
        </p:spPr>
        <p:txBody>
          <a:bodyPr wrap="square" lIns="0" tIns="0" rIns="0" bIns="0" rtlCol="0" anchor="ctr"/>
          <a:lstStyle/>
          <a:p>
            <a:pPr marL="0" indent="0">
              <a:buNone/>
            </a:pPr>
            <a:r>
              <a:rPr lang="en-US" sz="1200" dirty="0">
                <a:solidFill>
                  <a:srgbClr val="97BC62"/>
                </a:solidFill>
                <a:latin typeface="Calibri" pitchFamily="34" charset="0"/>
                <a:ea typeface="Calibri" pitchFamily="34" charset="-122"/>
                <a:cs typeface="Calibri" pitchFamily="34" charset="-120"/>
              </a:rPr>
              <a:t>Live prototype  ·  agentic-replenishment.streamlit.app</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2C5F2D"/>
        </a:solidFill>
        <a:effectLst/>
      </p:bgPr>
    </p:bg>
    <p:spTree>
      <p:nvGrpSpPr>
        <p:cNvPr id="1" name=""/>
        <p:cNvGrpSpPr/>
        <p:nvPr/>
      </p:nvGrpSpPr>
      <p:grpSpPr>
        <a:xfrm>
          <a:off x="0" y="0"/>
          <a:ext cx="0" cy="0"/>
          <a:chOff x="0" y="0"/>
          <a:chExt cx="0" cy="0"/>
        </a:xfrm>
      </p:grpSpPr>
      <p:sp>
        <p:nvSpPr>
          <p:cNvPr id="2" name="Shape 0"/>
          <p:cNvSpPr/>
          <p:nvPr/>
        </p:nvSpPr>
        <p:spPr>
          <a:xfrm>
            <a:off x="640080" y="2286000"/>
            <a:ext cx="868680" cy="868680"/>
          </a:xfrm>
          <a:prstGeom prst="ellipse">
            <a:avLst/>
          </a:prstGeom>
          <a:solidFill>
            <a:srgbClr val="97BC62"/>
          </a:solidFill>
          <a:ln/>
        </p:spPr>
        <p:txBody>
          <a:bodyPr/>
          <a:p/>
        </p:txBody>
      </p:sp>
      <p:sp>
        <p:nvSpPr>
          <p:cNvPr id="3" name="Text 1"/>
          <p:cNvSpPr/>
          <p:nvPr/>
        </p:nvSpPr>
        <p:spPr>
          <a:xfrm>
            <a:off x="640080" y="2286000"/>
            <a:ext cx="868680" cy="868680"/>
          </a:xfrm>
          <a:prstGeom prst="rect">
            <a:avLst/>
          </a:prstGeom>
          <a:noFill/>
          <a:ln/>
        </p:spPr>
        <p:txBody>
          <a:bodyPr wrap="square" rtlCol="0" anchor="ctr"/>
          <a:lstStyle/>
          <a:p>
            <a:pPr marL="0" indent="0" algn="ctr">
              <a:buNone/>
            </a:pPr>
            <a:r>
              <a:rPr lang="en-US" sz="3200" b="1" dirty="0">
                <a:solidFill>
                  <a:srgbClr val="16301A"/>
                </a:solidFill>
                <a:latin typeface="Cambria" pitchFamily="34" charset="0"/>
                <a:ea typeface="Cambria" pitchFamily="34" charset="-122"/>
                <a:cs typeface="Cambria" pitchFamily="34" charset="-120"/>
              </a:rPr>
              <a:t>1</a:t>
            </a:r>
            <a:endParaRPr lang="en-US" sz="3200" dirty="0"/>
          </a:p>
        </p:txBody>
      </p:sp>
      <p:sp>
        <p:nvSpPr>
          <p:cNvPr id="4" name="Text 2"/>
          <p:cNvSpPr/>
          <p:nvPr/>
        </p:nvSpPr>
        <p:spPr>
          <a:xfrm>
            <a:off x="1874520" y="2240280"/>
            <a:ext cx="9509760" cy="777240"/>
          </a:xfrm>
          <a:prstGeom prst="rect">
            <a:avLst/>
          </a:prstGeom>
          <a:noFill/>
          <a:ln/>
        </p:spPr>
        <p:txBody>
          <a:bodyPr wrap="square" rtlCol="0" anchor="ctr"/>
          <a:lstStyle/>
          <a:p>
            <a:pPr marL="0" indent="0">
              <a:buNone/>
            </a:pPr>
            <a:r>
              <a:rPr lang="en-US" sz="3800" b="1" dirty="0">
                <a:solidFill>
                  <a:srgbClr val="FFFFFF"/>
                </a:solidFill>
                <a:latin typeface="Cambria" pitchFamily="34" charset="0"/>
                <a:ea typeface="Cambria" pitchFamily="34" charset="-122"/>
                <a:cs typeface="Cambria" pitchFamily="34" charset="-120"/>
              </a:rPr>
              <a:t>The business story</a:t>
            </a:r>
            <a:endParaRPr lang="en-US" sz="3800" dirty="0"/>
          </a:p>
        </p:txBody>
      </p:sp>
      <p:sp>
        <p:nvSpPr>
          <p:cNvPr id="5" name="Text 3"/>
          <p:cNvSpPr/>
          <p:nvPr/>
        </p:nvSpPr>
        <p:spPr>
          <a:xfrm>
            <a:off x="1874520" y="3063240"/>
            <a:ext cx="8961120" cy="822960"/>
          </a:xfrm>
          <a:prstGeom prst="rect">
            <a:avLst/>
          </a:prstGeom>
          <a:noFill/>
          <a:ln/>
        </p:spPr>
        <p:txBody>
          <a:bodyPr wrap="square" rtlCol="0" anchor="ctr"/>
          <a:lstStyle/>
          <a:p>
            <a:pPr marL="0" indent="0">
              <a:lnSpc>
                <a:spcPts val="2400"/>
              </a:lnSpc>
              <a:buNone/>
            </a:pPr>
            <a:r>
              <a:rPr lang="en-US" sz="1600" dirty="0">
                <a:solidFill>
                  <a:srgbClr val="D4E3C6"/>
                </a:solidFill>
                <a:latin typeface="Calibri" pitchFamily="34" charset="0"/>
                <a:ea typeface="Calibri" pitchFamily="34" charset="-122"/>
                <a:cs typeface="Calibri" pitchFamily="34" charset="-120"/>
              </a:rPr>
              <a:t>Who Northpeak is, how replenishment works today, and the four ways it quietly goes wrong. Written for readers with no retail background.</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10881360" cy="566928"/>
          </a:xfrm>
          <a:prstGeom prst="rect">
            <a:avLst/>
          </a:prstGeom>
          <a:noFill/>
          <a:ln/>
        </p:spPr>
        <p:txBody>
          <a:bodyPr wrap="square" lIns="0" tIns="0" rIns="0" bIns="0" rtlCol="0" anchor="ctr"/>
          <a:lstStyle/>
          <a:p>
            <a:pPr marL="0" indent="0">
              <a:buNone/>
            </a:pPr>
            <a:r>
              <a:rPr lang="en-US" sz="3300" b="1" dirty="0">
                <a:solidFill>
                  <a:srgbClr val="2C5F2D"/>
                </a:solidFill>
                <a:latin typeface="Cambria" pitchFamily="34" charset="0"/>
                <a:ea typeface="Cambria" pitchFamily="34" charset="-122"/>
                <a:cs typeface="Cambria" pitchFamily="34" charset="-120"/>
              </a:rPr>
              <a:t>Northpeak Outfitters</a:t>
            </a:r>
            <a:endParaRPr lang="en-US" sz="3300" dirty="0"/>
          </a:p>
        </p:txBody>
      </p:sp>
      <p:sp>
        <p:nvSpPr>
          <p:cNvPr id="3" name="Text 1"/>
          <p:cNvSpPr/>
          <p:nvPr/>
        </p:nvSpPr>
        <p:spPr>
          <a:xfrm>
            <a:off x="640080" y="1042416"/>
            <a:ext cx="10424160" cy="384048"/>
          </a:xfrm>
          <a:prstGeom prst="rect">
            <a:avLst/>
          </a:prstGeom>
          <a:noFill/>
          <a:ln/>
        </p:spPr>
        <p:txBody>
          <a:bodyPr wrap="square" lIns="0" tIns="0" rIns="0" bIns="0" rtlCol="0" anchor="ctr"/>
          <a:lstStyle/>
          <a:p>
            <a:pPr marL="0" indent="0">
              <a:buNone/>
            </a:pPr>
            <a:r>
              <a:rPr lang="en-US" sz="1500" dirty="0">
                <a:solidFill>
                  <a:srgbClr val="6E6E66"/>
                </a:solidFill>
                <a:latin typeface="Calibri" pitchFamily="34" charset="0"/>
                <a:ea typeface="Calibri" pitchFamily="34" charset="-122"/>
                <a:cs typeface="Calibri" pitchFamily="34" charset="-120"/>
              </a:rPr>
              <a:t>A mid-sized outdoor gear retailer — invented, but realistic</a:t>
            </a:r>
            <a:endParaRPr lang="en-US" sz="1500" dirty="0"/>
          </a:p>
        </p:txBody>
      </p:sp>
      <p:sp>
        <p:nvSpPr>
          <p:cNvPr id="4" name="Text 2"/>
          <p:cNvSpPr/>
          <p:nvPr/>
        </p:nvSpPr>
        <p:spPr>
          <a:xfrm>
            <a:off x="640080" y="1691640"/>
            <a:ext cx="5852160" cy="914400"/>
          </a:xfrm>
          <a:prstGeom prst="rect">
            <a:avLst/>
          </a:prstGeom>
          <a:noFill/>
          <a:ln/>
        </p:spPr>
        <p:txBody>
          <a:bodyPr wrap="square" lIns="0" tIns="0" rIns="0" bIns="0" rtlCol="0" anchor="ctr"/>
          <a:lstStyle/>
          <a:p>
            <a:pPr marL="0" indent="0">
              <a:lnSpc>
                <a:spcPts val="2400"/>
              </a:lnSpc>
              <a:buNone/>
            </a:pPr>
            <a:r>
              <a:rPr lang="en-US" sz="1550" dirty="0">
                <a:solidFill>
                  <a:srgbClr val="24241F"/>
                </a:solidFill>
                <a:latin typeface="Calibri" pitchFamily="34" charset="0"/>
                <a:ea typeface="Calibri" pitchFamily="34" charset="-122"/>
                <a:cs typeface="Calibri" pitchFamily="34" charset="-120"/>
              </a:rPr>
              <a:t>Northpeak sells walking boots, waterproof jackets, tents, backpacks, thermal layers, head torches, and the many small accessories that go with them.</a:t>
            </a:r>
            <a:endParaRPr lang="en-US" sz="1550" dirty="0"/>
          </a:p>
        </p:txBody>
      </p:sp>
      <p:sp>
        <p:nvSpPr>
          <p:cNvPr id="5" name="Text 3"/>
          <p:cNvSpPr/>
          <p:nvPr/>
        </p:nvSpPr>
        <p:spPr>
          <a:xfrm>
            <a:off x="640080" y="2743200"/>
            <a:ext cx="5852160" cy="1280160"/>
          </a:xfrm>
          <a:prstGeom prst="rect">
            <a:avLst/>
          </a:prstGeom>
          <a:noFill/>
          <a:ln/>
        </p:spPr>
        <p:txBody>
          <a:bodyPr wrap="square" lIns="0" tIns="0" rIns="0" bIns="0" rtlCol="0" anchor="ctr"/>
          <a:lstStyle/>
          <a:p>
            <a:pPr marL="0" indent="0">
              <a:lnSpc>
                <a:spcPts val="2400"/>
              </a:lnSpc>
              <a:buNone/>
            </a:pPr>
            <a:r>
              <a:rPr lang="en-US" sz="1550" dirty="0">
                <a:solidFill>
                  <a:srgbClr val="24241F"/>
                </a:solidFill>
                <a:latin typeface="Calibri" pitchFamily="34" charset="0"/>
                <a:ea typeface="Calibri" pitchFamily="34" charset="-122"/>
                <a:cs typeface="Calibri" pitchFamily="34" charset="-120"/>
              </a:rPr>
              <a:t>It sells through two routes at once — shops and a website. In the trade that is called omnichannel, which simply means the two must work together: a customer might browse online and buy in store, or order online and collect at a counter.</a:t>
            </a:r>
            <a:endParaRPr lang="en-US" sz="1550" dirty="0"/>
          </a:p>
        </p:txBody>
      </p:sp>
      <p:sp>
        <p:nvSpPr>
          <p:cNvPr id="6" name="Text 4"/>
          <p:cNvSpPr/>
          <p:nvPr/>
        </p:nvSpPr>
        <p:spPr>
          <a:xfrm>
            <a:off x="640080" y="4160520"/>
            <a:ext cx="5852160" cy="822960"/>
          </a:xfrm>
          <a:prstGeom prst="rect">
            <a:avLst/>
          </a:prstGeom>
          <a:noFill/>
          <a:ln/>
        </p:spPr>
        <p:txBody>
          <a:bodyPr wrap="square" lIns="0" tIns="0" rIns="0" bIns="0" rtlCol="0" anchor="ctr"/>
          <a:lstStyle/>
          <a:p>
            <a:pPr marL="0" indent="0">
              <a:lnSpc>
                <a:spcPts val="2400"/>
              </a:lnSpc>
              <a:buNone/>
            </a:pPr>
            <a:r>
              <a:rPr lang="en-US" sz="1550" b="1" dirty="0">
                <a:solidFill>
                  <a:srgbClr val="2C5F2D"/>
                </a:solidFill>
                <a:latin typeface="Calibri" pitchFamily="34" charset="0"/>
                <a:ea typeface="Calibri" pitchFamily="34" charset="-122"/>
                <a:cs typeface="Calibri" pitchFamily="34" charset="-120"/>
              </a:rPr>
              <a:t>The business is profitable and growing. What it does not have is a modern way of deciding what to buy from its suppliers.</a:t>
            </a:r>
            <a:endParaRPr lang="en-US" sz="1550" dirty="0"/>
          </a:p>
        </p:txBody>
      </p:sp>
      <p:sp>
        <p:nvSpPr>
          <p:cNvPr id="7" name="Shape 5"/>
          <p:cNvSpPr/>
          <p:nvPr/>
        </p:nvSpPr>
        <p:spPr>
          <a:xfrm>
            <a:off x="6949440" y="1691640"/>
            <a:ext cx="2331720" cy="1417320"/>
          </a:xfrm>
          <a:prstGeom prst="roundRect">
            <a:avLst>
              <a:gd name="adj" fmla="val 5161"/>
            </a:avLst>
          </a:prstGeom>
          <a:solidFill>
            <a:srgbClr val="F4F6F1"/>
          </a:solidFill>
          <a:ln w="9525">
            <a:solidFill>
              <a:srgbClr val="E2E8DC"/>
            </a:solidFill>
            <a:prstDash val="solid"/>
          </a:ln>
        </p:spPr>
        <p:txBody>
          <a:bodyPr/>
          <a:p/>
        </p:txBody>
      </p:sp>
      <p:sp>
        <p:nvSpPr>
          <p:cNvPr id="8" name="Text 6"/>
          <p:cNvSpPr/>
          <p:nvPr/>
        </p:nvSpPr>
        <p:spPr>
          <a:xfrm>
            <a:off x="7178040" y="1819656"/>
            <a:ext cx="1874520" cy="603504"/>
          </a:xfrm>
          <a:prstGeom prst="rect">
            <a:avLst/>
          </a:prstGeom>
          <a:noFill/>
          <a:ln/>
        </p:spPr>
        <p:txBody>
          <a:bodyPr wrap="square" lIns="0" tIns="0" rIns="0" bIns="0" rtlCol="0" anchor="ctr"/>
          <a:lstStyle/>
          <a:p>
            <a:pPr marL="0" indent="0">
              <a:buNone/>
            </a:pPr>
            <a:r>
              <a:rPr lang="en-US" sz="3400" b="1" dirty="0">
                <a:solidFill>
                  <a:srgbClr val="2C5F2D"/>
                </a:solidFill>
                <a:latin typeface="Cambria" pitchFamily="34" charset="0"/>
                <a:ea typeface="Cambria" pitchFamily="34" charset="-122"/>
                <a:cs typeface="Cambria" pitchFamily="34" charset="-120"/>
              </a:rPr>
              <a:t>2</a:t>
            </a:r>
            <a:endParaRPr lang="en-US" sz="3400" dirty="0"/>
          </a:p>
        </p:txBody>
      </p:sp>
      <p:sp>
        <p:nvSpPr>
          <p:cNvPr id="9" name="Text 7"/>
          <p:cNvSpPr/>
          <p:nvPr/>
        </p:nvSpPr>
        <p:spPr>
          <a:xfrm>
            <a:off x="7178040" y="2441448"/>
            <a:ext cx="1874520" cy="557784"/>
          </a:xfrm>
          <a:prstGeom prst="rect">
            <a:avLst/>
          </a:prstGeom>
          <a:noFill/>
          <a:ln/>
        </p:spPr>
        <p:txBody>
          <a:bodyPr wrap="square" lIns="0" tIns="0" rIns="0" bIns="0" rtlCol="0" anchor="t"/>
          <a:lstStyle/>
          <a:p>
            <a:pPr marL="0" indent="0">
              <a:lnSpc>
                <a:spcPts val="1600"/>
              </a:lnSpc>
              <a:buNone/>
            </a:pPr>
            <a:r>
              <a:rPr lang="en-US" sz="1200" dirty="0">
                <a:solidFill>
                  <a:srgbClr val="6E6E66"/>
                </a:solidFill>
                <a:latin typeface="Calibri" pitchFamily="34" charset="0"/>
                <a:ea typeface="Calibri" pitchFamily="34" charset="-122"/>
                <a:cs typeface="Calibri" pitchFamily="34" charset="-120"/>
              </a:rPr>
              <a:t>Sales channels</a:t>
            </a:r>
            <a:endParaRPr lang="en-US" sz="1200" dirty="0"/>
          </a:p>
        </p:txBody>
      </p:sp>
      <p:sp>
        <p:nvSpPr>
          <p:cNvPr id="10" name="Shape 8"/>
          <p:cNvSpPr/>
          <p:nvPr/>
        </p:nvSpPr>
        <p:spPr>
          <a:xfrm>
            <a:off x="9464040" y="1691640"/>
            <a:ext cx="2057400" cy="1417320"/>
          </a:xfrm>
          <a:prstGeom prst="roundRect">
            <a:avLst>
              <a:gd name="adj" fmla="val 5161"/>
            </a:avLst>
          </a:prstGeom>
          <a:solidFill>
            <a:srgbClr val="F4F6F1"/>
          </a:solidFill>
          <a:ln w="9525">
            <a:solidFill>
              <a:srgbClr val="E2E8DC"/>
            </a:solidFill>
            <a:prstDash val="solid"/>
          </a:ln>
        </p:spPr>
        <p:txBody>
          <a:bodyPr/>
          <a:p/>
        </p:txBody>
      </p:sp>
      <p:sp>
        <p:nvSpPr>
          <p:cNvPr id="11" name="Text 9"/>
          <p:cNvSpPr/>
          <p:nvPr/>
        </p:nvSpPr>
        <p:spPr>
          <a:xfrm>
            <a:off x="9692640" y="1819656"/>
            <a:ext cx="1600200" cy="603504"/>
          </a:xfrm>
          <a:prstGeom prst="rect">
            <a:avLst/>
          </a:prstGeom>
          <a:noFill/>
          <a:ln/>
        </p:spPr>
        <p:txBody>
          <a:bodyPr wrap="square" lIns="0" tIns="0" rIns="0" bIns="0" rtlCol="0" anchor="ctr"/>
          <a:lstStyle/>
          <a:p>
            <a:pPr marL="0" indent="0">
              <a:buNone/>
            </a:pPr>
            <a:r>
              <a:rPr lang="en-US" sz="3400" b="1" dirty="0">
                <a:solidFill>
                  <a:srgbClr val="2C5F2D"/>
                </a:solidFill>
                <a:latin typeface="Cambria" pitchFamily="34" charset="0"/>
                <a:ea typeface="Cambria" pitchFamily="34" charset="-122"/>
                <a:cs typeface="Cambria" pitchFamily="34" charset="-120"/>
              </a:rPr>
              <a:t>4</a:t>
            </a:r>
            <a:endParaRPr lang="en-US" sz="3400" dirty="0"/>
          </a:p>
        </p:txBody>
      </p:sp>
      <p:sp>
        <p:nvSpPr>
          <p:cNvPr id="12" name="Text 10"/>
          <p:cNvSpPr/>
          <p:nvPr/>
        </p:nvSpPr>
        <p:spPr>
          <a:xfrm>
            <a:off x="9692640" y="2441448"/>
            <a:ext cx="1600200" cy="557784"/>
          </a:xfrm>
          <a:prstGeom prst="rect">
            <a:avLst/>
          </a:prstGeom>
          <a:noFill/>
          <a:ln/>
        </p:spPr>
        <p:txBody>
          <a:bodyPr wrap="square" lIns="0" tIns="0" rIns="0" bIns="0" rtlCol="0" anchor="t"/>
          <a:lstStyle/>
          <a:p>
            <a:pPr marL="0" indent="0">
              <a:lnSpc>
                <a:spcPts val="1600"/>
              </a:lnSpc>
              <a:buNone/>
            </a:pPr>
            <a:r>
              <a:rPr lang="en-US" sz="1200" dirty="0">
                <a:solidFill>
                  <a:srgbClr val="6E6E66"/>
                </a:solidFill>
                <a:latin typeface="Calibri" pitchFamily="34" charset="0"/>
                <a:ea typeface="Calibri" pitchFamily="34" charset="-122"/>
                <a:cs typeface="Calibri" pitchFamily="34" charset="-120"/>
              </a:rPr>
              <a:t>Product</a:t>
            </a:r>
            <a:endParaRPr lang="en-US" sz="1200" dirty="0"/>
          </a:p>
          <a:p>
            <a:pPr marL="0" indent="0">
              <a:lnSpc>
                <a:spcPts val="1600"/>
              </a:lnSpc>
              <a:buNone/>
            </a:pPr>
            <a:r>
              <a:rPr lang="en-US" sz="1200" dirty="0">
                <a:solidFill>
                  <a:srgbClr val="6E6E66"/>
                </a:solidFill>
                <a:latin typeface="Calibri" pitchFamily="34" charset="0"/>
                <a:ea typeface="Calibri" pitchFamily="34" charset="-122"/>
                <a:cs typeface="Calibri" pitchFamily="34" charset="-120"/>
              </a:rPr>
              <a:t>categories</a:t>
            </a:r>
            <a:endParaRPr lang="en-US" sz="1200" dirty="0"/>
          </a:p>
        </p:txBody>
      </p:sp>
      <p:sp>
        <p:nvSpPr>
          <p:cNvPr id="13" name="Shape 11"/>
          <p:cNvSpPr/>
          <p:nvPr/>
        </p:nvSpPr>
        <p:spPr>
          <a:xfrm>
            <a:off x="6949440" y="3291840"/>
            <a:ext cx="2331720" cy="1417320"/>
          </a:xfrm>
          <a:prstGeom prst="roundRect">
            <a:avLst>
              <a:gd name="adj" fmla="val 5161"/>
            </a:avLst>
          </a:prstGeom>
          <a:solidFill>
            <a:srgbClr val="F4F6F1"/>
          </a:solidFill>
          <a:ln w="9525">
            <a:solidFill>
              <a:srgbClr val="E2E8DC"/>
            </a:solidFill>
            <a:prstDash val="solid"/>
          </a:ln>
        </p:spPr>
        <p:txBody>
          <a:bodyPr/>
          <a:p/>
        </p:txBody>
      </p:sp>
      <p:sp>
        <p:nvSpPr>
          <p:cNvPr id="14" name="Text 12"/>
          <p:cNvSpPr/>
          <p:nvPr/>
        </p:nvSpPr>
        <p:spPr>
          <a:xfrm>
            <a:off x="7178040" y="3419856"/>
            <a:ext cx="1874520" cy="603504"/>
          </a:xfrm>
          <a:prstGeom prst="rect">
            <a:avLst/>
          </a:prstGeom>
          <a:noFill/>
          <a:ln/>
        </p:spPr>
        <p:txBody>
          <a:bodyPr wrap="square" lIns="0" tIns="0" rIns="0" bIns="0" rtlCol="0" anchor="ctr"/>
          <a:lstStyle/>
          <a:p>
            <a:pPr marL="0" indent="0">
              <a:buNone/>
            </a:pPr>
            <a:r>
              <a:rPr lang="en-US" sz="3400" b="1" dirty="0">
                <a:solidFill>
                  <a:srgbClr val="2C5F2D"/>
                </a:solidFill>
                <a:latin typeface="Cambria" pitchFamily="34" charset="0"/>
                <a:ea typeface="Cambria" pitchFamily="34" charset="-122"/>
                <a:cs typeface="Cambria" pitchFamily="34" charset="-120"/>
              </a:rPr>
              <a:t>4</a:t>
            </a:r>
            <a:endParaRPr lang="en-US" sz="3400" dirty="0"/>
          </a:p>
        </p:txBody>
      </p:sp>
      <p:sp>
        <p:nvSpPr>
          <p:cNvPr id="15" name="Text 13"/>
          <p:cNvSpPr/>
          <p:nvPr/>
        </p:nvSpPr>
        <p:spPr>
          <a:xfrm>
            <a:off x="7178040" y="4041648"/>
            <a:ext cx="1874520" cy="557784"/>
          </a:xfrm>
          <a:prstGeom prst="rect">
            <a:avLst/>
          </a:prstGeom>
          <a:noFill/>
          <a:ln/>
        </p:spPr>
        <p:txBody>
          <a:bodyPr wrap="square" lIns="0" tIns="0" rIns="0" bIns="0" rtlCol="0" anchor="t"/>
          <a:lstStyle/>
          <a:p>
            <a:pPr marL="0" indent="0">
              <a:lnSpc>
                <a:spcPts val="1600"/>
              </a:lnSpc>
              <a:buNone/>
            </a:pPr>
            <a:r>
              <a:rPr lang="en-US" sz="1200" dirty="0">
                <a:solidFill>
                  <a:srgbClr val="6E6E66"/>
                </a:solidFill>
                <a:latin typeface="Calibri" pitchFamily="34" charset="0"/>
                <a:ea typeface="Calibri" pitchFamily="34" charset="-122"/>
                <a:cs typeface="Calibri" pitchFamily="34" charset="-120"/>
              </a:rPr>
              <a:t>Suppliers, each with</a:t>
            </a:r>
            <a:endParaRPr lang="en-US" sz="1200" dirty="0"/>
          </a:p>
          <a:p>
            <a:pPr marL="0" indent="0">
              <a:lnSpc>
                <a:spcPts val="1600"/>
              </a:lnSpc>
              <a:buNone/>
            </a:pPr>
            <a:r>
              <a:rPr lang="en-US" sz="1200" dirty="0">
                <a:solidFill>
                  <a:srgbClr val="6E6E66"/>
                </a:solidFill>
                <a:latin typeface="Calibri" pitchFamily="34" charset="0"/>
                <a:ea typeface="Calibri" pitchFamily="34" charset="-122"/>
                <a:cs typeface="Calibri" pitchFamily="34" charset="-120"/>
              </a:rPr>
              <a:t>its own lead time</a:t>
            </a:r>
            <a:endParaRPr lang="en-US" sz="1200" dirty="0"/>
          </a:p>
        </p:txBody>
      </p:sp>
      <p:sp>
        <p:nvSpPr>
          <p:cNvPr id="16" name="Shape 14"/>
          <p:cNvSpPr/>
          <p:nvPr/>
        </p:nvSpPr>
        <p:spPr>
          <a:xfrm>
            <a:off x="9464040" y="3291840"/>
            <a:ext cx="2057400" cy="1417320"/>
          </a:xfrm>
          <a:prstGeom prst="roundRect">
            <a:avLst>
              <a:gd name="adj" fmla="val 5161"/>
            </a:avLst>
          </a:prstGeom>
          <a:solidFill>
            <a:srgbClr val="F4F6F1"/>
          </a:solidFill>
          <a:ln w="9525">
            <a:solidFill>
              <a:srgbClr val="E2E8DC"/>
            </a:solidFill>
            <a:prstDash val="solid"/>
          </a:ln>
        </p:spPr>
        <p:txBody>
          <a:bodyPr/>
          <a:p/>
        </p:txBody>
      </p:sp>
      <p:sp>
        <p:nvSpPr>
          <p:cNvPr id="17" name="Text 15"/>
          <p:cNvSpPr/>
          <p:nvPr/>
        </p:nvSpPr>
        <p:spPr>
          <a:xfrm>
            <a:off x="9692640" y="3419856"/>
            <a:ext cx="1600200" cy="603504"/>
          </a:xfrm>
          <a:prstGeom prst="rect">
            <a:avLst/>
          </a:prstGeom>
          <a:noFill/>
          <a:ln/>
        </p:spPr>
        <p:txBody>
          <a:bodyPr wrap="square" lIns="0" tIns="0" rIns="0" bIns="0" rtlCol="0" anchor="ctr"/>
          <a:lstStyle/>
          <a:p>
            <a:pPr marL="0" indent="0">
              <a:buNone/>
            </a:pPr>
            <a:r>
              <a:rPr lang="en-US" sz="3400" b="1" dirty="0">
                <a:solidFill>
                  <a:srgbClr val="2C5F2D"/>
                </a:solidFill>
                <a:latin typeface="Cambria" pitchFamily="34" charset="0"/>
                <a:ea typeface="Cambria" pitchFamily="34" charset="-122"/>
                <a:cs typeface="Cambria" pitchFamily="34" charset="-120"/>
              </a:rPr>
              <a:t>1000s</a:t>
            </a:r>
            <a:endParaRPr lang="en-US" sz="3400" dirty="0"/>
          </a:p>
        </p:txBody>
      </p:sp>
      <p:sp>
        <p:nvSpPr>
          <p:cNvPr id="18" name="Text 16"/>
          <p:cNvSpPr/>
          <p:nvPr/>
        </p:nvSpPr>
        <p:spPr>
          <a:xfrm>
            <a:off x="9692640" y="4041648"/>
            <a:ext cx="1600200" cy="557784"/>
          </a:xfrm>
          <a:prstGeom prst="rect">
            <a:avLst/>
          </a:prstGeom>
          <a:noFill/>
          <a:ln/>
        </p:spPr>
        <p:txBody>
          <a:bodyPr wrap="square" lIns="0" tIns="0" rIns="0" bIns="0" rtlCol="0" anchor="t"/>
          <a:lstStyle/>
          <a:p>
            <a:pPr marL="0" indent="0">
              <a:lnSpc>
                <a:spcPts val="1600"/>
              </a:lnSpc>
              <a:buNone/>
            </a:pPr>
            <a:r>
              <a:rPr lang="en-US" sz="1200" dirty="0">
                <a:solidFill>
                  <a:srgbClr val="6E6E66"/>
                </a:solidFill>
                <a:latin typeface="Calibri" pitchFamily="34" charset="0"/>
                <a:ea typeface="Calibri" pitchFamily="34" charset="-122"/>
                <a:cs typeface="Calibri" pitchFamily="34" charset="-120"/>
              </a:rPr>
              <a:t>Products, most of</a:t>
            </a:r>
            <a:endParaRPr lang="en-US" sz="1200" dirty="0"/>
          </a:p>
          <a:p>
            <a:pPr marL="0" indent="0">
              <a:lnSpc>
                <a:spcPts val="1600"/>
              </a:lnSpc>
              <a:buNone/>
            </a:pPr>
            <a:r>
              <a:rPr lang="en-US" sz="1200" dirty="0">
                <a:solidFill>
                  <a:srgbClr val="6E6E66"/>
                </a:solidFill>
                <a:latin typeface="Calibri" pitchFamily="34" charset="0"/>
                <a:ea typeface="Calibri" pitchFamily="34" charset="-122"/>
                <a:cs typeface="Calibri" pitchFamily="34" charset="-120"/>
              </a:rPr>
              <a:t>them slow sellers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10881360" cy="566928"/>
          </a:xfrm>
          <a:prstGeom prst="rect">
            <a:avLst/>
          </a:prstGeom>
          <a:noFill/>
          <a:ln/>
        </p:spPr>
        <p:txBody>
          <a:bodyPr wrap="square" lIns="0" tIns="0" rIns="0" bIns="0" rtlCol="0" anchor="ctr"/>
          <a:lstStyle/>
          <a:p>
            <a:pPr marL="0" indent="0">
              <a:buNone/>
            </a:pPr>
            <a:r>
              <a:rPr lang="en-US" sz="3300" b="1" dirty="0">
                <a:solidFill>
                  <a:srgbClr val="2C5F2D"/>
                </a:solidFill>
                <a:latin typeface="Cambria" pitchFamily="34" charset="0"/>
                <a:ea typeface="Cambria" pitchFamily="34" charset="-122"/>
                <a:cs typeface="Cambria" pitchFamily="34" charset="-120"/>
              </a:rPr>
              <a:t>Maya's Tuesday morning</a:t>
            </a:r>
            <a:endParaRPr lang="en-US" sz="3300" dirty="0"/>
          </a:p>
        </p:txBody>
      </p:sp>
      <p:sp>
        <p:nvSpPr>
          <p:cNvPr id="3" name="Text 1"/>
          <p:cNvSpPr/>
          <p:nvPr/>
        </p:nvSpPr>
        <p:spPr>
          <a:xfrm>
            <a:off x="640080" y="1042416"/>
            <a:ext cx="10424160" cy="384048"/>
          </a:xfrm>
          <a:prstGeom prst="rect">
            <a:avLst/>
          </a:prstGeom>
          <a:noFill/>
          <a:ln/>
        </p:spPr>
        <p:txBody>
          <a:bodyPr wrap="square" lIns="0" tIns="0" rIns="0" bIns="0" rtlCol="0" anchor="ctr"/>
          <a:lstStyle/>
          <a:p>
            <a:pPr marL="0" indent="0">
              <a:buNone/>
            </a:pPr>
            <a:r>
              <a:rPr lang="en-US" sz="1500" dirty="0">
                <a:solidFill>
                  <a:srgbClr val="6E6E66"/>
                </a:solidFill>
                <a:latin typeface="Calibri" pitchFamily="34" charset="0"/>
                <a:ea typeface="Calibri" pitchFamily="34" charset="-122"/>
                <a:cs typeface="Calibri" pitchFamily="34" charset="-120"/>
              </a:rPr>
              <a:t>How replenishment actually happens today</a:t>
            </a:r>
            <a:endParaRPr lang="en-US" sz="1500" dirty="0"/>
          </a:p>
        </p:txBody>
      </p:sp>
      <p:sp>
        <p:nvSpPr>
          <p:cNvPr id="4" name="Shape 2"/>
          <p:cNvSpPr/>
          <p:nvPr/>
        </p:nvSpPr>
        <p:spPr>
          <a:xfrm>
            <a:off x="640080" y="1645920"/>
            <a:ext cx="5577840" cy="3566160"/>
          </a:xfrm>
          <a:prstGeom prst="roundRect">
            <a:avLst>
              <a:gd name="adj" fmla="val 2051"/>
            </a:avLst>
          </a:prstGeom>
          <a:solidFill>
            <a:srgbClr val="F4F6F1"/>
          </a:solidFill>
          <a:ln w="9525">
            <a:solidFill>
              <a:srgbClr val="E2E8DC"/>
            </a:solidFill>
            <a:prstDash val="solid"/>
          </a:ln>
        </p:spPr>
        <p:txBody>
          <a:bodyPr/>
          <a:p/>
        </p:txBody>
      </p:sp>
      <p:sp>
        <p:nvSpPr>
          <p:cNvPr id="5" name="Text 3"/>
          <p:cNvSpPr/>
          <p:nvPr/>
        </p:nvSpPr>
        <p:spPr>
          <a:xfrm>
            <a:off x="1005840" y="1920240"/>
            <a:ext cx="4846320" cy="685800"/>
          </a:xfrm>
          <a:prstGeom prst="rect">
            <a:avLst/>
          </a:prstGeom>
          <a:noFill/>
          <a:ln/>
        </p:spPr>
        <p:txBody>
          <a:bodyPr wrap="square" lIns="0" tIns="0" rIns="0" bIns="0" rtlCol="0" anchor="ctr"/>
          <a:lstStyle/>
          <a:p>
            <a:pPr marL="0" indent="0">
              <a:lnSpc>
                <a:spcPts val="2300"/>
              </a:lnSpc>
              <a:buNone/>
            </a:pPr>
            <a:r>
              <a:rPr lang="en-US" sz="1550" dirty="0">
                <a:solidFill>
                  <a:srgbClr val="24241F"/>
                </a:solidFill>
                <a:latin typeface="Calibri" pitchFamily="34" charset="0"/>
                <a:ea typeface="Calibri" pitchFamily="34" charset="-122"/>
                <a:cs typeface="Calibri" pitchFamily="34" charset="-120"/>
              </a:rPr>
              <a:t>Every Tuesday, a demand planner we will call Maya decides what Northpeak should reorder.</a:t>
            </a:r>
            <a:endParaRPr lang="en-US" sz="1550" dirty="0"/>
          </a:p>
        </p:txBody>
      </p:sp>
      <p:sp>
        <p:nvSpPr>
          <p:cNvPr id="6" name="Text 4"/>
          <p:cNvSpPr/>
          <p:nvPr/>
        </p:nvSpPr>
        <p:spPr>
          <a:xfrm>
            <a:off x="1005840" y="2697480"/>
            <a:ext cx="4846320" cy="1554480"/>
          </a:xfrm>
          <a:prstGeom prst="rect">
            <a:avLst/>
          </a:prstGeom>
          <a:noFill/>
          <a:ln/>
        </p:spPr>
        <p:txBody>
          <a:bodyPr wrap="square" lIns="0" tIns="0" rIns="0" bIns="0" rtlCol="0" anchor="ctr"/>
          <a:lstStyle/>
          <a:p>
            <a:pPr marL="0" indent="0">
              <a:lnSpc>
                <a:spcPts val="2100"/>
              </a:lnSpc>
              <a:buNone/>
            </a:pPr>
            <a:r>
              <a:rPr lang="en-US" sz="1400" dirty="0">
                <a:solidFill>
                  <a:srgbClr val="6E6E66"/>
                </a:solidFill>
                <a:latin typeface="Calibri" pitchFamily="34" charset="0"/>
                <a:ea typeface="Calibri" pitchFamily="34" charset="-122"/>
                <a:cs typeface="Calibri" pitchFamily="34" charset="-120"/>
              </a:rPr>
              <a:t>She exports a sales report from an ageing inventory system, opens it in a spreadsheet, and starts scrolling. She looks at what has been selling, checks what is in the warehouse, thinks about how long each supplier takes, and types her order quantities back in by hand.</a:t>
            </a:r>
            <a:endParaRPr lang="en-US" sz="1400" dirty="0"/>
          </a:p>
        </p:txBody>
      </p:sp>
      <p:sp>
        <p:nvSpPr>
          <p:cNvPr id="7" name="Text 5"/>
          <p:cNvSpPr/>
          <p:nvPr/>
        </p:nvSpPr>
        <p:spPr>
          <a:xfrm>
            <a:off x="1005840" y="4343400"/>
            <a:ext cx="4846320" cy="365760"/>
          </a:xfrm>
          <a:prstGeom prst="rect">
            <a:avLst/>
          </a:prstGeom>
          <a:noFill/>
          <a:ln/>
        </p:spPr>
        <p:txBody>
          <a:bodyPr wrap="square" lIns="0" tIns="0" rIns="0" bIns="0" rtlCol="0" anchor="ctr"/>
          <a:lstStyle/>
          <a:p>
            <a:pPr marL="0" indent="0">
              <a:buNone/>
            </a:pPr>
            <a:r>
              <a:rPr lang="en-US" sz="1400" b="1" i="1" dirty="0">
                <a:solidFill>
                  <a:srgbClr val="2C5F2D"/>
                </a:solidFill>
                <a:latin typeface="Calibri" pitchFamily="34" charset="0"/>
                <a:ea typeface="Calibri" pitchFamily="34" charset="-122"/>
                <a:cs typeface="Calibri" pitchFamily="34" charset="-120"/>
              </a:rPr>
              <a:t>Eleven years in the job. Genuinely good at it.</a:t>
            </a:r>
            <a:endParaRPr lang="en-US" sz="1400" dirty="0"/>
          </a:p>
        </p:txBody>
      </p:sp>
      <p:sp>
        <p:nvSpPr>
          <p:cNvPr id="8" name="Shape 6"/>
          <p:cNvSpPr/>
          <p:nvPr/>
        </p:nvSpPr>
        <p:spPr>
          <a:xfrm>
            <a:off x="6766560" y="1645920"/>
            <a:ext cx="4754880" cy="3566160"/>
          </a:xfrm>
          <a:prstGeom prst="roundRect">
            <a:avLst>
              <a:gd name="adj" fmla="val 2051"/>
            </a:avLst>
          </a:prstGeom>
          <a:solidFill>
            <a:srgbClr val="16301A"/>
          </a:solidFill>
          <a:ln/>
        </p:spPr>
        <p:txBody>
          <a:bodyPr/>
          <a:p/>
        </p:txBody>
      </p:sp>
      <p:sp>
        <p:nvSpPr>
          <p:cNvPr id="9" name="Text 7"/>
          <p:cNvSpPr/>
          <p:nvPr/>
        </p:nvSpPr>
        <p:spPr>
          <a:xfrm>
            <a:off x="7132320" y="2194560"/>
            <a:ext cx="4023360" cy="1188720"/>
          </a:xfrm>
          <a:prstGeom prst="rect">
            <a:avLst/>
          </a:prstGeom>
          <a:noFill/>
          <a:ln/>
        </p:spPr>
        <p:txBody>
          <a:bodyPr wrap="square" lIns="0" tIns="0" rIns="0" bIns="0" rtlCol="0" anchor="ctr"/>
          <a:lstStyle/>
          <a:p>
            <a:pPr marL="0" indent="0">
              <a:lnSpc>
                <a:spcPts val="4000"/>
              </a:lnSpc>
              <a:buNone/>
            </a:pPr>
            <a:r>
              <a:rPr lang="en-US" sz="3200" b="1" dirty="0">
                <a:solidFill>
                  <a:srgbClr val="FFFFFF"/>
                </a:solidFill>
                <a:latin typeface="Cambria" pitchFamily="34" charset="0"/>
                <a:ea typeface="Cambria" pitchFamily="34" charset="-122"/>
                <a:cs typeface="Cambria" pitchFamily="34" charset="-120"/>
              </a:rPr>
              <a:t>That is precisely</a:t>
            </a:r>
            <a:endParaRPr lang="en-US" sz="3200" dirty="0"/>
          </a:p>
          <a:p>
            <a:pPr marL="0" indent="0">
              <a:lnSpc>
                <a:spcPts val="4000"/>
              </a:lnSpc>
              <a:buNone/>
            </a:pPr>
            <a:r>
              <a:rPr lang="en-US" sz="3200" b="1" dirty="0">
                <a:solidFill>
                  <a:srgbClr val="FFFFFF"/>
                </a:solidFill>
                <a:latin typeface="Cambria" pitchFamily="34" charset="0"/>
                <a:ea typeface="Cambria" pitchFamily="34" charset="-122"/>
                <a:cs typeface="Cambria" pitchFamily="34" charset="-120"/>
              </a:rPr>
              <a:t>the problem.</a:t>
            </a:r>
            <a:endParaRPr lang="en-US" sz="3200" dirty="0"/>
          </a:p>
        </p:txBody>
      </p:sp>
      <p:sp>
        <p:nvSpPr>
          <p:cNvPr id="10" name="Text 8"/>
          <p:cNvSpPr/>
          <p:nvPr/>
        </p:nvSpPr>
        <p:spPr>
          <a:xfrm>
            <a:off x="7132320" y="3566160"/>
            <a:ext cx="4023360" cy="1188720"/>
          </a:xfrm>
          <a:prstGeom prst="rect">
            <a:avLst/>
          </a:prstGeom>
          <a:noFill/>
          <a:ln/>
        </p:spPr>
        <p:txBody>
          <a:bodyPr wrap="square" lIns="0" tIns="0" rIns="0" bIns="0" rtlCol="0" anchor="ctr"/>
          <a:lstStyle/>
          <a:p>
            <a:pPr marL="0" indent="0">
              <a:lnSpc>
                <a:spcPts val="2300"/>
              </a:lnSpc>
              <a:buNone/>
            </a:pPr>
            <a:r>
              <a:rPr lang="en-US" sz="1500" dirty="0">
                <a:solidFill>
                  <a:srgbClr val="C7D6BE"/>
                </a:solidFill>
                <a:latin typeface="Calibri" pitchFamily="34" charset="0"/>
                <a:ea typeface="Calibri" pitchFamily="34" charset="-122"/>
                <a:cs typeface="Calibri" pitchFamily="34" charset="-120"/>
              </a:rPr>
              <a:t>Not because she does it badly — because she does it well, alone, and nowhere else.</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10881360" cy="566928"/>
          </a:xfrm>
          <a:prstGeom prst="rect">
            <a:avLst/>
          </a:prstGeom>
          <a:noFill/>
          <a:ln/>
        </p:spPr>
        <p:txBody>
          <a:bodyPr wrap="square" lIns="0" tIns="0" rIns="0" bIns="0" rtlCol="0" anchor="ctr"/>
          <a:lstStyle/>
          <a:p>
            <a:pPr marL="0" indent="0">
              <a:buNone/>
            </a:pPr>
            <a:r>
              <a:rPr lang="en-US" sz="2800" b="1" dirty="0">
                <a:solidFill>
                  <a:srgbClr val="2C5F2D"/>
                </a:solidFill>
                <a:latin typeface="Cambria" pitchFamily="34" charset="0"/>
                <a:ea typeface="Cambria" pitchFamily="34" charset="-122"/>
                <a:cs typeface="Cambria" pitchFamily="34" charset="-120"/>
              </a:rPr>
              <a:t>Why a skilled person doing careful work is still a risk</a:t>
            </a:r>
            <a:endParaRPr lang="en-US" sz="2800" dirty="0"/>
          </a:p>
        </p:txBody>
      </p:sp>
      <p:sp>
        <p:nvSpPr>
          <p:cNvPr id="3" name="Text 1"/>
          <p:cNvSpPr/>
          <p:nvPr/>
        </p:nvSpPr>
        <p:spPr>
          <a:xfrm>
            <a:off x="640080" y="1042416"/>
            <a:ext cx="10424160" cy="384048"/>
          </a:xfrm>
          <a:prstGeom prst="rect">
            <a:avLst/>
          </a:prstGeom>
          <a:noFill/>
          <a:ln/>
        </p:spPr>
        <p:txBody>
          <a:bodyPr wrap="square" lIns="0" tIns="0" rIns="0" bIns="0" rtlCol="0" anchor="ctr"/>
          <a:lstStyle/>
          <a:p>
            <a:pPr marL="0" indent="0">
              <a:buNone/>
            </a:pPr>
            <a:r>
              <a:rPr lang="en-US" sz="1500" dirty="0">
                <a:solidFill>
                  <a:srgbClr val="6E6E66"/>
                </a:solidFill>
                <a:latin typeface="Calibri" pitchFamily="34" charset="0"/>
                <a:ea typeface="Calibri" pitchFamily="34" charset="-122"/>
                <a:cs typeface="Calibri" pitchFamily="34" charset="-120"/>
              </a:rPr>
              <a:t>Four failure patterns, none of them about competence</a:t>
            </a:r>
            <a:endParaRPr lang="en-US" sz="1500" dirty="0"/>
          </a:p>
        </p:txBody>
      </p:sp>
      <p:sp>
        <p:nvSpPr>
          <p:cNvPr id="4" name="Shape 2"/>
          <p:cNvSpPr/>
          <p:nvPr/>
        </p:nvSpPr>
        <p:spPr>
          <a:xfrm>
            <a:off x="640080" y="1783080"/>
            <a:ext cx="457200" cy="457200"/>
          </a:xfrm>
          <a:prstGeom prst="ellipse">
            <a:avLst/>
          </a:prstGeom>
          <a:solidFill>
            <a:srgbClr val="97BC62"/>
          </a:solidFill>
          <a:ln/>
        </p:spPr>
        <p:txBody>
          <a:bodyPr/>
          <a:p/>
        </p:txBody>
      </p:sp>
      <p:sp>
        <p:nvSpPr>
          <p:cNvPr id="5" name="Text 3"/>
          <p:cNvSpPr/>
          <p:nvPr/>
        </p:nvSpPr>
        <p:spPr>
          <a:xfrm>
            <a:off x="640080" y="1783080"/>
            <a:ext cx="457200" cy="457200"/>
          </a:xfrm>
          <a:prstGeom prst="rect">
            <a:avLst/>
          </a:prstGeom>
          <a:noFill/>
          <a:ln/>
        </p:spPr>
        <p:txBody>
          <a:bodyPr wrap="square" rtlCol="0" anchor="ctr"/>
          <a:lstStyle/>
          <a:p>
            <a:pPr marL="0" indent="0" algn="ctr">
              <a:buNone/>
            </a:pPr>
            <a:r>
              <a:rPr lang="en-US" sz="1700" b="1" dirty="0">
                <a:solidFill>
                  <a:srgbClr val="16301A"/>
                </a:solidFill>
                <a:latin typeface="Cambria" pitchFamily="34" charset="0"/>
                <a:ea typeface="Cambria" pitchFamily="34" charset="-122"/>
                <a:cs typeface="Cambria" pitchFamily="34" charset="-120"/>
              </a:rPr>
              <a:t>1</a:t>
            </a:r>
            <a:endParaRPr lang="en-US" sz="1700" dirty="0"/>
          </a:p>
        </p:txBody>
      </p:sp>
      <p:sp>
        <p:nvSpPr>
          <p:cNvPr id="6" name="Text 4"/>
          <p:cNvSpPr/>
          <p:nvPr/>
        </p:nvSpPr>
        <p:spPr>
          <a:xfrm>
            <a:off x="1298448" y="1764792"/>
            <a:ext cx="4553712" cy="310896"/>
          </a:xfrm>
          <a:prstGeom prst="rect">
            <a:avLst/>
          </a:prstGeom>
          <a:noFill/>
          <a:ln/>
        </p:spPr>
        <p:txBody>
          <a:bodyPr wrap="square" lIns="0" tIns="0" rIns="0" bIns="0" rtlCol="0" anchor="ctr"/>
          <a:lstStyle/>
          <a:p>
            <a:pPr marL="0" indent="0">
              <a:buNone/>
            </a:pPr>
            <a:r>
              <a:rPr lang="en-US" sz="1600" b="1" dirty="0">
                <a:solidFill>
                  <a:srgbClr val="24241F"/>
                </a:solidFill>
                <a:latin typeface="Calibri" pitchFamily="34" charset="0"/>
                <a:ea typeface="Calibri" pitchFamily="34" charset="-122"/>
                <a:cs typeface="Calibri" pitchFamily="34" charset="-120"/>
              </a:rPr>
              <a:t>It does not scale</a:t>
            </a:r>
            <a:endParaRPr lang="en-US" sz="1600" dirty="0"/>
          </a:p>
        </p:txBody>
      </p:sp>
      <p:sp>
        <p:nvSpPr>
          <p:cNvPr id="7" name="Text 5"/>
          <p:cNvSpPr/>
          <p:nvPr/>
        </p:nvSpPr>
        <p:spPr>
          <a:xfrm>
            <a:off x="1298448" y="2075688"/>
            <a:ext cx="4553712" cy="777240"/>
          </a:xfrm>
          <a:prstGeom prst="rect">
            <a:avLst/>
          </a:prstGeom>
          <a:noFill/>
          <a:ln/>
        </p:spPr>
        <p:txBody>
          <a:bodyPr wrap="square" lIns="0" tIns="0" rIns="0" bIns="0" rtlCol="0" anchor="t"/>
          <a:lstStyle/>
          <a:p>
            <a:pPr marL="0" indent="0">
              <a:lnSpc>
                <a:spcPts val="1800"/>
              </a:lnSpc>
              <a:buNone/>
            </a:pPr>
            <a:r>
              <a:rPr lang="en-US" sz="1350" dirty="0">
                <a:solidFill>
                  <a:srgbClr val="6E6E66"/>
                </a:solidFill>
                <a:latin typeface="Calibri" pitchFamily="34" charset="0"/>
                <a:ea typeface="Calibri" pitchFamily="34" charset="-122"/>
                <a:cs typeface="Calibri" pitchFamily="34" charset="-120"/>
              </a:rPr>
              <a:t>Northpeak stocks thousands of products. Maya can give real attention to perhaps a hundred in a morning. The rest get a glance, or nothing.</a:t>
            </a:r>
            <a:endParaRPr lang="en-US" sz="1350" dirty="0"/>
          </a:p>
        </p:txBody>
      </p:sp>
      <p:sp>
        <p:nvSpPr>
          <p:cNvPr id="8" name="Shape 6"/>
          <p:cNvSpPr/>
          <p:nvPr/>
        </p:nvSpPr>
        <p:spPr>
          <a:xfrm>
            <a:off x="640080" y="3154680"/>
            <a:ext cx="457200" cy="457200"/>
          </a:xfrm>
          <a:prstGeom prst="ellipse">
            <a:avLst/>
          </a:prstGeom>
          <a:solidFill>
            <a:srgbClr val="97BC62"/>
          </a:solidFill>
          <a:ln/>
        </p:spPr>
        <p:txBody>
          <a:bodyPr/>
          <a:p/>
        </p:txBody>
      </p:sp>
      <p:sp>
        <p:nvSpPr>
          <p:cNvPr id="9" name="Text 7"/>
          <p:cNvSpPr/>
          <p:nvPr/>
        </p:nvSpPr>
        <p:spPr>
          <a:xfrm>
            <a:off x="640080" y="3154680"/>
            <a:ext cx="457200" cy="457200"/>
          </a:xfrm>
          <a:prstGeom prst="rect">
            <a:avLst/>
          </a:prstGeom>
          <a:noFill/>
          <a:ln/>
        </p:spPr>
        <p:txBody>
          <a:bodyPr wrap="square" rtlCol="0" anchor="ctr"/>
          <a:lstStyle/>
          <a:p>
            <a:pPr marL="0" indent="0" algn="ctr">
              <a:buNone/>
            </a:pPr>
            <a:r>
              <a:rPr lang="en-US" sz="1700" b="1" dirty="0">
                <a:solidFill>
                  <a:srgbClr val="16301A"/>
                </a:solidFill>
                <a:latin typeface="Cambria" pitchFamily="34" charset="0"/>
                <a:ea typeface="Cambria" pitchFamily="34" charset="-122"/>
                <a:cs typeface="Cambria" pitchFamily="34" charset="-120"/>
              </a:rPr>
              <a:t>2</a:t>
            </a:r>
            <a:endParaRPr lang="en-US" sz="1700" dirty="0"/>
          </a:p>
        </p:txBody>
      </p:sp>
      <p:sp>
        <p:nvSpPr>
          <p:cNvPr id="10" name="Text 8"/>
          <p:cNvSpPr/>
          <p:nvPr/>
        </p:nvSpPr>
        <p:spPr>
          <a:xfrm>
            <a:off x="1298448" y="3136392"/>
            <a:ext cx="4553712" cy="310896"/>
          </a:xfrm>
          <a:prstGeom prst="rect">
            <a:avLst/>
          </a:prstGeom>
          <a:noFill/>
          <a:ln/>
        </p:spPr>
        <p:txBody>
          <a:bodyPr wrap="square" lIns="0" tIns="0" rIns="0" bIns="0" rtlCol="0" anchor="ctr"/>
          <a:lstStyle/>
          <a:p>
            <a:pPr marL="0" indent="0">
              <a:buNone/>
            </a:pPr>
            <a:r>
              <a:rPr lang="en-US" sz="1600" b="1" dirty="0">
                <a:solidFill>
                  <a:srgbClr val="24241F"/>
                </a:solidFill>
                <a:latin typeface="Calibri" pitchFamily="34" charset="0"/>
                <a:ea typeface="Calibri" pitchFamily="34" charset="-122"/>
                <a:cs typeface="Calibri" pitchFamily="34" charset="-120"/>
              </a:rPr>
              <a:t>The small items are where it breaks</a:t>
            </a:r>
            <a:endParaRPr lang="en-US" sz="1600" dirty="0"/>
          </a:p>
        </p:txBody>
      </p:sp>
      <p:sp>
        <p:nvSpPr>
          <p:cNvPr id="11" name="Text 9"/>
          <p:cNvSpPr/>
          <p:nvPr/>
        </p:nvSpPr>
        <p:spPr>
          <a:xfrm>
            <a:off x="1298448" y="3447288"/>
            <a:ext cx="4553712" cy="777240"/>
          </a:xfrm>
          <a:prstGeom prst="rect">
            <a:avLst/>
          </a:prstGeom>
          <a:noFill/>
          <a:ln/>
        </p:spPr>
        <p:txBody>
          <a:bodyPr wrap="square" lIns="0" tIns="0" rIns="0" bIns="0" rtlCol="0" anchor="t"/>
          <a:lstStyle/>
          <a:p>
            <a:pPr marL="0" indent="0">
              <a:lnSpc>
                <a:spcPts val="1800"/>
              </a:lnSpc>
              <a:buNone/>
            </a:pPr>
            <a:r>
              <a:rPr lang="en-US" sz="1350" dirty="0">
                <a:solidFill>
                  <a:srgbClr val="6E6E66"/>
                </a:solidFill>
                <a:latin typeface="Calibri" pitchFamily="34" charset="0"/>
                <a:ea typeface="Calibri" pitchFamily="34" charset="-122"/>
                <a:cs typeface="Calibri" pitchFamily="34" charset="-120"/>
              </a:rPr>
              <a:t>Most money comes from a few hundred popular lines, but thousands of slow sellers sit behind them. Each sells almost nothing, so each gets ignored.</a:t>
            </a:r>
            <a:endParaRPr lang="en-US" sz="1350" dirty="0"/>
          </a:p>
        </p:txBody>
      </p:sp>
      <p:sp>
        <p:nvSpPr>
          <p:cNvPr id="12" name="Shape 10"/>
          <p:cNvSpPr/>
          <p:nvPr/>
        </p:nvSpPr>
        <p:spPr>
          <a:xfrm>
            <a:off x="6492240" y="1783080"/>
            <a:ext cx="457200" cy="457200"/>
          </a:xfrm>
          <a:prstGeom prst="ellipse">
            <a:avLst/>
          </a:prstGeom>
          <a:solidFill>
            <a:srgbClr val="97BC62"/>
          </a:solidFill>
          <a:ln/>
        </p:spPr>
        <p:txBody>
          <a:bodyPr/>
          <a:p/>
        </p:txBody>
      </p:sp>
      <p:sp>
        <p:nvSpPr>
          <p:cNvPr id="13" name="Text 11"/>
          <p:cNvSpPr/>
          <p:nvPr/>
        </p:nvSpPr>
        <p:spPr>
          <a:xfrm>
            <a:off x="6492240" y="1783080"/>
            <a:ext cx="457200" cy="457200"/>
          </a:xfrm>
          <a:prstGeom prst="rect">
            <a:avLst/>
          </a:prstGeom>
          <a:noFill/>
          <a:ln/>
        </p:spPr>
        <p:txBody>
          <a:bodyPr wrap="square" rtlCol="0" anchor="ctr"/>
          <a:lstStyle/>
          <a:p>
            <a:pPr marL="0" indent="0" algn="ctr">
              <a:buNone/>
            </a:pPr>
            <a:r>
              <a:rPr lang="en-US" sz="1700" b="1" dirty="0">
                <a:solidFill>
                  <a:srgbClr val="16301A"/>
                </a:solidFill>
                <a:latin typeface="Cambria" pitchFamily="34" charset="0"/>
                <a:ea typeface="Cambria" pitchFamily="34" charset="-122"/>
                <a:cs typeface="Cambria" pitchFamily="34" charset="-120"/>
              </a:rPr>
              <a:t>3</a:t>
            </a:r>
            <a:endParaRPr lang="en-US" sz="1700" dirty="0"/>
          </a:p>
        </p:txBody>
      </p:sp>
      <p:sp>
        <p:nvSpPr>
          <p:cNvPr id="14" name="Text 12"/>
          <p:cNvSpPr/>
          <p:nvPr/>
        </p:nvSpPr>
        <p:spPr>
          <a:xfrm>
            <a:off x="7150608" y="1764792"/>
            <a:ext cx="4370832" cy="310896"/>
          </a:xfrm>
          <a:prstGeom prst="rect">
            <a:avLst/>
          </a:prstGeom>
          <a:noFill/>
          <a:ln/>
        </p:spPr>
        <p:txBody>
          <a:bodyPr wrap="square" lIns="0" tIns="0" rIns="0" bIns="0" rtlCol="0" anchor="ctr"/>
          <a:lstStyle/>
          <a:p>
            <a:pPr marL="0" indent="0">
              <a:buNone/>
            </a:pPr>
            <a:r>
              <a:rPr lang="en-US" sz="1600" b="1" dirty="0">
                <a:solidFill>
                  <a:srgbClr val="24241F"/>
                </a:solidFill>
                <a:latin typeface="Calibri" pitchFamily="34" charset="0"/>
                <a:ea typeface="Calibri" pitchFamily="34" charset="-122"/>
                <a:cs typeface="Calibri" pitchFamily="34" charset="-120"/>
              </a:rPr>
              <a:t>Nothing is written down</a:t>
            </a:r>
            <a:endParaRPr lang="en-US" sz="1600" dirty="0"/>
          </a:p>
        </p:txBody>
      </p:sp>
      <p:sp>
        <p:nvSpPr>
          <p:cNvPr id="15" name="Text 13"/>
          <p:cNvSpPr/>
          <p:nvPr/>
        </p:nvSpPr>
        <p:spPr>
          <a:xfrm>
            <a:off x="7150608" y="2075688"/>
            <a:ext cx="4370832" cy="777240"/>
          </a:xfrm>
          <a:prstGeom prst="rect">
            <a:avLst/>
          </a:prstGeom>
          <a:noFill/>
          <a:ln/>
        </p:spPr>
        <p:txBody>
          <a:bodyPr wrap="square" lIns="0" tIns="0" rIns="0" bIns="0" rtlCol="0" anchor="t"/>
          <a:lstStyle/>
          <a:p>
            <a:pPr marL="0" indent="0">
              <a:lnSpc>
                <a:spcPts val="1800"/>
              </a:lnSpc>
              <a:buNone/>
            </a:pPr>
            <a:r>
              <a:rPr lang="en-US" sz="1350" dirty="0">
                <a:solidFill>
                  <a:srgbClr val="6E6E66"/>
                </a:solidFill>
                <a:latin typeface="Calibri" pitchFamily="34" charset="0"/>
                <a:ea typeface="Calibri" pitchFamily="34" charset="-122"/>
                <a:cs typeface="Calibri" pitchFamily="34" charset="-120"/>
              </a:rPr>
              <a:t>When Maya orders 400 jackets rather than 200, the reasoning exists only in her head. Nobody can check it, and in six months nobody can reconstruct it.</a:t>
            </a:r>
            <a:endParaRPr lang="en-US" sz="1350" dirty="0"/>
          </a:p>
        </p:txBody>
      </p:sp>
      <p:sp>
        <p:nvSpPr>
          <p:cNvPr id="16" name="Shape 14"/>
          <p:cNvSpPr/>
          <p:nvPr/>
        </p:nvSpPr>
        <p:spPr>
          <a:xfrm>
            <a:off x="6492240" y="3154680"/>
            <a:ext cx="457200" cy="457200"/>
          </a:xfrm>
          <a:prstGeom prst="ellipse">
            <a:avLst/>
          </a:prstGeom>
          <a:solidFill>
            <a:srgbClr val="97BC62"/>
          </a:solidFill>
          <a:ln/>
        </p:spPr>
        <p:txBody>
          <a:bodyPr/>
          <a:p/>
        </p:txBody>
      </p:sp>
      <p:sp>
        <p:nvSpPr>
          <p:cNvPr id="17" name="Text 15"/>
          <p:cNvSpPr/>
          <p:nvPr/>
        </p:nvSpPr>
        <p:spPr>
          <a:xfrm>
            <a:off x="6492240" y="3154680"/>
            <a:ext cx="457200" cy="457200"/>
          </a:xfrm>
          <a:prstGeom prst="rect">
            <a:avLst/>
          </a:prstGeom>
          <a:noFill/>
          <a:ln/>
        </p:spPr>
        <p:txBody>
          <a:bodyPr wrap="square" rtlCol="0" anchor="ctr"/>
          <a:lstStyle/>
          <a:p>
            <a:pPr marL="0" indent="0" algn="ctr">
              <a:buNone/>
            </a:pPr>
            <a:r>
              <a:rPr lang="en-US" sz="1700" b="1" dirty="0">
                <a:solidFill>
                  <a:srgbClr val="16301A"/>
                </a:solidFill>
                <a:latin typeface="Cambria" pitchFamily="34" charset="0"/>
                <a:ea typeface="Cambria" pitchFamily="34" charset="-122"/>
                <a:cs typeface="Cambria" pitchFamily="34" charset="-120"/>
              </a:rPr>
              <a:t>4</a:t>
            </a:r>
            <a:endParaRPr lang="en-US" sz="1700" dirty="0"/>
          </a:p>
        </p:txBody>
      </p:sp>
      <p:sp>
        <p:nvSpPr>
          <p:cNvPr id="18" name="Text 16"/>
          <p:cNvSpPr/>
          <p:nvPr/>
        </p:nvSpPr>
        <p:spPr>
          <a:xfrm>
            <a:off x="7150608" y="3136392"/>
            <a:ext cx="4370832" cy="310896"/>
          </a:xfrm>
          <a:prstGeom prst="rect">
            <a:avLst/>
          </a:prstGeom>
          <a:noFill/>
          <a:ln/>
        </p:spPr>
        <p:txBody>
          <a:bodyPr wrap="square" lIns="0" tIns="0" rIns="0" bIns="0" rtlCol="0" anchor="ctr"/>
          <a:lstStyle/>
          <a:p>
            <a:pPr marL="0" indent="0">
              <a:buNone/>
            </a:pPr>
            <a:r>
              <a:rPr lang="en-US" sz="1600" b="1" dirty="0">
                <a:solidFill>
                  <a:srgbClr val="24241F"/>
                </a:solidFill>
                <a:latin typeface="Calibri" pitchFamily="34" charset="0"/>
                <a:ea typeface="Calibri" pitchFamily="34" charset="-122"/>
                <a:cs typeface="Calibri" pitchFamily="34" charset="-120"/>
              </a:rPr>
              <a:t>Totals hide problems</a:t>
            </a:r>
            <a:endParaRPr lang="en-US" sz="1600" dirty="0"/>
          </a:p>
        </p:txBody>
      </p:sp>
      <p:sp>
        <p:nvSpPr>
          <p:cNvPr id="19" name="Text 17"/>
          <p:cNvSpPr/>
          <p:nvPr/>
        </p:nvSpPr>
        <p:spPr>
          <a:xfrm>
            <a:off x="7150608" y="3447288"/>
            <a:ext cx="4370832" cy="777240"/>
          </a:xfrm>
          <a:prstGeom prst="rect">
            <a:avLst/>
          </a:prstGeom>
          <a:noFill/>
          <a:ln/>
        </p:spPr>
        <p:txBody>
          <a:bodyPr wrap="square" lIns="0" tIns="0" rIns="0" bIns="0" rtlCol="0" anchor="t"/>
          <a:lstStyle/>
          <a:p>
            <a:pPr marL="0" indent="0">
              <a:lnSpc>
                <a:spcPts val="1800"/>
              </a:lnSpc>
              <a:buNone/>
            </a:pPr>
            <a:r>
              <a:rPr lang="en-US" sz="1350" dirty="0">
                <a:solidFill>
                  <a:srgbClr val="6E6E66"/>
                </a:solidFill>
                <a:latin typeface="Calibri" pitchFamily="34" charset="0"/>
                <a:ea typeface="Calibri" pitchFamily="34" charset="-122"/>
                <a:cs typeface="Calibri" pitchFamily="34" charset="-120"/>
              </a:rPr>
              <a:t>She looks at how much sold, not at how much sold where. Some of the most important shifts in a business are invisible in a total.</a:t>
            </a:r>
            <a:endParaRPr lang="en-US" sz="1350" dirty="0"/>
          </a:p>
        </p:txBody>
      </p:sp>
      <p:sp>
        <p:nvSpPr>
          <p:cNvPr id="20" name="Text 18"/>
          <p:cNvSpPr/>
          <p:nvPr/>
        </p:nvSpPr>
        <p:spPr>
          <a:xfrm>
            <a:off x="640080" y="6291072"/>
            <a:ext cx="10881360" cy="292608"/>
          </a:xfrm>
          <a:prstGeom prst="rect">
            <a:avLst/>
          </a:prstGeom>
          <a:noFill/>
          <a:ln/>
        </p:spPr>
        <p:txBody>
          <a:bodyPr wrap="square" lIns="0" tIns="0" rIns="0" bIns="0" rtlCol="0" anchor="ctr"/>
          <a:lstStyle/>
          <a:p>
            <a:pPr marL="0" indent="0">
              <a:buNone/>
            </a:pPr>
            <a:r>
              <a:rPr lang="en-US" sz="1050" i="1" dirty="0">
                <a:solidFill>
                  <a:srgbClr val="6E6E66"/>
                </a:solidFill>
                <a:latin typeface="Calibri" pitchFamily="34" charset="0"/>
                <a:ea typeface="Calibri" pitchFamily="34" charset="-122"/>
                <a:cs typeface="Calibri" pitchFamily="34" charset="-120"/>
              </a:rPr>
              <a:t>If Maya is ill or leaves, the company loses not just a person but the entire method.</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10881360" cy="566928"/>
          </a:xfrm>
          <a:prstGeom prst="rect">
            <a:avLst/>
          </a:prstGeom>
          <a:noFill/>
          <a:ln/>
        </p:spPr>
        <p:txBody>
          <a:bodyPr wrap="square" lIns="0" tIns="0" rIns="0" bIns="0" rtlCol="0" anchor="ctr"/>
          <a:lstStyle/>
          <a:p>
            <a:pPr marL="0" indent="0">
              <a:buNone/>
            </a:pPr>
            <a:r>
              <a:rPr lang="en-US" sz="3300" b="1" dirty="0">
                <a:solidFill>
                  <a:srgbClr val="2C5F2D"/>
                </a:solidFill>
                <a:latin typeface="Cambria" pitchFamily="34" charset="0"/>
                <a:ea typeface="Cambria" pitchFamily="34" charset="-122"/>
                <a:cs typeface="Cambria" pitchFamily="34" charset="-120"/>
              </a:rPr>
              <a:t>The jacket that went viral</a:t>
            </a:r>
            <a:endParaRPr lang="en-US" sz="3300" dirty="0"/>
          </a:p>
        </p:txBody>
      </p:sp>
      <p:sp>
        <p:nvSpPr>
          <p:cNvPr id="3" name="Text 1"/>
          <p:cNvSpPr/>
          <p:nvPr/>
        </p:nvSpPr>
        <p:spPr>
          <a:xfrm>
            <a:off x="640080" y="1042416"/>
            <a:ext cx="10424160" cy="384048"/>
          </a:xfrm>
          <a:prstGeom prst="rect">
            <a:avLst/>
          </a:prstGeom>
          <a:noFill/>
          <a:ln/>
        </p:spPr>
        <p:txBody>
          <a:bodyPr wrap="square" lIns="0" tIns="0" rIns="0" bIns="0" rtlCol="0" anchor="ctr"/>
          <a:lstStyle/>
          <a:p>
            <a:pPr marL="0" indent="0">
              <a:buNone/>
            </a:pPr>
            <a:r>
              <a:rPr lang="en-US" sz="1500" dirty="0">
                <a:solidFill>
                  <a:srgbClr val="6E6E66"/>
                </a:solidFill>
                <a:latin typeface="Calibri" pitchFamily="34" charset="0"/>
                <a:ea typeface="Calibri" pitchFamily="34" charset="-122"/>
                <a:cs typeface="Calibri" pitchFamily="34" charset="-120"/>
              </a:rPr>
              <a:t>Hard case one — a spike that looks like growth</a:t>
            </a:r>
            <a:endParaRPr lang="en-US" sz="1500" dirty="0"/>
          </a:p>
        </p:txBody>
      </p:sp>
      <p:sp>
        <p:nvSpPr>
          <p:cNvPr id="4" name="Text 2"/>
          <p:cNvSpPr/>
          <p:nvPr/>
        </p:nvSpPr>
        <p:spPr>
          <a:xfrm>
            <a:off x="640080" y="1691640"/>
            <a:ext cx="6492240" cy="1097280"/>
          </a:xfrm>
          <a:prstGeom prst="rect">
            <a:avLst/>
          </a:prstGeom>
          <a:noFill/>
          <a:ln/>
        </p:spPr>
        <p:txBody>
          <a:bodyPr wrap="square" lIns="0" tIns="0" rIns="0" bIns="0" rtlCol="0" anchor="ctr"/>
          <a:lstStyle/>
          <a:p>
            <a:pPr marL="0" indent="0">
              <a:lnSpc>
                <a:spcPts val="2400"/>
              </a:lnSpc>
              <a:buNone/>
            </a:pPr>
            <a:r>
              <a:rPr lang="en-US" sz="1550" dirty="0">
                <a:solidFill>
                  <a:srgbClr val="24241F"/>
                </a:solidFill>
                <a:latin typeface="Calibri" pitchFamily="34" charset="0"/>
                <a:ea typeface="Calibri" pitchFamily="34" charset="-122"/>
                <a:cs typeface="Calibri" pitchFamily="34" charset="-120"/>
              </a:rPr>
              <a:t>A trail running jacket normally sells about 39 a week. An influencer features it in a video. For three weeks it sells 188, 176, then 188 — roughly four and a half times normal, almost all of it online.</a:t>
            </a:r>
            <a:endParaRPr lang="en-US" sz="1550" dirty="0"/>
          </a:p>
        </p:txBody>
      </p:sp>
      <p:sp>
        <p:nvSpPr>
          <p:cNvPr id="5" name="Shape 3"/>
          <p:cNvSpPr/>
          <p:nvPr/>
        </p:nvSpPr>
        <p:spPr>
          <a:xfrm>
            <a:off x="640080" y="2926080"/>
            <a:ext cx="6492240" cy="960120"/>
          </a:xfrm>
          <a:prstGeom prst="roundRect">
            <a:avLst>
              <a:gd name="adj" fmla="val 7619"/>
            </a:avLst>
          </a:prstGeom>
          <a:solidFill>
            <a:srgbClr val="F4F6F1"/>
          </a:solidFill>
          <a:ln w="9525">
            <a:solidFill>
              <a:srgbClr val="E2E8DC"/>
            </a:solidFill>
            <a:prstDash val="solid"/>
          </a:ln>
        </p:spPr>
        <p:txBody>
          <a:bodyPr/>
          <a:p/>
        </p:txBody>
      </p:sp>
      <p:sp>
        <p:nvSpPr>
          <p:cNvPr id="6" name="Text 4"/>
          <p:cNvSpPr/>
          <p:nvPr/>
        </p:nvSpPr>
        <p:spPr>
          <a:xfrm>
            <a:off x="914400" y="3063240"/>
            <a:ext cx="5943600" cy="731520"/>
          </a:xfrm>
          <a:prstGeom prst="rect">
            <a:avLst/>
          </a:prstGeom>
          <a:noFill/>
          <a:ln/>
        </p:spPr>
        <p:txBody>
          <a:bodyPr wrap="square" lIns="0" tIns="0" rIns="0" bIns="0" rtlCol="0" anchor="ctr"/>
          <a:lstStyle/>
          <a:p>
            <a:pPr marL="0" indent="0">
              <a:lnSpc>
                <a:spcPts val="2000"/>
              </a:lnSpc>
              <a:buNone/>
            </a:pPr>
            <a:r>
              <a:rPr lang="en-US" sz="1400" dirty="0">
                <a:solidFill>
                  <a:srgbClr val="24241F"/>
                </a:solidFill>
                <a:latin typeface="Calibri" pitchFamily="34" charset="0"/>
                <a:ea typeface="Calibri" pitchFamily="34" charset="-122"/>
                <a:cs typeface="Calibri" pitchFamily="34" charset="-120"/>
              </a:rPr>
              <a:t>The obvious trap:  a simple system sees demand quadruple and orders as though it will continue. The warehouse fills with jackets nobody wants once the video stops circulating.</a:t>
            </a:r>
            <a:endParaRPr lang="en-US" sz="1400" dirty="0"/>
          </a:p>
        </p:txBody>
      </p:sp>
      <p:sp>
        <p:nvSpPr>
          <p:cNvPr id="7" name="Shape 5"/>
          <p:cNvSpPr/>
          <p:nvPr/>
        </p:nvSpPr>
        <p:spPr>
          <a:xfrm>
            <a:off x="640080" y="4069080"/>
            <a:ext cx="6492240" cy="1234440"/>
          </a:xfrm>
          <a:prstGeom prst="roundRect">
            <a:avLst>
              <a:gd name="adj" fmla="val 5926"/>
            </a:avLst>
          </a:prstGeom>
          <a:solidFill>
            <a:srgbClr val="F7ECE9"/>
          </a:solidFill>
          <a:ln w="9525">
            <a:solidFill>
              <a:srgbClr val="E8D2CD"/>
            </a:solidFill>
            <a:prstDash val="solid"/>
          </a:ln>
        </p:spPr>
        <p:txBody>
          <a:bodyPr/>
          <a:p/>
        </p:txBody>
      </p:sp>
      <p:sp>
        <p:nvSpPr>
          <p:cNvPr id="8" name="Text 6"/>
          <p:cNvSpPr/>
          <p:nvPr/>
        </p:nvSpPr>
        <p:spPr>
          <a:xfrm>
            <a:off x="914400" y="4224528"/>
            <a:ext cx="5943600" cy="960120"/>
          </a:xfrm>
          <a:prstGeom prst="rect">
            <a:avLst/>
          </a:prstGeom>
          <a:noFill/>
          <a:ln/>
        </p:spPr>
        <p:txBody>
          <a:bodyPr wrap="square" lIns="0" tIns="0" rIns="0" bIns="0" rtlCol="0" anchor="ctr"/>
          <a:lstStyle/>
          <a:p>
            <a:pPr marL="0" indent="0">
              <a:lnSpc>
                <a:spcPts val="2000"/>
              </a:lnSpc>
              <a:buNone/>
            </a:pPr>
            <a:r>
              <a:rPr lang="en-US" sz="1400" dirty="0">
                <a:solidFill>
                  <a:srgbClr val="7A2E1E"/>
                </a:solidFill>
                <a:latin typeface="Calibri" pitchFamily="34" charset="0"/>
                <a:ea typeface="Calibri" pitchFamily="34" charset="-122"/>
                <a:cs typeface="Calibri" pitchFamily="34" charset="-120"/>
              </a:rPr>
              <a:t>The less obvious trap — which this project fell into first:  smoothing the spike away with a longer average does not work, because the unusual weeks sit inside the longer window too.</a:t>
            </a:r>
            <a:endParaRPr lang="en-US" sz="1400" dirty="0"/>
          </a:p>
        </p:txBody>
      </p:sp>
      <p:sp>
        <p:nvSpPr>
          <p:cNvPr id="9" name="Shape 7"/>
          <p:cNvSpPr/>
          <p:nvPr/>
        </p:nvSpPr>
        <p:spPr>
          <a:xfrm>
            <a:off x="7452360" y="1691640"/>
            <a:ext cx="4069080" cy="1188720"/>
          </a:xfrm>
          <a:prstGeom prst="roundRect">
            <a:avLst>
              <a:gd name="adj" fmla="val 6154"/>
            </a:avLst>
          </a:prstGeom>
          <a:solidFill>
            <a:srgbClr val="F4F6F1"/>
          </a:solidFill>
          <a:ln w="9525">
            <a:solidFill>
              <a:srgbClr val="E2E8DC"/>
            </a:solidFill>
            <a:prstDash val="solid"/>
          </a:ln>
        </p:spPr>
        <p:txBody>
          <a:bodyPr/>
          <a:p/>
        </p:txBody>
      </p:sp>
      <p:sp>
        <p:nvSpPr>
          <p:cNvPr id="10" name="Text 8"/>
          <p:cNvSpPr/>
          <p:nvPr/>
        </p:nvSpPr>
        <p:spPr>
          <a:xfrm>
            <a:off x="7680960" y="1819656"/>
            <a:ext cx="3611880" cy="603504"/>
          </a:xfrm>
          <a:prstGeom prst="rect">
            <a:avLst/>
          </a:prstGeom>
          <a:noFill/>
          <a:ln/>
        </p:spPr>
        <p:txBody>
          <a:bodyPr wrap="square" lIns="0" tIns="0" rIns="0" bIns="0" rtlCol="0" anchor="ctr"/>
          <a:lstStyle/>
          <a:p>
            <a:pPr marL="0" indent="0">
              <a:buNone/>
            </a:pPr>
            <a:r>
              <a:rPr lang="en-US" sz="3400" b="1" dirty="0">
                <a:solidFill>
                  <a:srgbClr val="2C5F2D"/>
                </a:solidFill>
                <a:latin typeface="Cambria" pitchFamily="34" charset="0"/>
                <a:ea typeface="Cambria" pitchFamily="34" charset="-122"/>
                <a:cs typeface="Cambria" pitchFamily="34" charset="-120"/>
              </a:rPr>
              <a:t>39 / week</a:t>
            </a:r>
            <a:endParaRPr lang="en-US" sz="3400" dirty="0"/>
          </a:p>
        </p:txBody>
      </p:sp>
      <p:sp>
        <p:nvSpPr>
          <p:cNvPr id="11" name="Text 9"/>
          <p:cNvSpPr/>
          <p:nvPr/>
        </p:nvSpPr>
        <p:spPr>
          <a:xfrm>
            <a:off x="7680960" y="2441448"/>
            <a:ext cx="3611880" cy="329184"/>
          </a:xfrm>
          <a:prstGeom prst="rect">
            <a:avLst/>
          </a:prstGeom>
          <a:noFill/>
          <a:ln/>
        </p:spPr>
        <p:txBody>
          <a:bodyPr wrap="square" lIns="0" tIns="0" rIns="0" bIns="0" rtlCol="0" anchor="t"/>
          <a:lstStyle/>
          <a:p>
            <a:pPr marL="0" indent="0">
              <a:lnSpc>
                <a:spcPts val="1600"/>
              </a:lnSpc>
              <a:buNone/>
            </a:pPr>
            <a:r>
              <a:rPr lang="en-US" sz="1200" dirty="0">
                <a:solidFill>
                  <a:srgbClr val="6E6E66"/>
                </a:solidFill>
                <a:latin typeface="Calibri" pitchFamily="34" charset="0"/>
                <a:ea typeface="Calibri" pitchFamily="34" charset="-122"/>
                <a:cs typeface="Calibri" pitchFamily="34" charset="-120"/>
              </a:rPr>
              <a:t>The real underlying demand</a:t>
            </a:r>
            <a:endParaRPr lang="en-US" sz="1200" dirty="0"/>
          </a:p>
        </p:txBody>
      </p:sp>
      <p:sp>
        <p:nvSpPr>
          <p:cNvPr id="12" name="Shape 10"/>
          <p:cNvSpPr/>
          <p:nvPr/>
        </p:nvSpPr>
        <p:spPr>
          <a:xfrm>
            <a:off x="7452360" y="3063240"/>
            <a:ext cx="4069080" cy="1188720"/>
          </a:xfrm>
          <a:prstGeom prst="roundRect">
            <a:avLst>
              <a:gd name="adj" fmla="val 6154"/>
            </a:avLst>
          </a:prstGeom>
          <a:solidFill>
            <a:srgbClr val="F4F6F1"/>
          </a:solidFill>
          <a:ln w="9525">
            <a:solidFill>
              <a:srgbClr val="E2E8DC"/>
            </a:solidFill>
            <a:prstDash val="solid"/>
          </a:ln>
        </p:spPr>
        <p:txBody>
          <a:bodyPr/>
          <a:p/>
        </p:txBody>
      </p:sp>
      <p:sp>
        <p:nvSpPr>
          <p:cNvPr id="13" name="Text 11"/>
          <p:cNvSpPr/>
          <p:nvPr/>
        </p:nvSpPr>
        <p:spPr>
          <a:xfrm>
            <a:off x="7680960" y="3191256"/>
            <a:ext cx="3611880" cy="603504"/>
          </a:xfrm>
          <a:prstGeom prst="rect">
            <a:avLst/>
          </a:prstGeom>
          <a:noFill/>
          <a:ln/>
        </p:spPr>
        <p:txBody>
          <a:bodyPr wrap="square" lIns="0" tIns="0" rIns="0" bIns="0" rtlCol="0" anchor="ctr"/>
          <a:lstStyle/>
          <a:p>
            <a:pPr marL="0" indent="0">
              <a:buNone/>
            </a:pPr>
            <a:r>
              <a:rPr lang="en-US" sz="3400" b="1" dirty="0">
                <a:solidFill>
                  <a:srgbClr val="B85042"/>
                </a:solidFill>
                <a:latin typeface="Cambria" pitchFamily="34" charset="0"/>
                <a:ea typeface="Cambria" pitchFamily="34" charset="-122"/>
                <a:cs typeface="Cambria" pitchFamily="34" charset="-120"/>
              </a:rPr>
              <a:t>95 / week</a:t>
            </a:r>
            <a:endParaRPr lang="en-US" sz="3400" dirty="0"/>
          </a:p>
        </p:txBody>
      </p:sp>
      <p:sp>
        <p:nvSpPr>
          <p:cNvPr id="14" name="Text 12"/>
          <p:cNvSpPr/>
          <p:nvPr/>
        </p:nvSpPr>
        <p:spPr>
          <a:xfrm>
            <a:off x="7680960" y="3813048"/>
            <a:ext cx="3611880" cy="329184"/>
          </a:xfrm>
          <a:prstGeom prst="rect">
            <a:avLst/>
          </a:prstGeom>
          <a:noFill/>
          <a:ln/>
        </p:spPr>
        <p:txBody>
          <a:bodyPr wrap="square" lIns="0" tIns="0" rIns="0" bIns="0" rtlCol="0" anchor="t"/>
          <a:lstStyle/>
          <a:p>
            <a:pPr marL="0" indent="0">
              <a:lnSpc>
                <a:spcPts val="1600"/>
              </a:lnSpc>
              <a:buNone/>
            </a:pPr>
            <a:r>
              <a:rPr lang="en-US" sz="1200" dirty="0">
                <a:solidFill>
                  <a:srgbClr val="6E6E66"/>
                </a:solidFill>
                <a:latin typeface="Calibri" pitchFamily="34" charset="0"/>
                <a:ea typeface="Calibri" pitchFamily="34" charset="-122"/>
                <a:cs typeface="Calibri" pitchFamily="34" charset="-120"/>
              </a:rPr>
              <a:t>What the longer-average 'fix' said</a:t>
            </a:r>
            <a:endParaRPr lang="en-US" sz="1200" dirty="0"/>
          </a:p>
        </p:txBody>
      </p:sp>
      <p:sp>
        <p:nvSpPr>
          <p:cNvPr id="15" name="Shape 13"/>
          <p:cNvSpPr/>
          <p:nvPr/>
        </p:nvSpPr>
        <p:spPr>
          <a:xfrm>
            <a:off x="7452360" y="4434840"/>
            <a:ext cx="4069080" cy="1188720"/>
          </a:xfrm>
          <a:prstGeom prst="roundRect">
            <a:avLst>
              <a:gd name="adj" fmla="val 6154"/>
            </a:avLst>
          </a:prstGeom>
          <a:solidFill>
            <a:srgbClr val="F4F6F1"/>
          </a:solidFill>
          <a:ln w="9525">
            <a:solidFill>
              <a:srgbClr val="E2E8DC"/>
            </a:solidFill>
            <a:prstDash val="solid"/>
          </a:ln>
        </p:spPr>
        <p:txBody>
          <a:bodyPr/>
          <a:p/>
        </p:txBody>
      </p:sp>
      <p:sp>
        <p:nvSpPr>
          <p:cNvPr id="16" name="Text 14"/>
          <p:cNvSpPr/>
          <p:nvPr/>
        </p:nvSpPr>
        <p:spPr>
          <a:xfrm>
            <a:off x="7680960" y="4562856"/>
            <a:ext cx="3611880" cy="603504"/>
          </a:xfrm>
          <a:prstGeom prst="rect">
            <a:avLst/>
          </a:prstGeom>
          <a:noFill/>
          <a:ln/>
        </p:spPr>
        <p:txBody>
          <a:bodyPr wrap="square" lIns="0" tIns="0" rIns="0" bIns="0" rtlCol="0" anchor="ctr"/>
          <a:lstStyle/>
          <a:p>
            <a:pPr marL="0" indent="0">
              <a:buNone/>
            </a:pPr>
            <a:r>
              <a:rPr lang="en-US" sz="3400" b="1" dirty="0">
                <a:solidFill>
                  <a:srgbClr val="2C5F2D"/>
                </a:solidFill>
                <a:latin typeface="Cambria" pitchFamily="34" charset="0"/>
                <a:ea typeface="Cambria" pitchFamily="34" charset="-122"/>
                <a:cs typeface="Cambria" pitchFamily="34" charset="-120"/>
              </a:rPr>
              <a:t>42 / week</a:t>
            </a:r>
            <a:endParaRPr lang="en-US" sz="3400" dirty="0"/>
          </a:p>
        </p:txBody>
      </p:sp>
      <p:sp>
        <p:nvSpPr>
          <p:cNvPr id="17" name="Text 15"/>
          <p:cNvSpPr/>
          <p:nvPr/>
        </p:nvSpPr>
        <p:spPr>
          <a:xfrm>
            <a:off x="7680960" y="5184648"/>
            <a:ext cx="3611880" cy="329184"/>
          </a:xfrm>
          <a:prstGeom prst="rect">
            <a:avLst/>
          </a:prstGeom>
          <a:noFill/>
          <a:ln/>
        </p:spPr>
        <p:txBody>
          <a:bodyPr wrap="square" lIns="0" tIns="0" rIns="0" bIns="0" rtlCol="0" anchor="t"/>
          <a:lstStyle/>
          <a:p>
            <a:pPr marL="0" indent="0">
              <a:lnSpc>
                <a:spcPts val="1600"/>
              </a:lnSpc>
              <a:buNone/>
            </a:pPr>
            <a:r>
              <a:rPr lang="en-US" sz="1200" dirty="0">
                <a:solidFill>
                  <a:srgbClr val="6E6E66"/>
                </a:solidFill>
                <a:latin typeface="Calibri" pitchFamily="34" charset="0"/>
                <a:ea typeface="Calibri" pitchFamily="34" charset="-122"/>
                <a:cs typeface="Calibri" pitchFamily="34" charset="-120"/>
              </a:rPr>
              <a:t>What the working fix produces</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10881360" cy="566928"/>
          </a:xfrm>
          <a:prstGeom prst="rect">
            <a:avLst/>
          </a:prstGeom>
          <a:noFill/>
          <a:ln/>
        </p:spPr>
        <p:txBody>
          <a:bodyPr wrap="square" lIns="0" tIns="0" rIns="0" bIns="0" rtlCol="0" anchor="ctr"/>
          <a:lstStyle/>
          <a:p>
            <a:pPr marL="0" indent="0">
              <a:buNone/>
            </a:pPr>
            <a:r>
              <a:rPr lang="en-US" sz="3300" b="1" dirty="0">
                <a:solidFill>
                  <a:srgbClr val="2C5F2D"/>
                </a:solidFill>
                <a:latin typeface="Cambria" pitchFamily="34" charset="0"/>
                <a:ea typeface="Cambria" pitchFamily="34" charset="-122"/>
                <a:cs typeface="Cambria" pitchFamily="34" charset="-120"/>
              </a:rPr>
              <a:t>The ships that got stuck</a:t>
            </a:r>
            <a:endParaRPr lang="en-US" sz="3300" dirty="0"/>
          </a:p>
        </p:txBody>
      </p:sp>
      <p:sp>
        <p:nvSpPr>
          <p:cNvPr id="3" name="Text 1"/>
          <p:cNvSpPr/>
          <p:nvPr/>
        </p:nvSpPr>
        <p:spPr>
          <a:xfrm>
            <a:off x="640080" y="1042416"/>
            <a:ext cx="10424160" cy="384048"/>
          </a:xfrm>
          <a:prstGeom prst="rect">
            <a:avLst/>
          </a:prstGeom>
          <a:noFill/>
          <a:ln/>
        </p:spPr>
        <p:txBody>
          <a:bodyPr wrap="square" lIns="0" tIns="0" rIns="0" bIns="0" rtlCol="0" anchor="ctr"/>
          <a:lstStyle/>
          <a:p>
            <a:pPr marL="0" indent="0">
              <a:buNone/>
            </a:pPr>
            <a:r>
              <a:rPr lang="en-US" sz="1500" dirty="0">
                <a:solidFill>
                  <a:srgbClr val="6E6E66"/>
                </a:solidFill>
                <a:latin typeface="Calibri" pitchFamily="34" charset="0"/>
                <a:ea typeface="Calibri" pitchFamily="34" charset="-122"/>
                <a:cs typeface="Calibri" pitchFamily="34" charset="-120"/>
              </a:rPr>
              <a:t>Hard case two — nothing about demand changed at all</a:t>
            </a:r>
            <a:endParaRPr lang="en-US" sz="1500" dirty="0"/>
          </a:p>
        </p:txBody>
      </p:sp>
      <p:sp>
        <p:nvSpPr>
          <p:cNvPr id="4" name="Text 2"/>
          <p:cNvSpPr/>
          <p:nvPr/>
        </p:nvSpPr>
        <p:spPr>
          <a:xfrm>
            <a:off x="640080" y="1737360"/>
            <a:ext cx="6035040" cy="777240"/>
          </a:xfrm>
          <a:prstGeom prst="rect">
            <a:avLst/>
          </a:prstGeom>
          <a:noFill/>
          <a:ln/>
        </p:spPr>
        <p:txBody>
          <a:bodyPr wrap="square" lIns="0" tIns="0" rIns="0" bIns="0" rtlCol="0" anchor="ctr"/>
          <a:lstStyle/>
          <a:p>
            <a:pPr marL="0" indent="0">
              <a:lnSpc>
                <a:spcPts val="2400"/>
              </a:lnSpc>
              <a:buNone/>
            </a:pPr>
            <a:r>
              <a:rPr lang="en-US" sz="1550" dirty="0">
                <a:solidFill>
                  <a:srgbClr val="24241F"/>
                </a:solidFill>
                <a:latin typeface="Calibri" pitchFamily="34" charset="0"/>
                <a:ea typeface="Calibri" pitchFamily="34" charset="-122"/>
                <a:cs typeface="Calibri" pitchFamily="34" charset="-120"/>
              </a:rPr>
              <a:t>Northpeak's footwear supplier normally delivers in three weeks. Congestion at the port pushes that out to six and a half.</a:t>
            </a:r>
            <a:endParaRPr lang="en-US" sz="1550" dirty="0"/>
          </a:p>
        </p:txBody>
      </p:sp>
      <p:sp>
        <p:nvSpPr>
          <p:cNvPr id="5" name="Text 3"/>
          <p:cNvSpPr/>
          <p:nvPr/>
        </p:nvSpPr>
        <p:spPr>
          <a:xfrm>
            <a:off x="640080" y="2651760"/>
            <a:ext cx="6035040" cy="1005840"/>
          </a:xfrm>
          <a:prstGeom prst="rect">
            <a:avLst/>
          </a:prstGeom>
          <a:noFill/>
          <a:ln/>
        </p:spPr>
        <p:txBody>
          <a:bodyPr wrap="square" lIns="0" tIns="0" rIns="0" bIns="0" rtlCol="0" anchor="ctr"/>
          <a:lstStyle/>
          <a:p>
            <a:pPr marL="0" indent="0">
              <a:lnSpc>
                <a:spcPts val="2400"/>
              </a:lnSpc>
              <a:buNone/>
            </a:pPr>
            <a:r>
              <a:rPr lang="en-US" sz="1550" dirty="0">
                <a:solidFill>
                  <a:srgbClr val="24241F"/>
                </a:solidFill>
                <a:latin typeface="Calibri" pitchFamily="34" charset="0"/>
                <a:ea typeface="Calibri" pitchFamily="34" charset="-122"/>
                <a:cs typeface="Calibri" pitchFamily="34" charset="-120"/>
              </a:rPr>
              <a:t>Demand is unchanged. The product is unchanged. But an order placed on the old assumption now lands about a month late, and the shelves are empty in between.</a:t>
            </a:r>
            <a:endParaRPr lang="en-US" sz="1550" dirty="0"/>
          </a:p>
        </p:txBody>
      </p:sp>
      <p:sp>
        <p:nvSpPr>
          <p:cNvPr id="6" name="Text 4"/>
          <p:cNvSpPr/>
          <p:nvPr/>
        </p:nvSpPr>
        <p:spPr>
          <a:xfrm>
            <a:off x="640080" y="3794760"/>
            <a:ext cx="6035040" cy="1097280"/>
          </a:xfrm>
          <a:prstGeom prst="rect">
            <a:avLst/>
          </a:prstGeom>
          <a:noFill/>
          <a:ln/>
        </p:spPr>
        <p:txBody>
          <a:bodyPr wrap="square" lIns="0" tIns="0" rIns="0" bIns="0" rtlCol="0" anchor="ctr"/>
          <a:lstStyle/>
          <a:p>
            <a:pPr marL="0" indent="0">
              <a:lnSpc>
                <a:spcPts val="2400"/>
              </a:lnSpc>
              <a:buNone/>
            </a:pPr>
            <a:r>
              <a:rPr lang="en-US" sz="1550" b="1" dirty="0">
                <a:solidFill>
                  <a:srgbClr val="2C5F2D"/>
                </a:solidFill>
                <a:latin typeface="Calibri" pitchFamily="34" charset="0"/>
                <a:ea typeface="Calibri" pitchFamily="34" charset="-122"/>
                <a:cs typeface="Calibri" pitchFamily="34" charset="-120"/>
              </a:rPr>
              <a:t>The system reads current delivery times rather than assuming them, so orders are automatically sized and timed for the longer wait — with the reason stated on screen.</a:t>
            </a:r>
            <a:endParaRPr lang="en-US" sz="1550" dirty="0"/>
          </a:p>
        </p:txBody>
      </p:sp>
      <p:sp>
        <p:nvSpPr>
          <p:cNvPr id="7" name="Shape 5"/>
          <p:cNvSpPr/>
          <p:nvPr/>
        </p:nvSpPr>
        <p:spPr>
          <a:xfrm>
            <a:off x="7223760" y="1828800"/>
            <a:ext cx="4297680" cy="2926080"/>
          </a:xfrm>
          <a:prstGeom prst="roundRect">
            <a:avLst>
              <a:gd name="adj" fmla="val 2500"/>
            </a:avLst>
          </a:prstGeom>
          <a:solidFill>
            <a:srgbClr val="F4F6F1"/>
          </a:solidFill>
          <a:ln w="9525">
            <a:solidFill>
              <a:srgbClr val="E2E8DC"/>
            </a:solidFill>
            <a:prstDash val="solid"/>
          </a:ln>
        </p:spPr>
        <p:txBody>
          <a:bodyPr/>
          <a:p/>
        </p:txBody>
      </p:sp>
      <p:sp>
        <p:nvSpPr>
          <p:cNvPr id="8" name="Text 6"/>
          <p:cNvSpPr/>
          <p:nvPr/>
        </p:nvSpPr>
        <p:spPr>
          <a:xfrm>
            <a:off x="7498080" y="2148840"/>
            <a:ext cx="3749040" cy="594360"/>
          </a:xfrm>
          <a:prstGeom prst="rect">
            <a:avLst/>
          </a:prstGeom>
          <a:noFill/>
          <a:ln/>
        </p:spPr>
        <p:txBody>
          <a:bodyPr wrap="square" lIns="0" tIns="0" rIns="0" bIns="0" rtlCol="0" anchor="ctr"/>
          <a:lstStyle/>
          <a:p>
            <a:pPr marL="0" indent="0">
              <a:buNone/>
            </a:pPr>
            <a:r>
              <a:rPr lang="en-US" sz="3400" b="1" dirty="0">
                <a:solidFill>
                  <a:srgbClr val="6E6E66"/>
                </a:solidFill>
                <a:latin typeface="Cambria" pitchFamily="34" charset="0"/>
                <a:ea typeface="Cambria" pitchFamily="34" charset="-122"/>
                <a:cs typeface="Cambria" pitchFamily="34" charset="-120"/>
              </a:rPr>
              <a:t>21 days</a:t>
            </a:r>
            <a:endParaRPr lang="en-US" sz="3400" dirty="0"/>
          </a:p>
        </p:txBody>
      </p:sp>
      <p:sp>
        <p:nvSpPr>
          <p:cNvPr id="9" name="Text 7"/>
          <p:cNvSpPr/>
          <p:nvPr/>
        </p:nvSpPr>
        <p:spPr>
          <a:xfrm>
            <a:off x="7498080" y="2724912"/>
            <a:ext cx="3749040" cy="274320"/>
          </a:xfrm>
          <a:prstGeom prst="rect">
            <a:avLst/>
          </a:prstGeom>
          <a:noFill/>
          <a:ln/>
        </p:spPr>
        <p:txBody>
          <a:bodyPr wrap="square" lIns="0" tIns="0" rIns="0" bIns="0" rtlCol="0" anchor="ctr"/>
          <a:lstStyle/>
          <a:p>
            <a:pPr marL="0" indent="0">
              <a:buNone/>
            </a:pPr>
            <a:r>
              <a:rPr lang="en-US" sz="1250" dirty="0">
                <a:solidFill>
                  <a:srgbClr val="6E6E66"/>
                </a:solidFill>
                <a:latin typeface="Calibri" pitchFamily="34" charset="0"/>
                <a:ea typeface="Calibri" pitchFamily="34" charset="-122"/>
                <a:cs typeface="Calibri" pitchFamily="34" charset="-120"/>
              </a:rPr>
              <a:t>normal lead time</a:t>
            </a:r>
            <a:endParaRPr lang="en-US" sz="1250" dirty="0"/>
          </a:p>
        </p:txBody>
      </p:sp>
      <p:sp>
        <p:nvSpPr>
          <p:cNvPr id="10" name="Shape 8"/>
          <p:cNvSpPr/>
          <p:nvPr/>
        </p:nvSpPr>
        <p:spPr>
          <a:xfrm>
            <a:off x="7589520" y="3108960"/>
            <a:ext cx="274320" cy="457200"/>
          </a:xfrm>
          <a:prstGeom prst="downArrow">
            <a:avLst/>
          </a:prstGeom>
          <a:solidFill>
            <a:srgbClr val="B85042"/>
          </a:solidFill>
          <a:ln/>
        </p:spPr>
        <p:txBody>
          <a:bodyPr/>
          <a:p/>
        </p:txBody>
      </p:sp>
      <p:sp>
        <p:nvSpPr>
          <p:cNvPr id="11" name="Text 9"/>
          <p:cNvSpPr/>
          <p:nvPr/>
        </p:nvSpPr>
        <p:spPr>
          <a:xfrm>
            <a:off x="7498080" y="3657600"/>
            <a:ext cx="3749040" cy="594360"/>
          </a:xfrm>
          <a:prstGeom prst="rect">
            <a:avLst/>
          </a:prstGeom>
          <a:noFill/>
          <a:ln/>
        </p:spPr>
        <p:txBody>
          <a:bodyPr wrap="square" lIns="0" tIns="0" rIns="0" bIns="0" rtlCol="0" anchor="ctr"/>
          <a:lstStyle/>
          <a:p>
            <a:pPr marL="0" indent="0">
              <a:buNone/>
            </a:pPr>
            <a:r>
              <a:rPr lang="en-US" sz="3400" b="1" dirty="0">
                <a:solidFill>
                  <a:srgbClr val="B85042"/>
                </a:solidFill>
                <a:latin typeface="Cambria" pitchFamily="34" charset="0"/>
                <a:ea typeface="Cambria" pitchFamily="34" charset="-122"/>
                <a:cs typeface="Cambria" pitchFamily="34" charset="-120"/>
              </a:rPr>
              <a:t>45 days</a:t>
            </a:r>
            <a:endParaRPr lang="en-US" sz="3400" dirty="0"/>
          </a:p>
        </p:txBody>
      </p:sp>
      <p:sp>
        <p:nvSpPr>
          <p:cNvPr id="12" name="Text 10"/>
          <p:cNvSpPr/>
          <p:nvPr/>
        </p:nvSpPr>
        <p:spPr>
          <a:xfrm>
            <a:off x="7498080" y="4233672"/>
            <a:ext cx="3749040" cy="274320"/>
          </a:xfrm>
          <a:prstGeom prst="rect">
            <a:avLst/>
          </a:prstGeom>
          <a:noFill/>
          <a:ln/>
        </p:spPr>
        <p:txBody>
          <a:bodyPr wrap="square" lIns="0" tIns="0" rIns="0" bIns="0" rtlCol="0" anchor="ctr"/>
          <a:lstStyle/>
          <a:p>
            <a:pPr marL="0" indent="0">
              <a:buNone/>
            </a:pPr>
            <a:r>
              <a:rPr lang="en-US" sz="1250" dirty="0">
                <a:solidFill>
                  <a:srgbClr val="6E6E66"/>
                </a:solidFill>
                <a:latin typeface="Calibri" pitchFamily="34" charset="0"/>
                <a:ea typeface="Calibri" pitchFamily="34" charset="-122"/>
                <a:cs typeface="Calibri" pitchFamily="34" charset="-120"/>
              </a:rPr>
              <a:t>during the disruption</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10881360" cy="566928"/>
          </a:xfrm>
          <a:prstGeom prst="rect">
            <a:avLst/>
          </a:prstGeom>
          <a:noFill/>
          <a:ln/>
        </p:spPr>
        <p:txBody>
          <a:bodyPr wrap="square" lIns="0" tIns="0" rIns="0" bIns="0" rtlCol="0" anchor="ctr"/>
          <a:lstStyle/>
          <a:p>
            <a:pPr marL="0" indent="0">
              <a:buNone/>
            </a:pPr>
            <a:r>
              <a:rPr lang="en-US" sz="3300" b="1" dirty="0">
                <a:solidFill>
                  <a:srgbClr val="2C5F2D"/>
                </a:solidFill>
                <a:latin typeface="Cambria" pitchFamily="34" charset="0"/>
                <a:ea typeface="Cambria" pitchFamily="34" charset="-122"/>
                <a:cs typeface="Cambria" pitchFamily="34" charset="-120"/>
              </a:rPr>
              <a:t>The buckle nobody notices</a:t>
            </a:r>
            <a:endParaRPr lang="en-US" sz="3300" dirty="0"/>
          </a:p>
        </p:txBody>
      </p:sp>
      <p:sp>
        <p:nvSpPr>
          <p:cNvPr id="3" name="Text 1"/>
          <p:cNvSpPr/>
          <p:nvPr/>
        </p:nvSpPr>
        <p:spPr>
          <a:xfrm>
            <a:off x="640080" y="1042416"/>
            <a:ext cx="10424160" cy="384048"/>
          </a:xfrm>
          <a:prstGeom prst="rect">
            <a:avLst/>
          </a:prstGeom>
          <a:noFill/>
          <a:ln/>
        </p:spPr>
        <p:txBody>
          <a:bodyPr wrap="square" lIns="0" tIns="0" rIns="0" bIns="0" rtlCol="0" anchor="ctr"/>
          <a:lstStyle/>
          <a:p>
            <a:pPr marL="0" indent="0">
              <a:buNone/>
            </a:pPr>
            <a:r>
              <a:rPr lang="en-US" sz="1500" dirty="0">
                <a:solidFill>
                  <a:srgbClr val="6E6E66"/>
                </a:solidFill>
                <a:latin typeface="Calibri" pitchFamily="34" charset="0"/>
                <a:ea typeface="Calibri" pitchFamily="34" charset="-122"/>
                <a:cs typeface="Calibri" pitchFamily="34" charset="-120"/>
              </a:rPr>
              <a:t>Hard case three — when the honest answer is 'I don't know'</a:t>
            </a:r>
            <a:endParaRPr lang="en-US" sz="1500" dirty="0"/>
          </a:p>
        </p:txBody>
      </p:sp>
      <p:sp>
        <p:nvSpPr>
          <p:cNvPr id="4" name="Text 2"/>
          <p:cNvSpPr/>
          <p:nvPr/>
        </p:nvSpPr>
        <p:spPr>
          <a:xfrm>
            <a:off x="640080" y="1737360"/>
            <a:ext cx="6217920" cy="777240"/>
          </a:xfrm>
          <a:prstGeom prst="rect">
            <a:avLst/>
          </a:prstGeom>
          <a:noFill/>
          <a:ln/>
        </p:spPr>
        <p:txBody>
          <a:bodyPr wrap="square" lIns="0" tIns="0" rIns="0" bIns="0" rtlCol="0" anchor="ctr"/>
          <a:lstStyle/>
          <a:p>
            <a:pPr marL="0" indent="0">
              <a:lnSpc>
                <a:spcPts val="2400"/>
              </a:lnSpc>
              <a:buNone/>
            </a:pPr>
            <a:r>
              <a:rPr lang="en-US" sz="1550" dirty="0">
                <a:solidFill>
                  <a:srgbClr val="24241F"/>
                </a:solidFill>
                <a:latin typeface="Calibri" pitchFamily="34" charset="0"/>
                <a:ea typeface="Calibri" pitchFamily="34" charset="-122"/>
                <a:cs typeface="Calibri" pitchFamily="34" charset="-120"/>
              </a:rPr>
              <a:t>A replacement rucksack buckle sells in eight weeks out of twenty-six, usually one or two at a time. Most weeks it sells nothing.</a:t>
            </a:r>
            <a:endParaRPr lang="en-US" sz="1550" dirty="0"/>
          </a:p>
        </p:txBody>
      </p:sp>
      <p:sp>
        <p:nvSpPr>
          <p:cNvPr id="5" name="Text 3"/>
          <p:cNvSpPr/>
          <p:nvPr/>
        </p:nvSpPr>
        <p:spPr>
          <a:xfrm>
            <a:off x="640080" y="2651760"/>
            <a:ext cx="6217920" cy="1188720"/>
          </a:xfrm>
          <a:prstGeom prst="rect">
            <a:avLst/>
          </a:prstGeom>
          <a:noFill/>
          <a:ln/>
        </p:spPr>
        <p:txBody>
          <a:bodyPr wrap="square" lIns="0" tIns="0" rIns="0" bIns="0" rtlCol="0" anchor="ctr"/>
          <a:lstStyle/>
          <a:p>
            <a:pPr marL="0" indent="0">
              <a:lnSpc>
                <a:spcPts val="2400"/>
              </a:lnSpc>
              <a:buNone/>
            </a:pPr>
            <a:r>
              <a:rPr lang="en-US" sz="1550" dirty="0">
                <a:solidFill>
                  <a:srgbClr val="24241F"/>
                </a:solidFill>
                <a:latin typeface="Calibri" pitchFamily="34" charset="0"/>
                <a:ea typeface="Calibri" pitchFamily="34" charset="-122"/>
                <a:cs typeface="Calibri" pitchFamily="34" charset="-120"/>
              </a:rPr>
              <a:t>Standard stock formulas still produce a number for it. The number is meaningless — an average of almost nothing is still almost nothing, and six months of near-zero sales does not tell you what next month holds.</a:t>
            </a:r>
            <a:endParaRPr lang="en-US" sz="1550" dirty="0"/>
          </a:p>
        </p:txBody>
      </p:sp>
      <p:sp>
        <p:nvSpPr>
          <p:cNvPr id="6" name="Text 4"/>
          <p:cNvSpPr/>
          <p:nvPr/>
        </p:nvSpPr>
        <p:spPr>
          <a:xfrm>
            <a:off x="640080" y="3977640"/>
            <a:ext cx="6217920" cy="1005840"/>
          </a:xfrm>
          <a:prstGeom prst="rect">
            <a:avLst/>
          </a:prstGeom>
          <a:noFill/>
          <a:ln/>
        </p:spPr>
        <p:txBody>
          <a:bodyPr wrap="square" lIns="0" tIns="0" rIns="0" bIns="0" rtlCol="0" anchor="ctr"/>
          <a:lstStyle/>
          <a:p>
            <a:pPr marL="0" indent="0">
              <a:lnSpc>
                <a:spcPts val="2400"/>
              </a:lnSpc>
              <a:buNone/>
            </a:pPr>
            <a:r>
              <a:rPr lang="en-US" sz="1550" b="1" dirty="0">
                <a:solidFill>
                  <a:srgbClr val="2C5F2D"/>
                </a:solidFill>
                <a:latin typeface="Calibri" pitchFamily="34" charset="0"/>
                <a:ea typeface="Calibri" pitchFamily="34" charset="-122"/>
                <a:cs typeface="Calibri" pitchFamily="34" charset="-120"/>
              </a:rPr>
              <a:t>So the system says so. It flags the product as having too little history, drops its own confidence to 40%, and refuses to auto-approve it at any setting.</a:t>
            </a:r>
            <a:endParaRPr lang="en-US" sz="1550" dirty="0"/>
          </a:p>
        </p:txBody>
      </p:sp>
      <p:sp>
        <p:nvSpPr>
          <p:cNvPr id="7" name="Shape 5"/>
          <p:cNvSpPr/>
          <p:nvPr/>
        </p:nvSpPr>
        <p:spPr>
          <a:xfrm>
            <a:off x="7406640" y="1737360"/>
            <a:ext cx="4114800" cy="1188720"/>
          </a:xfrm>
          <a:prstGeom prst="roundRect">
            <a:avLst>
              <a:gd name="adj" fmla="val 6154"/>
            </a:avLst>
          </a:prstGeom>
          <a:solidFill>
            <a:srgbClr val="F4F6F1"/>
          </a:solidFill>
          <a:ln w="9525">
            <a:solidFill>
              <a:srgbClr val="E2E8DC"/>
            </a:solidFill>
            <a:prstDash val="solid"/>
          </a:ln>
        </p:spPr>
        <p:txBody>
          <a:bodyPr/>
          <a:p/>
        </p:txBody>
      </p:sp>
      <p:sp>
        <p:nvSpPr>
          <p:cNvPr id="8" name="Text 6"/>
          <p:cNvSpPr/>
          <p:nvPr/>
        </p:nvSpPr>
        <p:spPr>
          <a:xfrm>
            <a:off x="7635240" y="1865376"/>
            <a:ext cx="3657600" cy="603504"/>
          </a:xfrm>
          <a:prstGeom prst="rect">
            <a:avLst/>
          </a:prstGeom>
          <a:noFill/>
          <a:ln/>
        </p:spPr>
        <p:txBody>
          <a:bodyPr wrap="square" lIns="0" tIns="0" rIns="0" bIns="0" rtlCol="0" anchor="ctr"/>
          <a:lstStyle/>
          <a:p>
            <a:pPr marL="0" indent="0">
              <a:buNone/>
            </a:pPr>
            <a:r>
              <a:rPr lang="en-US" sz="3400" b="1" dirty="0">
                <a:solidFill>
                  <a:srgbClr val="2C5F2D"/>
                </a:solidFill>
                <a:latin typeface="Cambria" pitchFamily="34" charset="0"/>
                <a:ea typeface="Cambria" pitchFamily="34" charset="-122"/>
                <a:cs typeface="Cambria" pitchFamily="34" charset="-120"/>
              </a:rPr>
              <a:t>8 of 26</a:t>
            </a:r>
            <a:endParaRPr lang="en-US" sz="3400" dirty="0"/>
          </a:p>
        </p:txBody>
      </p:sp>
      <p:sp>
        <p:nvSpPr>
          <p:cNvPr id="9" name="Text 7"/>
          <p:cNvSpPr/>
          <p:nvPr/>
        </p:nvSpPr>
        <p:spPr>
          <a:xfrm>
            <a:off x="7635240" y="2487168"/>
            <a:ext cx="3657600" cy="329184"/>
          </a:xfrm>
          <a:prstGeom prst="rect">
            <a:avLst/>
          </a:prstGeom>
          <a:noFill/>
          <a:ln/>
        </p:spPr>
        <p:txBody>
          <a:bodyPr wrap="square" lIns="0" tIns="0" rIns="0" bIns="0" rtlCol="0" anchor="t"/>
          <a:lstStyle/>
          <a:p>
            <a:pPr marL="0" indent="0">
              <a:lnSpc>
                <a:spcPts val="1600"/>
              </a:lnSpc>
              <a:buNone/>
            </a:pPr>
            <a:r>
              <a:rPr lang="en-US" sz="1200" dirty="0">
                <a:solidFill>
                  <a:srgbClr val="6E6E66"/>
                </a:solidFill>
                <a:latin typeface="Calibri" pitchFamily="34" charset="0"/>
                <a:ea typeface="Calibri" pitchFamily="34" charset="-122"/>
                <a:cs typeface="Calibri" pitchFamily="34" charset="-120"/>
              </a:rPr>
              <a:t>Weeks with any sale at all</a:t>
            </a:r>
            <a:endParaRPr lang="en-US" sz="1200" dirty="0"/>
          </a:p>
        </p:txBody>
      </p:sp>
      <p:sp>
        <p:nvSpPr>
          <p:cNvPr id="10" name="Shape 8"/>
          <p:cNvSpPr/>
          <p:nvPr/>
        </p:nvSpPr>
        <p:spPr>
          <a:xfrm>
            <a:off x="7406640" y="3063240"/>
            <a:ext cx="4114800" cy="1188720"/>
          </a:xfrm>
          <a:prstGeom prst="roundRect">
            <a:avLst>
              <a:gd name="adj" fmla="val 6154"/>
            </a:avLst>
          </a:prstGeom>
          <a:solidFill>
            <a:srgbClr val="F4F6F1"/>
          </a:solidFill>
          <a:ln w="9525">
            <a:solidFill>
              <a:srgbClr val="E2E8DC"/>
            </a:solidFill>
            <a:prstDash val="solid"/>
          </a:ln>
        </p:spPr>
        <p:txBody>
          <a:bodyPr/>
          <a:p/>
        </p:txBody>
      </p:sp>
      <p:sp>
        <p:nvSpPr>
          <p:cNvPr id="11" name="Text 9"/>
          <p:cNvSpPr/>
          <p:nvPr/>
        </p:nvSpPr>
        <p:spPr>
          <a:xfrm>
            <a:off x="7635240" y="3191256"/>
            <a:ext cx="3657600" cy="603504"/>
          </a:xfrm>
          <a:prstGeom prst="rect">
            <a:avLst/>
          </a:prstGeom>
          <a:noFill/>
          <a:ln/>
        </p:spPr>
        <p:txBody>
          <a:bodyPr wrap="square" lIns="0" tIns="0" rIns="0" bIns="0" rtlCol="0" anchor="ctr"/>
          <a:lstStyle/>
          <a:p>
            <a:pPr marL="0" indent="0">
              <a:buNone/>
            </a:pPr>
            <a:r>
              <a:rPr lang="en-US" sz="3400" b="1" dirty="0">
                <a:solidFill>
                  <a:srgbClr val="B85042"/>
                </a:solidFill>
                <a:latin typeface="Cambria" pitchFamily="34" charset="0"/>
                <a:ea typeface="Cambria" pitchFamily="34" charset="-122"/>
                <a:cs typeface="Cambria" pitchFamily="34" charset="-120"/>
              </a:rPr>
              <a:t>40%</a:t>
            </a:r>
            <a:endParaRPr lang="en-US" sz="3400" dirty="0"/>
          </a:p>
        </p:txBody>
      </p:sp>
      <p:sp>
        <p:nvSpPr>
          <p:cNvPr id="12" name="Text 10"/>
          <p:cNvSpPr/>
          <p:nvPr/>
        </p:nvSpPr>
        <p:spPr>
          <a:xfrm>
            <a:off x="7635240" y="3813048"/>
            <a:ext cx="3657600" cy="329184"/>
          </a:xfrm>
          <a:prstGeom prst="rect">
            <a:avLst/>
          </a:prstGeom>
          <a:noFill/>
          <a:ln/>
        </p:spPr>
        <p:txBody>
          <a:bodyPr wrap="square" lIns="0" tIns="0" rIns="0" bIns="0" rtlCol="0" anchor="t"/>
          <a:lstStyle/>
          <a:p>
            <a:pPr marL="0" indent="0">
              <a:lnSpc>
                <a:spcPts val="1600"/>
              </a:lnSpc>
              <a:buNone/>
            </a:pPr>
            <a:r>
              <a:rPr lang="en-US" sz="1200" dirty="0">
                <a:solidFill>
                  <a:srgbClr val="6E6E66"/>
                </a:solidFill>
                <a:latin typeface="Calibri" pitchFamily="34" charset="0"/>
                <a:ea typeface="Calibri" pitchFamily="34" charset="-122"/>
                <a:cs typeface="Calibri" pitchFamily="34" charset="-120"/>
              </a:rPr>
              <a:t>Confidence the system reports</a:t>
            </a:r>
            <a:endParaRPr lang="en-US" sz="1200" dirty="0"/>
          </a:p>
        </p:txBody>
      </p:sp>
      <p:sp>
        <p:nvSpPr>
          <p:cNvPr id="13" name="Shape 11"/>
          <p:cNvSpPr/>
          <p:nvPr/>
        </p:nvSpPr>
        <p:spPr>
          <a:xfrm>
            <a:off x="7406640" y="4434840"/>
            <a:ext cx="4114800" cy="960120"/>
          </a:xfrm>
          <a:prstGeom prst="roundRect">
            <a:avLst>
              <a:gd name="adj" fmla="val 7619"/>
            </a:avLst>
          </a:prstGeom>
          <a:solidFill>
            <a:srgbClr val="16301A"/>
          </a:solidFill>
          <a:ln/>
        </p:spPr>
        <p:txBody>
          <a:bodyPr/>
          <a:p/>
        </p:txBody>
      </p:sp>
      <p:sp>
        <p:nvSpPr>
          <p:cNvPr id="14" name="Text 12"/>
          <p:cNvSpPr/>
          <p:nvPr/>
        </p:nvSpPr>
        <p:spPr>
          <a:xfrm>
            <a:off x="7680960" y="4572000"/>
            <a:ext cx="3566160" cy="713232"/>
          </a:xfrm>
          <a:prstGeom prst="rect">
            <a:avLst/>
          </a:prstGeom>
          <a:noFill/>
          <a:ln/>
        </p:spPr>
        <p:txBody>
          <a:bodyPr wrap="square" lIns="0" tIns="0" rIns="0" bIns="0" rtlCol="0" anchor="ctr"/>
          <a:lstStyle/>
          <a:p>
            <a:pPr marL="0" indent="0">
              <a:lnSpc>
                <a:spcPts val="1600"/>
              </a:lnSpc>
              <a:buNone/>
            </a:pPr>
            <a:r>
              <a:rPr lang="en-US" sz="1200" dirty="0">
                <a:solidFill>
                  <a:srgbClr val="D4E3C6"/>
                </a:solidFill>
                <a:latin typeface="Calibri" pitchFamily="34" charset="0"/>
                <a:ea typeface="Calibri" pitchFamily="34" charset="-122"/>
                <a:cs typeface="Calibri" pitchFamily="34" charset="-120"/>
              </a:rPr>
              <a:t>Testing caught it recommending more buckles for a product that already had seven weeks of cover.</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10881360" cy="566928"/>
          </a:xfrm>
          <a:prstGeom prst="rect">
            <a:avLst/>
          </a:prstGeom>
          <a:noFill/>
          <a:ln/>
        </p:spPr>
        <p:txBody>
          <a:bodyPr wrap="square" lIns="0" tIns="0" rIns="0" bIns="0" rtlCol="0" anchor="ctr"/>
          <a:lstStyle/>
          <a:p>
            <a:pPr marL="0" indent="0">
              <a:buNone/>
            </a:pPr>
            <a:r>
              <a:rPr lang="en-US" sz="3300" b="1" dirty="0">
                <a:solidFill>
                  <a:srgbClr val="2C5F2D"/>
                </a:solidFill>
                <a:latin typeface="Cambria" pitchFamily="34" charset="0"/>
                <a:ea typeface="Cambria" pitchFamily="34" charset="-122"/>
                <a:cs typeface="Cambria" pitchFamily="34" charset="-120"/>
              </a:rPr>
              <a:t>The customers who quietly moved online</a:t>
            </a:r>
            <a:endParaRPr lang="en-US" sz="3300" dirty="0"/>
          </a:p>
        </p:txBody>
      </p:sp>
      <p:sp>
        <p:nvSpPr>
          <p:cNvPr id="3" name="Text 1"/>
          <p:cNvSpPr/>
          <p:nvPr/>
        </p:nvSpPr>
        <p:spPr>
          <a:xfrm>
            <a:off x="640080" y="1042416"/>
            <a:ext cx="10424160" cy="384048"/>
          </a:xfrm>
          <a:prstGeom prst="rect">
            <a:avLst/>
          </a:prstGeom>
          <a:noFill/>
          <a:ln/>
        </p:spPr>
        <p:txBody>
          <a:bodyPr wrap="square" lIns="0" tIns="0" rIns="0" bIns="0" rtlCol="0" anchor="ctr"/>
          <a:lstStyle/>
          <a:p>
            <a:pPr marL="0" indent="0">
              <a:buNone/>
            </a:pPr>
            <a:r>
              <a:rPr lang="en-US" sz="1500" dirty="0">
                <a:solidFill>
                  <a:srgbClr val="6E6E66"/>
                </a:solidFill>
                <a:latin typeface="Calibri" pitchFamily="34" charset="0"/>
                <a:ea typeface="Calibri" pitchFamily="34" charset="-122"/>
                <a:cs typeface="Calibri" pitchFamily="34" charset="-120"/>
              </a:rPr>
              <a:t>Hard case four — the one that justifies the whole design</a:t>
            </a:r>
            <a:endParaRPr lang="en-US" sz="1500" dirty="0"/>
          </a:p>
        </p:txBody>
      </p:sp>
      <p:sp>
        <p:nvSpPr>
          <p:cNvPr id="4" name="Text 2"/>
          <p:cNvSpPr/>
          <p:nvPr/>
        </p:nvSpPr>
        <p:spPr>
          <a:xfrm>
            <a:off x="640080" y="1737360"/>
            <a:ext cx="5943600" cy="822960"/>
          </a:xfrm>
          <a:prstGeom prst="rect">
            <a:avLst/>
          </a:prstGeom>
          <a:noFill/>
          <a:ln/>
        </p:spPr>
        <p:txBody>
          <a:bodyPr wrap="square" lIns="0" tIns="0" rIns="0" bIns="0" rtlCol="0" anchor="ctr"/>
          <a:lstStyle/>
          <a:p>
            <a:pPr marL="0" indent="0">
              <a:lnSpc>
                <a:spcPts val="2400"/>
              </a:lnSpc>
              <a:buNone/>
            </a:pPr>
            <a:r>
              <a:rPr lang="en-US" sz="1550" dirty="0">
                <a:solidFill>
                  <a:srgbClr val="24241F"/>
                </a:solidFill>
                <a:latin typeface="Calibri" pitchFamily="34" charset="0"/>
                <a:ea typeface="Calibri" pitchFamily="34" charset="-122"/>
                <a:cs typeface="Calibri" pitchFamily="34" charset="-120"/>
              </a:rPr>
              <a:t>A merino base layer sells about thirty a week. It carries on selling about thirty a week. Looking at the total, nothing has happened.</a:t>
            </a:r>
            <a:endParaRPr lang="en-US" sz="1550" dirty="0"/>
          </a:p>
        </p:txBody>
      </p:sp>
      <p:sp>
        <p:nvSpPr>
          <p:cNvPr id="5" name="Text 3"/>
          <p:cNvSpPr/>
          <p:nvPr/>
        </p:nvSpPr>
        <p:spPr>
          <a:xfrm>
            <a:off x="640080" y="2697480"/>
            <a:ext cx="5943600" cy="1188720"/>
          </a:xfrm>
          <a:prstGeom prst="rect">
            <a:avLst/>
          </a:prstGeom>
          <a:noFill/>
          <a:ln/>
        </p:spPr>
        <p:txBody>
          <a:bodyPr wrap="square" lIns="0" tIns="0" rIns="0" bIns="0" rtlCol="0" anchor="ctr"/>
          <a:lstStyle/>
          <a:p>
            <a:pPr marL="0" indent="0">
              <a:lnSpc>
                <a:spcPts val="2400"/>
              </a:lnSpc>
              <a:buNone/>
            </a:pPr>
            <a:r>
              <a:rPr lang="en-US" sz="1550" dirty="0">
                <a:solidFill>
                  <a:srgbClr val="24241F"/>
                </a:solidFill>
                <a:latin typeface="Calibri" pitchFamily="34" charset="0"/>
                <a:ea typeface="Calibri" pitchFamily="34" charset="-122"/>
                <a:cs typeface="Calibri" pitchFamily="34" charset="-120"/>
              </a:rPr>
              <a:t>Underneath, everything has. Shop sales collapsed from 16 a week to 3, while website sales climbed from 14 to 22. Customers migrated. The stock allocation did not follow them.</a:t>
            </a:r>
            <a:endParaRPr lang="en-US" sz="1550" dirty="0"/>
          </a:p>
        </p:txBody>
      </p:sp>
      <p:sp>
        <p:nvSpPr>
          <p:cNvPr id="6" name="Text 4"/>
          <p:cNvSpPr/>
          <p:nvPr/>
        </p:nvSpPr>
        <p:spPr>
          <a:xfrm>
            <a:off x="640080" y="4023360"/>
            <a:ext cx="5943600" cy="1005840"/>
          </a:xfrm>
          <a:prstGeom prst="rect">
            <a:avLst/>
          </a:prstGeom>
          <a:noFill/>
          <a:ln/>
        </p:spPr>
        <p:txBody>
          <a:bodyPr wrap="square" lIns="0" tIns="0" rIns="0" bIns="0" rtlCol="0" anchor="ctr"/>
          <a:lstStyle/>
          <a:p>
            <a:pPr marL="0" indent="0">
              <a:lnSpc>
                <a:spcPts val="2400"/>
              </a:lnSpc>
              <a:buNone/>
            </a:pPr>
            <a:r>
              <a:rPr lang="en-US" sz="1550" b="1" dirty="0">
                <a:solidFill>
                  <a:srgbClr val="2C5F2D"/>
                </a:solidFill>
                <a:latin typeface="Calibri" pitchFamily="34" charset="0"/>
                <a:ea typeface="Calibri" pitchFamily="34" charset="-122"/>
                <a:cs typeface="Calibri" pitchFamily="34" charset="-120"/>
              </a:rPr>
              <a:t>No amount of staring at the combined figure would reveal this. It is visible only because the two channels are measured separately.</a:t>
            </a:r>
            <a:endParaRPr lang="en-US" sz="1550" dirty="0"/>
          </a:p>
        </p:txBody>
      </p:sp>
      <p:graphicFrame>
        <p:nvGraphicFramePr>
          <p:cNvPr id="7" name="Chart 0"/>
          <p:cNvGraphicFramePr/>
          <p:nvPr/>
        </p:nvGraphicFramePr>
        <p:xfrm>
          <a:off x="6949440" y="1691640"/>
          <a:ext cx="4572000" cy="3383280"/>
        </p:xfrm>
        <a:graphic>
          <a:graphicData uri="http://schemas.openxmlformats.org/drawingml/2006/chart">
            <c:chart xmlns:c="http://schemas.openxmlformats.org/drawingml/2006/chart" xmlns:r="http://schemas.openxmlformats.org/officeDocument/2006/relationships" r:id="rId3"/>
          </a:graphicData>
        </a:graphic>
      </p:graphicFrame>
      <p:sp>
        <p:nvSpPr>
          <p:cNvPr id="8" name="Text 5"/>
          <p:cNvSpPr/>
          <p:nvPr/>
        </p:nvSpPr>
        <p:spPr>
          <a:xfrm>
            <a:off x="640080" y="6291072"/>
            <a:ext cx="10881360" cy="292608"/>
          </a:xfrm>
          <a:prstGeom prst="rect">
            <a:avLst/>
          </a:prstGeom>
          <a:noFill/>
          <a:ln/>
        </p:spPr>
        <p:txBody>
          <a:bodyPr wrap="square" lIns="0" tIns="0" rIns="0" bIns="0" rtlCol="0" anchor="ctr"/>
          <a:lstStyle/>
          <a:p>
            <a:pPr marL="0" indent="0">
              <a:buNone/>
            </a:pPr>
            <a:r>
              <a:rPr lang="en-US" sz="1050" i="1" dirty="0">
                <a:solidFill>
                  <a:srgbClr val="6E6E66"/>
                </a:solidFill>
                <a:latin typeface="Calibri" pitchFamily="34" charset="0"/>
                <a:ea typeface="Calibri" pitchFamily="34" charset="-122"/>
                <a:cs typeface="Calibri" pitchFamily="34" charset="-120"/>
              </a:rPr>
              <a:t>The grey line is what a totals-only view sees. It barely moves.</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10881360" cy="566928"/>
          </a:xfrm>
          <a:prstGeom prst="rect">
            <a:avLst/>
          </a:prstGeom>
          <a:noFill/>
          <a:ln/>
        </p:spPr>
        <p:txBody>
          <a:bodyPr wrap="square" lIns="0" tIns="0" rIns="0" bIns="0" rtlCol="0" anchor="ctr"/>
          <a:lstStyle/>
          <a:p>
            <a:pPr marL="0" indent="0">
              <a:buNone/>
            </a:pPr>
            <a:r>
              <a:rPr lang="en-US" sz="3300" b="1" dirty="0">
                <a:solidFill>
                  <a:srgbClr val="2C5F2D"/>
                </a:solidFill>
                <a:latin typeface="Cambria" pitchFamily="34" charset="0"/>
                <a:ea typeface="Cambria" pitchFamily="34" charset="-122"/>
                <a:cs typeface="Cambria" pitchFamily="34" charset="-120"/>
              </a:rPr>
              <a:t>What changes for Maya</a:t>
            </a:r>
            <a:endParaRPr lang="en-US" sz="3300" dirty="0"/>
          </a:p>
        </p:txBody>
      </p:sp>
      <p:sp>
        <p:nvSpPr>
          <p:cNvPr id="3" name="Text 1"/>
          <p:cNvSpPr/>
          <p:nvPr/>
        </p:nvSpPr>
        <p:spPr>
          <a:xfrm>
            <a:off x="640080" y="1042416"/>
            <a:ext cx="10424160" cy="384048"/>
          </a:xfrm>
          <a:prstGeom prst="rect">
            <a:avLst/>
          </a:prstGeom>
          <a:noFill/>
          <a:ln/>
        </p:spPr>
        <p:txBody>
          <a:bodyPr wrap="square" lIns="0" tIns="0" rIns="0" bIns="0" rtlCol="0" anchor="ctr"/>
          <a:lstStyle/>
          <a:p>
            <a:pPr marL="0" indent="0">
              <a:buNone/>
            </a:pPr>
            <a:r>
              <a:rPr lang="en-US" sz="1500" dirty="0">
                <a:solidFill>
                  <a:srgbClr val="6E6E66"/>
                </a:solidFill>
                <a:latin typeface="Calibri" pitchFamily="34" charset="0"/>
                <a:ea typeface="Calibri" pitchFamily="34" charset="-122"/>
                <a:cs typeface="Calibri" pitchFamily="34" charset="-120"/>
              </a:rPr>
              <a:t>The purpose is not to replace her judgement</a:t>
            </a:r>
            <a:endParaRPr lang="en-US" sz="1500" dirty="0"/>
          </a:p>
        </p:txBody>
      </p:sp>
      <p:sp>
        <p:nvSpPr>
          <p:cNvPr id="4" name="Shape 2"/>
          <p:cNvSpPr/>
          <p:nvPr/>
        </p:nvSpPr>
        <p:spPr>
          <a:xfrm>
            <a:off x="640080" y="1737360"/>
            <a:ext cx="5349240" cy="3291840"/>
          </a:xfrm>
          <a:prstGeom prst="roundRect">
            <a:avLst>
              <a:gd name="adj" fmla="val 2222"/>
            </a:avLst>
          </a:prstGeom>
          <a:solidFill>
            <a:srgbClr val="F4F6F1"/>
          </a:solidFill>
          <a:ln w="9525">
            <a:solidFill>
              <a:srgbClr val="E2E8DC"/>
            </a:solidFill>
            <a:prstDash val="solid"/>
          </a:ln>
        </p:spPr>
        <p:txBody>
          <a:bodyPr/>
          <a:p/>
        </p:txBody>
      </p:sp>
      <p:sp>
        <p:nvSpPr>
          <p:cNvPr id="5" name="Text 3"/>
          <p:cNvSpPr/>
          <p:nvPr/>
        </p:nvSpPr>
        <p:spPr>
          <a:xfrm>
            <a:off x="960120" y="1965960"/>
            <a:ext cx="2743200" cy="274320"/>
          </a:xfrm>
          <a:prstGeom prst="rect">
            <a:avLst/>
          </a:prstGeom>
          <a:noFill/>
          <a:ln/>
        </p:spPr>
        <p:txBody>
          <a:bodyPr wrap="square" lIns="0" tIns="0" rIns="0" bIns="0" rtlCol="0" anchor="ctr"/>
          <a:lstStyle/>
          <a:p>
            <a:pPr marL="0" indent="0">
              <a:buNone/>
            </a:pPr>
            <a:r>
              <a:rPr lang="en-US" sz="1200" b="1" kern="0" spc="200" dirty="0">
                <a:solidFill>
                  <a:srgbClr val="6E6E66"/>
                </a:solidFill>
                <a:latin typeface="Calibri" pitchFamily="34" charset="0"/>
                <a:ea typeface="Calibri" pitchFamily="34" charset="-122"/>
                <a:cs typeface="Calibri" pitchFamily="34" charset="-120"/>
              </a:rPr>
              <a:t>BEFORE</a:t>
            </a:r>
            <a:endParaRPr lang="en-US" sz="1200" dirty="0"/>
          </a:p>
        </p:txBody>
      </p:sp>
      <p:sp>
        <p:nvSpPr>
          <p:cNvPr id="6" name="Text 4"/>
          <p:cNvSpPr/>
          <p:nvPr/>
        </p:nvSpPr>
        <p:spPr>
          <a:xfrm>
            <a:off x="960120" y="2377440"/>
            <a:ext cx="4709160" cy="2468880"/>
          </a:xfrm>
          <a:prstGeom prst="rect">
            <a:avLst/>
          </a:prstGeom>
          <a:noFill/>
          <a:ln/>
        </p:spPr>
        <p:txBody>
          <a:bodyPr wrap="square" lIns="0" tIns="0" rIns="0" bIns="0" rtlCol="0" anchor="t"/>
          <a:lstStyle/>
          <a:p>
            <a:pPr marL="342900" indent="-342900">
              <a:lnSpc>
                <a:spcPts val="2100"/>
              </a:lnSpc>
              <a:spcAft>
                <a:spcPts val="900"/>
              </a:spcAft>
              <a:buSzPct val="100000"/>
              <a:buChar char="•"/>
            </a:pPr>
            <a:r>
              <a:rPr lang="en-US" sz="1400" dirty="0">
                <a:solidFill>
                  <a:srgbClr val="24241F"/>
                </a:solidFill>
                <a:latin typeface="Calibri" pitchFamily="34" charset="0"/>
                <a:ea typeface="Calibri" pitchFamily="34" charset="-122"/>
                <a:cs typeface="Calibri" pitchFamily="34" charset="-120"/>
              </a:rPr>
              <a:t>Scrolls a spreadsheet for a morning</a:t>
            </a:r>
            <a:endParaRPr lang="en-US" sz="1400" dirty="0"/>
          </a:p>
          <a:p>
            <a:pPr marL="342900" indent="-342900">
              <a:lnSpc>
                <a:spcPts val="2100"/>
              </a:lnSpc>
              <a:spcAft>
                <a:spcPts val="900"/>
              </a:spcAft>
              <a:buSzPct val="100000"/>
              <a:buChar char="•"/>
            </a:pPr>
            <a:r>
              <a:rPr lang="en-US" sz="1400" dirty="0">
                <a:solidFill>
                  <a:srgbClr val="24241F"/>
                </a:solidFill>
                <a:latin typeface="Calibri" pitchFamily="34" charset="0"/>
                <a:ea typeface="Calibri" pitchFamily="34" charset="-122"/>
                <a:cs typeface="Calibri" pitchFamily="34" charset="-120"/>
              </a:rPr>
              <a:t>Reaches perhaps a hundred products</a:t>
            </a:r>
            <a:endParaRPr lang="en-US" sz="1400" dirty="0"/>
          </a:p>
          <a:p>
            <a:pPr marL="342900" indent="-342900">
              <a:lnSpc>
                <a:spcPts val="2100"/>
              </a:lnSpc>
              <a:spcAft>
                <a:spcPts val="900"/>
              </a:spcAft>
              <a:buSzPct val="100000"/>
              <a:buChar char="•"/>
            </a:pPr>
            <a:r>
              <a:rPr lang="en-US" sz="1400" dirty="0">
                <a:solidFill>
                  <a:srgbClr val="24241F"/>
                </a:solidFill>
                <a:latin typeface="Calibri" pitchFamily="34" charset="0"/>
                <a:ea typeface="Calibri" pitchFamily="34" charset="-122"/>
                <a:cs typeface="Calibri" pitchFamily="34" charset="-120"/>
              </a:rPr>
              <a:t>Slow sellers go unexamined</a:t>
            </a:r>
            <a:endParaRPr lang="en-US" sz="1400" dirty="0"/>
          </a:p>
          <a:p>
            <a:pPr marL="342900" indent="-342900">
              <a:lnSpc>
                <a:spcPts val="2100"/>
              </a:lnSpc>
              <a:spcAft>
                <a:spcPts val="900"/>
              </a:spcAft>
              <a:buSzPct val="100000"/>
              <a:buChar char="•"/>
            </a:pPr>
            <a:r>
              <a:rPr lang="en-US" sz="1400" dirty="0">
                <a:solidFill>
                  <a:srgbClr val="24241F"/>
                </a:solidFill>
                <a:latin typeface="Calibri" pitchFamily="34" charset="0"/>
                <a:ea typeface="Calibri" pitchFamily="34" charset="-122"/>
                <a:cs typeface="Calibri" pitchFamily="34" charset="-120"/>
              </a:rPr>
              <a:t>Reasoning stays in her head</a:t>
            </a:r>
            <a:endParaRPr lang="en-US" sz="1400" dirty="0"/>
          </a:p>
          <a:p>
            <a:pPr marL="342900" indent="-342900">
              <a:lnSpc>
                <a:spcPts val="2100"/>
              </a:lnSpc>
              <a:spcAft>
                <a:spcPts val="900"/>
              </a:spcAft>
              <a:buSzPct val="100000"/>
              <a:buChar char="•"/>
            </a:pPr>
            <a:r>
              <a:rPr lang="en-US" sz="1400" dirty="0">
                <a:solidFill>
                  <a:srgbClr val="24241F"/>
                </a:solidFill>
                <a:latin typeface="Calibri" pitchFamily="34" charset="0"/>
                <a:ea typeface="Calibri" pitchFamily="34" charset="-122"/>
                <a:cs typeface="Calibri" pitchFamily="34" charset="-120"/>
              </a:rPr>
              <a:t>No record anyone else can read</a:t>
            </a:r>
            <a:endParaRPr lang="en-US" sz="1400" dirty="0"/>
          </a:p>
        </p:txBody>
      </p:sp>
      <p:sp>
        <p:nvSpPr>
          <p:cNvPr id="7" name="Shape 5"/>
          <p:cNvSpPr/>
          <p:nvPr/>
        </p:nvSpPr>
        <p:spPr>
          <a:xfrm>
            <a:off x="6537960" y="1737360"/>
            <a:ext cx="4983480" cy="3291840"/>
          </a:xfrm>
          <a:prstGeom prst="roundRect">
            <a:avLst>
              <a:gd name="adj" fmla="val 2222"/>
            </a:avLst>
          </a:prstGeom>
          <a:solidFill>
            <a:srgbClr val="16301A"/>
          </a:solidFill>
          <a:ln/>
        </p:spPr>
        <p:txBody>
          <a:bodyPr/>
          <a:p/>
        </p:txBody>
      </p:sp>
      <p:sp>
        <p:nvSpPr>
          <p:cNvPr id="8" name="Text 6"/>
          <p:cNvSpPr/>
          <p:nvPr/>
        </p:nvSpPr>
        <p:spPr>
          <a:xfrm>
            <a:off x="6858000" y="1965960"/>
            <a:ext cx="2743200" cy="274320"/>
          </a:xfrm>
          <a:prstGeom prst="rect">
            <a:avLst/>
          </a:prstGeom>
          <a:noFill/>
          <a:ln/>
        </p:spPr>
        <p:txBody>
          <a:bodyPr wrap="square" lIns="0" tIns="0" rIns="0" bIns="0" rtlCol="0" anchor="ctr"/>
          <a:lstStyle/>
          <a:p>
            <a:pPr marL="0" indent="0">
              <a:buNone/>
            </a:pPr>
            <a:r>
              <a:rPr lang="en-US" sz="1200" b="1" kern="0" spc="200" dirty="0">
                <a:solidFill>
                  <a:srgbClr val="97BC62"/>
                </a:solidFill>
                <a:latin typeface="Calibri" pitchFamily="34" charset="0"/>
                <a:ea typeface="Calibri" pitchFamily="34" charset="-122"/>
                <a:cs typeface="Calibri" pitchFamily="34" charset="-120"/>
              </a:rPr>
              <a:t>AFTER</a:t>
            </a:r>
            <a:endParaRPr lang="en-US" sz="1200" dirty="0"/>
          </a:p>
        </p:txBody>
      </p:sp>
      <p:sp>
        <p:nvSpPr>
          <p:cNvPr id="9" name="Text 7"/>
          <p:cNvSpPr/>
          <p:nvPr/>
        </p:nvSpPr>
        <p:spPr>
          <a:xfrm>
            <a:off x="6858000" y="2377440"/>
            <a:ext cx="4343400" cy="2468880"/>
          </a:xfrm>
          <a:prstGeom prst="rect">
            <a:avLst/>
          </a:prstGeom>
          <a:noFill/>
          <a:ln/>
        </p:spPr>
        <p:txBody>
          <a:bodyPr wrap="square" lIns="0" tIns="0" rIns="0" bIns="0" rtlCol="0" anchor="ctr"/>
          <a:lstStyle/>
          <a:p>
            <a:pPr marL="342900" indent="-342900">
              <a:lnSpc>
                <a:spcPts val="2100"/>
              </a:lnSpc>
              <a:spcAft>
                <a:spcPts val="900"/>
              </a:spcAft>
              <a:buSzPct val="100000"/>
              <a:buChar char="•"/>
            </a:pPr>
            <a:r>
              <a:rPr lang="en-US" sz="1400" dirty="0">
                <a:solidFill>
                  <a:srgbClr val="E4EEDC"/>
                </a:solidFill>
                <a:latin typeface="Calibri" pitchFamily="34" charset="0"/>
                <a:ea typeface="Calibri" pitchFamily="34" charset="-122"/>
                <a:cs typeface="Calibri" pitchFamily="34" charset="-120"/>
              </a:rPr>
              <a:t>Arrives to find the whole catalogue already assessed</a:t>
            </a:r>
            <a:endParaRPr lang="en-US" sz="1400" dirty="0"/>
          </a:p>
          <a:p>
            <a:pPr marL="342900" indent="-342900">
              <a:lnSpc>
                <a:spcPts val="2100"/>
              </a:lnSpc>
              <a:spcAft>
                <a:spcPts val="900"/>
              </a:spcAft>
              <a:buSzPct val="100000"/>
              <a:buChar char="•"/>
            </a:pPr>
            <a:r>
              <a:rPr lang="en-US" sz="1400" dirty="0">
                <a:solidFill>
                  <a:srgbClr val="E4EEDC"/>
                </a:solidFill>
                <a:latin typeface="Calibri" pitchFamily="34" charset="0"/>
                <a:ea typeface="Calibri" pitchFamily="34" charset="-122"/>
                <a:cs typeface="Calibri" pitchFamily="34" charset="-120"/>
              </a:rPr>
              <a:t>A short list waits — the unsure and the urgent</a:t>
            </a:r>
            <a:endParaRPr lang="en-US" sz="1400" dirty="0"/>
          </a:p>
          <a:p>
            <a:pPr marL="342900" indent="-342900">
              <a:lnSpc>
                <a:spcPts val="2100"/>
              </a:lnSpc>
              <a:spcAft>
                <a:spcPts val="900"/>
              </a:spcAft>
              <a:buSzPct val="100000"/>
              <a:buChar char="•"/>
            </a:pPr>
            <a:r>
              <a:rPr lang="en-US" sz="1400" dirty="0">
                <a:solidFill>
                  <a:srgbClr val="E4EEDC"/>
                </a:solidFill>
                <a:latin typeface="Calibri" pitchFamily="34" charset="0"/>
                <a:ea typeface="Calibri" pitchFamily="34" charset="-122"/>
                <a:cs typeface="Calibri" pitchFamily="34" charset="-120"/>
              </a:rPr>
              <a:t>Ordered so the costliest problem sits at the top</a:t>
            </a:r>
            <a:endParaRPr lang="en-US" sz="1400" dirty="0"/>
          </a:p>
          <a:p>
            <a:pPr marL="342900" indent="-342900">
              <a:lnSpc>
                <a:spcPts val="2100"/>
              </a:lnSpc>
              <a:spcAft>
                <a:spcPts val="900"/>
              </a:spcAft>
              <a:buSzPct val="100000"/>
              <a:buChar char="•"/>
            </a:pPr>
            <a:r>
              <a:rPr lang="en-US" sz="1400" dirty="0">
                <a:solidFill>
                  <a:srgbClr val="E4EEDC"/>
                </a:solidFill>
                <a:latin typeface="Calibri" pitchFamily="34" charset="0"/>
                <a:ea typeface="Calibri" pitchFamily="34" charset="-122"/>
                <a:cs typeface="Calibri" pitchFamily="34" charset="-120"/>
              </a:rPr>
              <a:t>Spends the morning where judgement is worth something</a:t>
            </a:r>
            <a:endParaRPr lang="en-US" sz="1400" dirty="0"/>
          </a:p>
          <a:p>
            <a:pPr marL="342900" indent="-342900">
              <a:lnSpc>
                <a:spcPts val="2100"/>
              </a:lnSpc>
              <a:spcAft>
                <a:spcPts val="900"/>
              </a:spcAft>
              <a:buSzPct val="100000"/>
              <a:buChar char="•"/>
            </a:pPr>
            <a:r>
              <a:rPr lang="en-US" sz="1400" dirty="0">
                <a:solidFill>
                  <a:srgbClr val="E4EEDC"/>
                </a:solidFill>
                <a:latin typeface="Calibri" pitchFamily="34" charset="0"/>
                <a:ea typeface="Calibri" pitchFamily="34" charset="-122"/>
                <a:cs typeface="Calibri" pitchFamily="34" charset="-120"/>
              </a:rPr>
              <a:t>Every override recorded, with her reason</a:t>
            </a:r>
            <a:endParaRPr lang="en-US" sz="1400" dirty="0"/>
          </a:p>
        </p:txBody>
      </p:sp>
      <p:sp>
        <p:nvSpPr>
          <p:cNvPr id="10" name="Text 8"/>
          <p:cNvSpPr/>
          <p:nvPr/>
        </p:nvSpPr>
        <p:spPr>
          <a:xfrm>
            <a:off x="640080" y="6291072"/>
            <a:ext cx="10881360" cy="292608"/>
          </a:xfrm>
          <a:prstGeom prst="rect">
            <a:avLst/>
          </a:prstGeom>
          <a:noFill/>
          <a:ln/>
        </p:spPr>
        <p:txBody>
          <a:bodyPr wrap="square" lIns="0" tIns="0" rIns="0" bIns="0" rtlCol="0" anchor="ctr"/>
          <a:lstStyle/>
          <a:p>
            <a:pPr marL="0" indent="0">
              <a:buNone/>
            </a:pPr>
            <a:r>
              <a:rPr lang="en-US" sz="1050" i="1" dirty="0">
                <a:solidFill>
                  <a:srgbClr val="6E6E66"/>
                </a:solidFill>
                <a:latin typeface="Calibri" pitchFamily="34" charset="0"/>
                <a:ea typeface="Calibri" pitchFamily="34" charset="-122"/>
                <a:cs typeface="Calibri" pitchFamily="34" charset="-120"/>
              </a:rPr>
              <a:t>The aim is to stop spending her judgement on arithmetic — and to stop it disappearing the moment she does.</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10881360" cy="566928"/>
          </a:xfrm>
          <a:prstGeom prst="rect">
            <a:avLst/>
          </a:prstGeom>
          <a:noFill/>
          <a:ln/>
        </p:spPr>
        <p:txBody>
          <a:bodyPr wrap="square" lIns="0" tIns="0" rIns="0" bIns="0" rtlCol="0" anchor="ctr"/>
          <a:lstStyle/>
          <a:p>
            <a:pPr marL="0" indent="0">
              <a:buNone/>
            </a:pPr>
            <a:r>
              <a:rPr lang="en-US" sz="3300" b="1" dirty="0">
                <a:solidFill>
                  <a:srgbClr val="2C5F2D"/>
                </a:solidFill>
                <a:latin typeface="Cambria" pitchFamily="34" charset="0"/>
                <a:ea typeface="Cambria" pitchFamily="34" charset="-122"/>
                <a:cs typeface="Cambria" pitchFamily="34" charset="-120"/>
              </a:rPr>
              <a:t>What this deliberately does not do</a:t>
            </a:r>
            <a:endParaRPr lang="en-US" sz="3300" dirty="0"/>
          </a:p>
        </p:txBody>
      </p:sp>
      <p:sp>
        <p:nvSpPr>
          <p:cNvPr id="3" name="Text 1"/>
          <p:cNvSpPr/>
          <p:nvPr/>
        </p:nvSpPr>
        <p:spPr>
          <a:xfrm>
            <a:off x="640080" y="1042416"/>
            <a:ext cx="10424160" cy="384048"/>
          </a:xfrm>
          <a:prstGeom prst="rect">
            <a:avLst/>
          </a:prstGeom>
          <a:noFill/>
          <a:ln/>
        </p:spPr>
        <p:txBody>
          <a:bodyPr wrap="square" lIns="0" tIns="0" rIns="0" bIns="0" rtlCol="0" anchor="ctr"/>
          <a:lstStyle/>
          <a:p>
            <a:pPr marL="0" indent="0">
              <a:buNone/>
            </a:pPr>
            <a:r>
              <a:rPr lang="en-US" sz="1500" dirty="0">
                <a:solidFill>
                  <a:srgbClr val="6E6E66"/>
                </a:solidFill>
                <a:latin typeface="Calibri" pitchFamily="34" charset="0"/>
                <a:ea typeface="Calibri" pitchFamily="34" charset="-122"/>
                <a:cs typeface="Calibri" pitchFamily="34" charset="-120"/>
              </a:rPr>
              <a:t>Being clear about the boundary is part of the work</a:t>
            </a:r>
            <a:endParaRPr lang="en-US" sz="1500" dirty="0"/>
          </a:p>
        </p:txBody>
      </p:sp>
      <p:sp>
        <p:nvSpPr>
          <p:cNvPr id="4" name="Text 2"/>
          <p:cNvSpPr/>
          <p:nvPr/>
        </p:nvSpPr>
        <p:spPr>
          <a:xfrm>
            <a:off x="640080" y="1783080"/>
            <a:ext cx="10881360" cy="3566160"/>
          </a:xfrm>
          <a:prstGeom prst="rect">
            <a:avLst/>
          </a:prstGeom>
          <a:noFill/>
          <a:ln/>
        </p:spPr>
        <p:txBody>
          <a:bodyPr wrap="square" lIns="0" tIns="0" rIns="0" bIns="0" rtlCol="0" anchor="t"/>
          <a:lstStyle/>
          <a:p>
            <a:pPr marL="342900" indent="-342900">
              <a:lnSpc>
                <a:spcPts val="2000"/>
              </a:lnSpc>
              <a:spcAft>
                <a:spcPts val="800"/>
              </a:spcAft>
              <a:buSzPct val="100000"/>
              <a:buChar char="•"/>
            </a:pPr>
            <a:r>
              <a:rPr sz="1250">
                <a:solidFill>
                  <a:srgbClr val="24241F"/>
                </a:solidFill>
                <a:latin typeface="Calibri"/>
              </a:rPr>
              <a:t>It does not track stock shop by shop. Inventory is one pooled figure, so it cannot decide how to distribute stock across locations — real work a full system would need to do.</a:t>
            </a:r>
            <a:endParaRPr lang="en-US" sz="1450" dirty="0"/>
          </a:p>
          <a:p>
            <a:pPr>
              <a:lnSpc>
                <a:spcPts val="2000"/>
              </a:lnSpc>
              <a:spcAft>
                <a:spcPts val="800"/>
              </a:spcAft>
            </a:pPr>
            <a:r>
              <a:rPr sz="1250">
                <a:solidFill>
                  <a:srgbClr val="24241F"/>
                </a:solidFill>
                <a:latin typeface="Calibri"/>
              </a:rPr>
              <a:t>BOPIS — buy online, pick up in store — was never considered. It reserves an item for a named customer before collection, so shelf stock is not the same as available stock. Ignoring it makes the shelf look fuller than it is, and the system under-orders.</a:t>
            </a:r>
          </a:p>
          <a:p>
            <a:pPr>
              <a:lnSpc>
                <a:spcPts val="2000"/>
              </a:lnSpc>
              <a:spcAft>
                <a:spcPts val="800"/>
              </a:spcAft>
            </a:pPr>
            <a:r>
              <a:rPr sz="1250">
                <a:solidFill>
                  <a:srgbClr val="24241F"/>
                </a:solidFill>
                <a:latin typeface="Calibri"/>
              </a:rPr>
              <a:t>BORIS — buy online, return in store — was never considered either. It returns items to a shop's stock at an unpredictable time, often at a different shop. Ignoring it makes incoming stock look thinner than it is, and the system over-orders.</a:t>
            </a:r>
          </a:p>
          <a:p>
            <a:pPr>
              <a:lnSpc>
                <a:spcPts val="2000"/>
              </a:lnSpc>
              <a:spcAft>
                <a:spcPts val="800"/>
              </a:spcAft>
            </a:pPr>
            <a:r>
              <a:rPr sz="1250">
                <a:solidFill>
                  <a:srgbClr val="24241F"/>
                </a:solidFill>
                <a:latin typeface="Calibri"/>
              </a:rPr>
              <a:t>It does not send stock between shops to rescue an order. It flags when that is about to be needed, which is a much smaller thing.</a:t>
            </a:r>
          </a:p>
          <a:p>
            <a:pPr>
              <a:lnSpc>
                <a:spcPts val="2000"/>
              </a:lnSpc>
              <a:spcAft>
                <a:spcPts val="800"/>
              </a:spcAft>
            </a:pPr>
            <a:r>
              <a:rPr sz="1250">
                <a:solidFill>
                  <a:srgbClr val="24241F"/>
                </a:solidFill>
                <a:latin typeface="Calibri"/>
              </a:rPr>
              <a:t>It does not learn. Corrections are recorded but do not yet influence future recommendations.</a:t>
            </a:r>
          </a:p>
          <a:p>
            <a:pPr>
              <a:lnSpc>
                <a:spcPts val="2000"/>
              </a:lnSpc>
              <a:spcAft>
                <a:spcPts val="800"/>
              </a:spcAft>
            </a:pPr>
            <a:r>
              <a:rPr sz="1250">
                <a:solidFill>
                  <a:srgbClr val="24241F"/>
                </a:solidFill>
                <a:latin typeface="Calibri"/>
              </a:rPr>
              <a:t>Its rules are tuned to invented data whose behaviour was known in advance, and it connects to no live system.</a:t>
            </a:r>
          </a:p>
        </p:txBody>
      </p:sp>
      <p:sp>
        <p:nvSpPr>
          <p:cNvPr id="5" name="Text 3"/>
          <p:cNvSpPr/>
          <p:nvPr/>
        </p:nvSpPr>
        <p:spPr>
          <a:xfrm>
            <a:off x="640080" y="6291072"/>
            <a:ext cx="10881360" cy="292608"/>
          </a:xfrm>
          <a:prstGeom prst="rect">
            <a:avLst/>
          </a:prstGeom>
          <a:noFill/>
          <a:ln/>
        </p:spPr>
        <p:txBody>
          <a:bodyPr wrap="square" lIns="0" tIns="0" rIns="0" bIns="0" rtlCol="0" anchor="ctr"/>
          <a:lstStyle/>
          <a:p>
            <a:pPr marL="0" indent="0">
              <a:buNone/>
            </a:pPr>
            <a:r>
              <a:rPr lang="en-US" sz="1050" i="1" dirty="0">
                <a:solidFill>
                  <a:srgbClr val="6E6E66"/>
                </a:solidFill>
                <a:latin typeface="Calibri" pitchFamily="34" charset="0"/>
                <a:ea typeface="Calibri" pitchFamily="34" charset="-122"/>
                <a:cs typeface="Calibri" pitchFamily="34" charset="-120"/>
              </a:rPr>
              <a:t>This is a prototype built to demonstrate an approach, not a system ready to run a business.</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2C5F2D"/>
        </a:solidFill>
        <a:effectLst/>
      </p:bgPr>
    </p:bg>
    <p:spTree>
      <p:nvGrpSpPr>
        <p:cNvPr id="1" name=""/>
        <p:cNvGrpSpPr/>
        <p:nvPr/>
      </p:nvGrpSpPr>
      <p:grpSpPr>
        <a:xfrm>
          <a:off x="0" y="0"/>
          <a:ext cx="0" cy="0"/>
          <a:chOff x="0" y="0"/>
          <a:chExt cx="0" cy="0"/>
        </a:xfrm>
      </p:grpSpPr>
      <p:sp>
        <p:nvSpPr>
          <p:cNvPr id="2" name="Shape 0"/>
          <p:cNvSpPr/>
          <p:nvPr/>
        </p:nvSpPr>
        <p:spPr>
          <a:xfrm>
            <a:off x="640080" y="2286000"/>
            <a:ext cx="868680" cy="868680"/>
          </a:xfrm>
          <a:prstGeom prst="ellipse">
            <a:avLst/>
          </a:prstGeom>
          <a:solidFill>
            <a:srgbClr val="97BC62"/>
          </a:solidFill>
          <a:ln/>
        </p:spPr>
        <p:txBody>
          <a:bodyPr/>
          <a:p/>
        </p:txBody>
      </p:sp>
      <p:sp>
        <p:nvSpPr>
          <p:cNvPr id="3" name="Text 1"/>
          <p:cNvSpPr/>
          <p:nvPr/>
        </p:nvSpPr>
        <p:spPr>
          <a:xfrm>
            <a:off x="640080" y="2286000"/>
            <a:ext cx="868680" cy="868680"/>
          </a:xfrm>
          <a:prstGeom prst="rect">
            <a:avLst/>
          </a:prstGeom>
          <a:noFill/>
          <a:ln/>
        </p:spPr>
        <p:txBody>
          <a:bodyPr wrap="square" rtlCol="0" anchor="ctr"/>
          <a:lstStyle/>
          <a:p>
            <a:pPr marL="0" indent="0" algn="ctr">
              <a:buNone/>
            </a:pPr>
            <a:r>
              <a:rPr lang="en-US" sz="3200" b="1" dirty="0">
                <a:solidFill>
                  <a:srgbClr val="16301A"/>
                </a:solidFill>
                <a:latin typeface="Cambria" pitchFamily="34" charset="0"/>
                <a:ea typeface="Cambria" pitchFamily="34" charset="-122"/>
                <a:cs typeface="Cambria" pitchFamily="34" charset="-120"/>
              </a:rPr>
              <a:t>2</a:t>
            </a:r>
            <a:endParaRPr lang="en-US" sz="3200" dirty="0"/>
          </a:p>
        </p:txBody>
      </p:sp>
      <p:sp>
        <p:nvSpPr>
          <p:cNvPr id="4" name="Text 2"/>
          <p:cNvSpPr/>
          <p:nvPr/>
        </p:nvSpPr>
        <p:spPr>
          <a:xfrm>
            <a:off x="1874520" y="2240280"/>
            <a:ext cx="9509760" cy="777240"/>
          </a:xfrm>
          <a:prstGeom prst="rect">
            <a:avLst/>
          </a:prstGeom>
          <a:noFill/>
          <a:ln/>
        </p:spPr>
        <p:txBody>
          <a:bodyPr wrap="square" rtlCol="0" anchor="ctr"/>
          <a:lstStyle/>
          <a:p>
            <a:pPr marL="0" indent="0">
              <a:buNone/>
            </a:pPr>
            <a:r>
              <a:rPr lang="en-US" sz="3800" b="1" dirty="0">
                <a:solidFill>
                  <a:srgbClr val="FFFFFF"/>
                </a:solidFill>
                <a:latin typeface="Cambria" pitchFamily="34" charset="0"/>
                <a:ea typeface="Cambria" pitchFamily="34" charset="-122"/>
                <a:cs typeface="Cambria" pitchFamily="34" charset="-120"/>
              </a:rPr>
              <a:t>The build</a:t>
            </a:r>
            <a:endParaRPr lang="en-US" sz="3800" dirty="0"/>
          </a:p>
        </p:txBody>
      </p:sp>
      <p:sp>
        <p:nvSpPr>
          <p:cNvPr id="5" name="Text 3"/>
          <p:cNvSpPr/>
          <p:nvPr/>
        </p:nvSpPr>
        <p:spPr>
          <a:xfrm>
            <a:off x="1874520" y="3063240"/>
            <a:ext cx="8961120" cy="822960"/>
          </a:xfrm>
          <a:prstGeom prst="rect">
            <a:avLst/>
          </a:prstGeom>
          <a:noFill/>
          <a:ln/>
        </p:spPr>
        <p:txBody>
          <a:bodyPr wrap="square" rtlCol="0" anchor="ctr"/>
          <a:lstStyle/>
          <a:p>
            <a:pPr marL="0" indent="0">
              <a:lnSpc>
                <a:spcPts val="2400"/>
              </a:lnSpc>
              <a:buNone/>
            </a:pPr>
            <a:r>
              <a:rPr lang="en-US" sz="1600" dirty="0">
                <a:solidFill>
                  <a:srgbClr val="D4E3C6"/>
                </a:solidFill>
                <a:latin typeface="Calibri" pitchFamily="34" charset="0"/>
                <a:ea typeface="Calibri" pitchFamily="34" charset="-122"/>
                <a:cs typeface="Calibri" pitchFamily="34" charset="-120"/>
              </a:rPr>
              <a:t>The workflow it replaces, the agent loop that replaces it, and the four hard cases with the real numbers behind them.</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384048"/>
            <a:ext cx="5486400" cy="237744"/>
          </a:xfrm>
          <a:prstGeom prst="rect">
            <a:avLst/>
          </a:prstGeom>
          <a:noFill/>
        </p:spPr>
        <p:txBody>
          <a:bodyPr wrap="square" lIns="0" rIns="0" tIns="0" bIns="0" anchor="t">
            <a:spAutoFit/>
          </a:bodyPr>
          <a:lstStyle/>
          <a:p>
            <a:pPr algn="l"/>
            <a:r>
              <a:rPr sz="950" b="1" i="0">
                <a:solidFill>
                  <a:srgbClr val="8A8A80"/>
                </a:solidFill>
                <a:latin typeface="Calibri"/>
              </a:rPr>
              <a:t>CURRENT STATE</a:t>
            </a:r>
          </a:p>
        </p:txBody>
      </p:sp>
      <p:sp>
        <p:nvSpPr>
          <p:cNvPr id="3" name="TextBox 2"/>
          <p:cNvSpPr txBox="1"/>
          <p:nvPr/>
        </p:nvSpPr>
        <p:spPr>
          <a:xfrm>
            <a:off x="640080" y="585216"/>
            <a:ext cx="10881360" cy="566928"/>
          </a:xfrm>
          <a:prstGeom prst="rect">
            <a:avLst/>
          </a:prstGeom>
          <a:noFill/>
        </p:spPr>
        <p:txBody>
          <a:bodyPr wrap="square" lIns="0" rIns="0" tIns="0" bIns="0" anchor="ctr">
            <a:spAutoFit/>
          </a:bodyPr>
          <a:lstStyle/>
          <a:p>
            <a:pPr algn="l"/>
            <a:r>
              <a:rPr sz="2700" b="1" i="0">
                <a:solidFill>
                  <a:srgbClr val="24241F"/>
                </a:solidFill>
                <a:latin typeface="Cambria"/>
              </a:rPr>
              <a:t>Replenishment as it happens today</a:t>
            </a:r>
          </a:p>
        </p:txBody>
      </p:sp>
      <p:sp>
        <p:nvSpPr>
          <p:cNvPr id="4" name="TextBox 3"/>
          <p:cNvSpPr txBox="1"/>
          <p:nvPr/>
        </p:nvSpPr>
        <p:spPr>
          <a:xfrm>
            <a:off x="640080" y="1188720"/>
            <a:ext cx="10607040" cy="310896"/>
          </a:xfrm>
          <a:prstGeom prst="rect">
            <a:avLst/>
          </a:prstGeom>
          <a:noFill/>
        </p:spPr>
        <p:txBody>
          <a:bodyPr wrap="square" lIns="0" rIns="0" tIns="0" bIns="0" anchor="ctr">
            <a:spAutoFit/>
          </a:bodyPr>
          <a:lstStyle/>
          <a:p>
            <a:pPr algn="l"/>
            <a:r>
              <a:rPr sz="1350" b="0" i="0">
                <a:solidFill>
                  <a:srgbClr val="6E6E66"/>
                </a:solidFill>
                <a:latin typeface="Calibri"/>
              </a:rPr>
              <a:t>One planner, half a day, four manual steps — and no point at which anything is checked.</a:t>
            </a:r>
          </a:p>
        </p:txBody>
      </p:sp>
      <p:sp>
        <p:nvSpPr>
          <p:cNvPr id="5" name="Rounded Rectangle 4"/>
          <p:cNvSpPr/>
          <p:nvPr/>
        </p:nvSpPr>
        <p:spPr>
          <a:xfrm>
            <a:off x="640080" y="1664208"/>
            <a:ext cx="2487168" cy="1572768"/>
          </a:xfrm>
          <a:prstGeom prst="roundRect">
            <a:avLst>
              <a:gd name="adj" fmla="val 7000"/>
            </a:avLst>
          </a:prstGeom>
          <a:solidFill>
            <a:srgbClr val="F5F6F2"/>
          </a:solidFill>
          <a:ln w="12700">
            <a:solidFill>
              <a:srgbClr val="D9DE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804671" y="1810512"/>
            <a:ext cx="310896" cy="310896"/>
          </a:xfrm>
          <a:prstGeom prst="ellipse">
            <a:avLst/>
          </a:prstGeom>
          <a:solidFill>
            <a:srgbClr val="6E6E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04671" y="1810512"/>
            <a:ext cx="310896" cy="310896"/>
          </a:xfrm>
          <a:prstGeom prst="rect">
            <a:avLst/>
          </a:prstGeom>
          <a:noFill/>
        </p:spPr>
        <p:txBody>
          <a:bodyPr wrap="square" lIns="0" rIns="0" tIns="0" bIns="0" anchor="ctr">
            <a:spAutoFit/>
          </a:bodyPr>
          <a:lstStyle/>
          <a:p>
            <a:pPr algn="ctr"/>
            <a:r>
              <a:rPr sz="1300" b="1" i="0">
                <a:solidFill>
                  <a:srgbClr val="FFFFFF"/>
                </a:solidFill>
                <a:latin typeface="Cambria"/>
              </a:rPr>
              <a:t>1</a:t>
            </a:r>
          </a:p>
        </p:txBody>
      </p:sp>
      <p:sp>
        <p:nvSpPr>
          <p:cNvPr id="8" name="TextBox 7"/>
          <p:cNvSpPr txBox="1"/>
          <p:nvPr/>
        </p:nvSpPr>
        <p:spPr>
          <a:xfrm>
            <a:off x="1207007" y="1810512"/>
            <a:ext cx="1755648" cy="310896"/>
          </a:xfrm>
          <a:prstGeom prst="rect">
            <a:avLst/>
          </a:prstGeom>
          <a:noFill/>
        </p:spPr>
        <p:txBody>
          <a:bodyPr wrap="square" lIns="0" rIns="0" tIns="0" bIns="0" anchor="ctr">
            <a:spAutoFit/>
          </a:bodyPr>
          <a:lstStyle/>
          <a:p>
            <a:pPr algn="l"/>
            <a:r>
              <a:rPr sz="1450" b="1" i="0">
                <a:solidFill>
                  <a:srgbClr val="24241F"/>
                </a:solidFill>
                <a:latin typeface="Calibri"/>
              </a:rPr>
              <a:t>Pull data</a:t>
            </a:r>
          </a:p>
        </p:txBody>
      </p:sp>
      <p:sp>
        <p:nvSpPr>
          <p:cNvPr id="9" name="TextBox 8"/>
          <p:cNvSpPr txBox="1"/>
          <p:nvPr/>
        </p:nvSpPr>
        <p:spPr>
          <a:xfrm>
            <a:off x="822959" y="2231136"/>
            <a:ext cx="2121408" cy="621792"/>
          </a:xfrm>
          <a:prstGeom prst="rect">
            <a:avLst/>
          </a:prstGeom>
          <a:noFill/>
        </p:spPr>
        <p:txBody>
          <a:bodyPr wrap="square" lIns="0" rIns="0" tIns="0" bIns="0" anchor="t">
            <a:spAutoFit/>
          </a:bodyPr>
          <a:lstStyle/>
          <a:p>
            <a:pPr algn="l">
              <a:lnSpc>
                <a:spcPts val="1400"/>
              </a:lnSpc>
            </a:pPr>
            <a:r>
              <a:rPr sz="1100" b="0" i="0">
                <a:solidFill>
                  <a:srgbClr val="55554E"/>
                </a:solidFill>
                <a:latin typeface="Calibri"/>
              </a:rPr>
              <a:t>Export last week's sales from</a:t>
            </a:r>
          </a:p>
          <a:p>
            <a:pPr algn="l">
              <a:lnSpc>
                <a:spcPts val="1400"/>
              </a:lnSpc>
            </a:pPr>
            <a:r>
              <a:rPr sz="1100" b="0" i="0">
                <a:solidFill>
                  <a:srgbClr val="55554E"/>
                </a:solidFill>
                <a:latin typeface="Calibri"/>
              </a:rPr>
              <a:t>the ERP by hand into a</a:t>
            </a:r>
          </a:p>
          <a:p>
            <a:pPr algn="l">
              <a:lnSpc>
                <a:spcPts val="1400"/>
              </a:lnSpc>
            </a:pPr>
            <a:r>
              <a:rPr sz="1100" b="0" i="0">
                <a:solidFill>
                  <a:srgbClr val="55554E"/>
                </a:solidFill>
                <a:latin typeface="Calibri"/>
              </a:rPr>
              <a:t>spreadsheet.</a:t>
            </a:r>
          </a:p>
        </p:txBody>
      </p:sp>
      <p:sp>
        <p:nvSpPr>
          <p:cNvPr id="10" name="Rounded Rectangle 9"/>
          <p:cNvSpPr/>
          <p:nvPr/>
        </p:nvSpPr>
        <p:spPr>
          <a:xfrm>
            <a:off x="822959" y="2889504"/>
            <a:ext cx="786384" cy="201168"/>
          </a:xfrm>
          <a:prstGeom prst="roundRect">
            <a:avLst>
              <a:gd name="adj" fmla="val 50000"/>
            </a:avLst>
          </a:prstGeom>
          <a:solidFill>
            <a:srgbClr val="E7EA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22959" y="2898648"/>
            <a:ext cx="786384" cy="182880"/>
          </a:xfrm>
          <a:prstGeom prst="rect">
            <a:avLst/>
          </a:prstGeom>
          <a:noFill/>
        </p:spPr>
        <p:txBody>
          <a:bodyPr wrap="square" lIns="0" rIns="0" tIns="0" bIns="0" anchor="ctr">
            <a:spAutoFit/>
          </a:bodyPr>
          <a:lstStyle/>
          <a:p>
            <a:pPr algn="ctr"/>
            <a:r>
              <a:rPr sz="900" b="1" i="0">
                <a:solidFill>
                  <a:srgbClr val="6E6E66"/>
                </a:solidFill>
                <a:latin typeface="Calibri"/>
              </a:rPr>
              <a:t>~45 MIN</a:t>
            </a:r>
          </a:p>
        </p:txBody>
      </p:sp>
      <p:sp>
        <p:nvSpPr>
          <p:cNvPr id="12" name="TextBox 11"/>
          <p:cNvSpPr txBox="1"/>
          <p:nvPr/>
        </p:nvSpPr>
        <p:spPr>
          <a:xfrm>
            <a:off x="640080" y="3328416"/>
            <a:ext cx="2487168" cy="457200"/>
          </a:xfrm>
          <a:prstGeom prst="rect">
            <a:avLst/>
          </a:prstGeom>
          <a:noFill/>
        </p:spPr>
        <p:txBody>
          <a:bodyPr wrap="square" lIns="0" rIns="0" tIns="0" bIns="0" anchor="t">
            <a:spAutoFit/>
          </a:bodyPr>
          <a:lstStyle/>
          <a:p>
            <a:pPr algn="l">
              <a:lnSpc>
                <a:spcPts val="1300"/>
              </a:lnSpc>
            </a:pPr>
            <a:r>
              <a:rPr sz="1050" b="0" i="0">
                <a:solidFill>
                  <a:srgbClr val="A34430"/>
                </a:solidFill>
                <a:latin typeface="Calibri"/>
              </a:rPr>
              <a:t>No validation — an export error</a:t>
            </a:r>
          </a:p>
          <a:p>
            <a:pPr algn="l">
              <a:lnSpc>
                <a:spcPts val="1300"/>
              </a:lnSpc>
            </a:pPr>
            <a:r>
              <a:rPr sz="1050" b="0" i="0">
                <a:solidFill>
                  <a:srgbClr val="A34430"/>
                </a:solidFill>
                <a:latin typeface="Calibri"/>
              </a:rPr>
              <a:t>carries through silently.</a:t>
            </a:r>
          </a:p>
        </p:txBody>
      </p:sp>
      <p:sp>
        <p:nvSpPr>
          <p:cNvPr id="13" name="Right Arrow 12"/>
          <p:cNvSpPr/>
          <p:nvPr/>
        </p:nvSpPr>
        <p:spPr>
          <a:xfrm>
            <a:off x="3191256" y="2377440"/>
            <a:ext cx="182880" cy="146304"/>
          </a:xfrm>
          <a:prstGeom prst="rightArrow">
            <a:avLst/>
          </a:prstGeom>
          <a:solidFill>
            <a:srgbClr val="9AA3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ounded Rectangle 13"/>
          <p:cNvSpPr/>
          <p:nvPr/>
        </p:nvSpPr>
        <p:spPr>
          <a:xfrm>
            <a:off x="3429000" y="1664208"/>
            <a:ext cx="2487168" cy="1572768"/>
          </a:xfrm>
          <a:prstGeom prst="roundRect">
            <a:avLst>
              <a:gd name="adj" fmla="val 7000"/>
            </a:avLst>
          </a:prstGeom>
          <a:solidFill>
            <a:srgbClr val="F5F6F2"/>
          </a:solidFill>
          <a:ln w="12700">
            <a:solidFill>
              <a:srgbClr val="D9DE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3593592" y="1810512"/>
            <a:ext cx="310896" cy="310896"/>
          </a:xfrm>
          <a:prstGeom prst="ellipse">
            <a:avLst/>
          </a:prstGeom>
          <a:solidFill>
            <a:srgbClr val="6E6E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593592" y="1810512"/>
            <a:ext cx="310896" cy="310896"/>
          </a:xfrm>
          <a:prstGeom prst="rect">
            <a:avLst/>
          </a:prstGeom>
          <a:noFill/>
        </p:spPr>
        <p:txBody>
          <a:bodyPr wrap="square" lIns="0" rIns="0" tIns="0" bIns="0" anchor="ctr">
            <a:spAutoFit/>
          </a:bodyPr>
          <a:lstStyle/>
          <a:p>
            <a:pPr algn="ctr"/>
            <a:r>
              <a:rPr sz="1300" b="1" i="0">
                <a:solidFill>
                  <a:srgbClr val="FFFFFF"/>
                </a:solidFill>
                <a:latin typeface="Cambria"/>
              </a:rPr>
              <a:t>2</a:t>
            </a:r>
          </a:p>
        </p:txBody>
      </p:sp>
      <p:sp>
        <p:nvSpPr>
          <p:cNvPr id="17" name="TextBox 16"/>
          <p:cNvSpPr txBox="1"/>
          <p:nvPr/>
        </p:nvSpPr>
        <p:spPr>
          <a:xfrm>
            <a:off x="3995928" y="1810512"/>
            <a:ext cx="1755648" cy="310896"/>
          </a:xfrm>
          <a:prstGeom prst="rect">
            <a:avLst/>
          </a:prstGeom>
          <a:noFill/>
        </p:spPr>
        <p:txBody>
          <a:bodyPr wrap="square" lIns="0" rIns="0" tIns="0" bIns="0" anchor="ctr">
            <a:spAutoFit/>
          </a:bodyPr>
          <a:lstStyle/>
          <a:p>
            <a:pPr algn="l"/>
            <a:r>
              <a:rPr sz="1450" b="1" i="0">
                <a:solidFill>
                  <a:srgbClr val="24241F"/>
                </a:solidFill>
                <a:latin typeface="Calibri"/>
              </a:rPr>
              <a:t>Analyse</a:t>
            </a:r>
          </a:p>
        </p:txBody>
      </p:sp>
      <p:sp>
        <p:nvSpPr>
          <p:cNvPr id="18" name="TextBox 17"/>
          <p:cNvSpPr txBox="1"/>
          <p:nvPr/>
        </p:nvSpPr>
        <p:spPr>
          <a:xfrm>
            <a:off x="3611880" y="2231136"/>
            <a:ext cx="2121408" cy="621792"/>
          </a:xfrm>
          <a:prstGeom prst="rect">
            <a:avLst/>
          </a:prstGeom>
          <a:noFill/>
        </p:spPr>
        <p:txBody>
          <a:bodyPr wrap="square" lIns="0" rIns="0" tIns="0" bIns="0" anchor="t">
            <a:spAutoFit/>
          </a:bodyPr>
          <a:lstStyle/>
          <a:p>
            <a:pPr algn="l">
              <a:lnSpc>
                <a:spcPts val="1400"/>
              </a:lnSpc>
            </a:pPr>
            <a:r>
              <a:rPr sz="1100" b="0" i="0">
                <a:solidFill>
                  <a:srgbClr val="55554E"/>
                </a:solidFill>
                <a:latin typeface="Calibri"/>
              </a:rPr>
              <a:t>Scroll and eyeball trends. No</a:t>
            </a:r>
          </a:p>
          <a:p>
            <a:pPr algn="l">
              <a:lnSpc>
                <a:spcPts val="1400"/>
              </a:lnSpc>
            </a:pPr>
            <a:r>
              <a:rPr sz="1100" b="0" i="0">
                <a:solidFill>
                  <a:srgbClr val="55554E"/>
                </a:solidFill>
                <a:latin typeface="Calibri"/>
              </a:rPr>
              <a:t>systematic method and no</a:t>
            </a:r>
          </a:p>
          <a:p>
            <a:pPr algn="l">
              <a:lnSpc>
                <a:spcPts val="1400"/>
              </a:lnSpc>
            </a:pPr>
            <a:r>
              <a:rPr sz="1100" b="0" i="0">
                <a:solidFill>
                  <a:srgbClr val="55554E"/>
                </a:solidFill>
                <a:latin typeface="Calibri"/>
              </a:rPr>
              <a:t>model behind it.</a:t>
            </a:r>
          </a:p>
        </p:txBody>
      </p:sp>
      <p:sp>
        <p:nvSpPr>
          <p:cNvPr id="19" name="Rounded Rectangle 18"/>
          <p:cNvSpPr/>
          <p:nvPr/>
        </p:nvSpPr>
        <p:spPr>
          <a:xfrm>
            <a:off x="3611880" y="2889504"/>
            <a:ext cx="786384" cy="201168"/>
          </a:xfrm>
          <a:prstGeom prst="roundRect">
            <a:avLst>
              <a:gd name="adj" fmla="val 50000"/>
            </a:avLst>
          </a:prstGeom>
          <a:solidFill>
            <a:srgbClr val="E7EA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3611880" y="2898648"/>
            <a:ext cx="786384" cy="182880"/>
          </a:xfrm>
          <a:prstGeom prst="rect">
            <a:avLst/>
          </a:prstGeom>
          <a:noFill/>
        </p:spPr>
        <p:txBody>
          <a:bodyPr wrap="square" lIns="0" rIns="0" tIns="0" bIns="0" anchor="ctr">
            <a:spAutoFit/>
          </a:bodyPr>
          <a:lstStyle/>
          <a:p>
            <a:pPr algn="ctr"/>
            <a:r>
              <a:rPr sz="900" b="1" i="0">
                <a:solidFill>
                  <a:srgbClr val="6E6E66"/>
                </a:solidFill>
                <a:latin typeface="Calibri"/>
              </a:rPr>
              <a:t>~2 HRS</a:t>
            </a:r>
          </a:p>
        </p:txBody>
      </p:sp>
      <p:sp>
        <p:nvSpPr>
          <p:cNvPr id="21" name="TextBox 20"/>
          <p:cNvSpPr txBox="1"/>
          <p:nvPr/>
        </p:nvSpPr>
        <p:spPr>
          <a:xfrm>
            <a:off x="3429000" y="3328416"/>
            <a:ext cx="2487168" cy="457200"/>
          </a:xfrm>
          <a:prstGeom prst="rect">
            <a:avLst/>
          </a:prstGeom>
          <a:noFill/>
        </p:spPr>
        <p:txBody>
          <a:bodyPr wrap="square" lIns="0" rIns="0" tIns="0" bIns="0" anchor="t">
            <a:spAutoFit/>
          </a:bodyPr>
          <a:lstStyle/>
          <a:p>
            <a:pPr algn="l">
              <a:lnSpc>
                <a:spcPts val="1300"/>
              </a:lnSpc>
            </a:pPr>
            <a:r>
              <a:rPr sz="1050" b="0" i="0">
                <a:solidFill>
                  <a:srgbClr val="A34430"/>
                </a:solidFill>
                <a:latin typeface="Calibri"/>
              </a:rPr>
              <a:t>Reaches perhaps 100 of several</a:t>
            </a:r>
          </a:p>
          <a:p>
            <a:pPr algn="l">
              <a:lnSpc>
                <a:spcPts val="1300"/>
              </a:lnSpc>
            </a:pPr>
            <a:r>
              <a:rPr sz="1050" b="0" i="0">
                <a:solidFill>
                  <a:srgbClr val="A34430"/>
                </a:solidFill>
                <a:latin typeface="Calibri"/>
              </a:rPr>
              <a:t>thousand products.</a:t>
            </a:r>
          </a:p>
        </p:txBody>
      </p:sp>
      <p:sp>
        <p:nvSpPr>
          <p:cNvPr id="22" name="Right Arrow 21"/>
          <p:cNvSpPr/>
          <p:nvPr/>
        </p:nvSpPr>
        <p:spPr>
          <a:xfrm>
            <a:off x="5980176" y="2377440"/>
            <a:ext cx="182880" cy="146304"/>
          </a:xfrm>
          <a:prstGeom prst="rightArrow">
            <a:avLst/>
          </a:prstGeom>
          <a:solidFill>
            <a:srgbClr val="9AA3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ounded Rectangle 22"/>
          <p:cNvSpPr/>
          <p:nvPr/>
        </p:nvSpPr>
        <p:spPr>
          <a:xfrm>
            <a:off x="6217920" y="1664208"/>
            <a:ext cx="2487168" cy="1572768"/>
          </a:xfrm>
          <a:prstGeom prst="roundRect">
            <a:avLst>
              <a:gd name="adj" fmla="val 7000"/>
            </a:avLst>
          </a:prstGeom>
          <a:solidFill>
            <a:srgbClr val="F5F6F2"/>
          </a:solidFill>
          <a:ln w="12700">
            <a:solidFill>
              <a:srgbClr val="D9DE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6382512" y="1810512"/>
            <a:ext cx="310896" cy="310896"/>
          </a:xfrm>
          <a:prstGeom prst="ellipse">
            <a:avLst/>
          </a:prstGeom>
          <a:solidFill>
            <a:srgbClr val="6E6E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6382512" y="1810512"/>
            <a:ext cx="310896" cy="310896"/>
          </a:xfrm>
          <a:prstGeom prst="rect">
            <a:avLst/>
          </a:prstGeom>
          <a:noFill/>
        </p:spPr>
        <p:txBody>
          <a:bodyPr wrap="square" lIns="0" rIns="0" tIns="0" bIns="0" anchor="ctr">
            <a:spAutoFit/>
          </a:bodyPr>
          <a:lstStyle/>
          <a:p>
            <a:pPr algn="ctr"/>
            <a:r>
              <a:rPr sz="1300" b="1" i="0">
                <a:solidFill>
                  <a:srgbClr val="FFFFFF"/>
                </a:solidFill>
                <a:latin typeface="Cambria"/>
              </a:rPr>
              <a:t>3</a:t>
            </a:r>
          </a:p>
        </p:txBody>
      </p:sp>
      <p:sp>
        <p:nvSpPr>
          <p:cNvPr id="26" name="TextBox 25"/>
          <p:cNvSpPr txBox="1"/>
          <p:nvPr/>
        </p:nvSpPr>
        <p:spPr>
          <a:xfrm>
            <a:off x="6784848" y="1810512"/>
            <a:ext cx="1755648" cy="310896"/>
          </a:xfrm>
          <a:prstGeom prst="rect">
            <a:avLst/>
          </a:prstGeom>
          <a:noFill/>
        </p:spPr>
        <p:txBody>
          <a:bodyPr wrap="square" lIns="0" rIns="0" tIns="0" bIns="0" anchor="ctr">
            <a:spAutoFit/>
          </a:bodyPr>
          <a:lstStyle/>
          <a:p>
            <a:pPr algn="l"/>
            <a:r>
              <a:rPr sz="1450" b="1" i="0">
                <a:solidFill>
                  <a:srgbClr val="24241F"/>
                </a:solidFill>
                <a:latin typeface="Calibri"/>
              </a:rPr>
              <a:t>Decide</a:t>
            </a:r>
          </a:p>
        </p:txBody>
      </p:sp>
      <p:sp>
        <p:nvSpPr>
          <p:cNvPr id="27" name="TextBox 26"/>
          <p:cNvSpPr txBox="1"/>
          <p:nvPr/>
        </p:nvSpPr>
        <p:spPr>
          <a:xfrm>
            <a:off x="6400800" y="2231136"/>
            <a:ext cx="2121408" cy="621792"/>
          </a:xfrm>
          <a:prstGeom prst="rect">
            <a:avLst/>
          </a:prstGeom>
          <a:noFill/>
        </p:spPr>
        <p:txBody>
          <a:bodyPr wrap="square" lIns="0" rIns="0" tIns="0" bIns="0" anchor="t">
            <a:spAutoFit/>
          </a:bodyPr>
          <a:lstStyle/>
          <a:p>
            <a:pPr algn="l">
              <a:lnSpc>
                <a:spcPts val="1400"/>
              </a:lnSpc>
            </a:pPr>
            <a:r>
              <a:rPr sz="1100" b="0" i="0">
                <a:solidFill>
                  <a:srgbClr val="55554E"/>
                </a:solidFill>
                <a:latin typeface="Calibri"/>
              </a:rPr>
              <a:t>Set reorder quantities from</a:t>
            </a:r>
          </a:p>
          <a:p>
            <a:pPr algn="l">
              <a:lnSpc>
                <a:spcPts val="1400"/>
              </a:lnSpc>
            </a:pPr>
            <a:r>
              <a:rPr sz="1100" b="0" i="0">
                <a:solidFill>
                  <a:srgbClr val="55554E"/>
                </a:solidFill>
                <a:latin typeface="Calibri"/>
              </a:rPr>
              <a:t>experience and instinct,</a:t>
            </a:r>
          </a:p>
          <a:p>
            <a:pPr algn="l">
              <a:lnSpc>
                <a:spcPts val="1400"/>
              </a:lnSpc>
            </a:pPr>
            <a:r>
              <a:rPr sz="1100" b="0" i="0">
                <a:solidFill>
                  <a:srgbClr val="55554E"/>
                </a:solidFill>
                <a:latin typeface="Calibri"/>
              </a:rPr>
              <a:t>product by product.</a:t>
            </a:r>
          </a:p>
        </p:txBody>
      </p:sp>
      <p:sp>
        <p:nvSpPr>
          <p:cNvPr id="28" name="Rounded Rectangle 27"/>
          <p:cNvSpPr/>
          <p:nvPr/>
        </p:nvSpPr>
        <p:spPr>
          <a:xfrm>
            <a:off x="6400800" y="2889504"/>
            <a:ext cx="786384" cy="201168"/>
          </a:xfrm>
          <a:prstGeom prst="roundRect">
            <a:avLst>
              <a:gd name="adj" fmla="val 50000"/>
            </a:avLst>
          </a:prstGeom>
          <a:solidFill>
            <a:srgbClr val="E7EA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6400800" y="2898648"/>
            <a:ext cx="786384" cy="182880"/>
          </a:xfrm>
          <a:prstGeom prst="rect">
            <a:avLst/>
          </a:prstGeom>
          <a:noFill/>
        </p:spPr>
        <p:txBody>
          <a:bodyPr wrap="square" lIns="0" rIns="0" tIns="0" bIns="0" anchor="ctr">
            <a:spAutoFit/>
          </a:bodyPr>
          <a:lstStyle/>
          <a:p>
            <a:pPr algn="ctr"/>
            <a:r>
              <a:rPr sz="900" b="1" i="0">
                <a:solidFill>
                  <a:srgbClr val="6E6E66"/>
                </a:solidFill>
                <a:latin typeface="Calibri"/>
              </a:rPr>
              <a:t>~1 HR</a:t>
            </a:r>
          </a:p>
        </p:txBody>
      </p:sp>
      <p:sp>
        <p:nvSpPr>
          <p:cNvPr id="30" name="TextBox 29"/>
          <p:cNvSpPr txBox="1"/>
          <p:nvPr/>
        </p:nvSpPr>
        <p:spPr>
          <a:xfrm>
            <a:off x="6217920" y="3328416"/>
            <a:ext cx="2487168" cy="457200"/>
          </a:xfrm>
          <a:prstGeom prst="rect">
            <a:avLst/>
          </a:prstGeom>
          <a:noFill/>
        </p:spPr>
        <p:txBody>
          <a:bodyPr wrap="square" lIns="0" rIns="0" tIns="0" bIns="0" anchor="t">
            <a:spAutoFit/>
          </a:bodyPr>
          <a:lstStyle/>
          <a:p>
            <a:pPr algn="l">
              <a:lnSpc>
                <a:spcPts val="1300"/>
              </a:lnSpc>
            </a:pPr>
            <a:r>
              <a:rPr sz="1050" b="0" i="0">
                <a:solidFill>
                  <a:srgbClr val="A34430"/>
                </a:solidFill>
                <a:latin typeface="Calibri"/>
              </a:rPr>
              <a:t>The reasoning never leaves the</a:t>
            </a:r>
          </a:p>
          <a:p>
            <a:pPr algn="l">
              <a:lnSpc>
                <a:spcPts val="1300"/>
              </a:lnSpc>
            </a:pPr>
            <a:r>
              <a:rPr sz="1050" b="0" i="0">
                <a:solidFill>
                  <a:srgbClr val="A34430"/>
                </a:solidFill>
                <a:latin typeface="Calibri"/>
              </a:rPr>
              <a:t>planner's head.</a:t>
            </a:r>
          </a:p>
        </p:txBody>
      </p:sp>
      <p:sp>
        <p:nvSpPr>
          <p:cNvPr id="31" name="Right Arrow 30"/>
          <p:cNvSpPr/>
          <p:nvPr/>
        </p:nvSpPr>
        <p:spPr>
          <a:xfrm>
            <a:off x="8769096" y="2377440"/>
            <a:ext cx="182880" cy="146304"/>
          </a:xfrm>
          <a:prstGeom prst="rightArrow">
            <a:avLst/>
          </a:prstGeom>
          <a:solidFill>
            <a:srgbClr val="9AA3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ounded Rectangle 31"/>
          <p:cNvSpPr/>
          <p:nvPr/>
        </p:nvSpPr>
        <p:spPr>
          <a:xfrm>
            <a:off x="9006840" y="1664208"/>
            <a:ext cx="2487168" cy="1572768"/>
          </a:xfrm>
          <a:prstGeom prst="roundRect">
            <a:avLst>
              <a:gd name="adj" fmla="val 7000"/>
            </a:avLst>
          </a:prstGeom>
          <a:solidFill>
            <a:srgbClr val="FAF0ED"/>
          </a:solidFill>
          <a:ln w="12700">
            <a:solidFill>
              <a:srgbClr val="E3C9C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9171432" y="1810512"/>
            <a:ext cx="310896" cy="310896"/>
          </a:xfrm>
          <a:prstGeom prst="ellipse">
            <a:avLst/>
          </a:prstGeom>
          <a:solidFill>
            <a:srgbClr val="A344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9171432" y="1810512"/>
            <a:ext cx="310896" cy="310896"/>
          </a:xfrm>
          <a:prstGeom prst="rect">
            <a:avLst/>
          </a:prstGeom>
          <a:noFill/>
        </p:spPr>
        <p:txBody>
          <a:bodyPr wrap="square" lIns="0" rIns="0" tIns="0" bIns="0" anchor="ctr">
            <a:spAutoFit/>
          </a:bodyPr>
          <a:lstStyle/>
          <a:p>
            <a:pPr algn="ctr"/>
            <a:r>
              <a:rPr sz="1300" b="1" i="0">
                <a:solidFill>
                  <a:srgbClr val="FFFFFF"/>
                </a:solidFill>
                <a:latin typeface="Cambria"/>
              </a:rPr>
              <a:t>4</a:t>
            </a:r>
          </a:p>
        </p:txBody>
      </p:sp>
      <p:sp>
        <p:nvSpPr>
          <p:cNvPr id="35" name="TextBox 34"/>
          <p:cNvSpPr txBox="1"/>
          <p:nvPr/>
        </p:nvSpPr>
        <p:spPr>
          <a:xfrm>
            <a:off x="9573767" y="1810512"/>
            <a:ext cx="1755648" cy="310896"/>
          </a:xfrm>
          <a:prstGeom prst="rect">
            <a:avLst/>
          </a:prstGeom>
          <a:noFill/>
        </p:spPr>
        <p:txBody>
          <a:bodyPr wrap="square" lIns="0" rIns="0" tIns="0" bIns="0" anchor="ctr">
            <a:spAutoFit/>
          </a:bodyPr>
          <a:lstStyle/>
          <a:p>
            <a:pPr algn="l"/>
            <a:r>
              <a:rPr sz="1450" b="1" i="0">
                <a:solidFill>
                  <a:srgbClr val="24241F"/>
                </a:solidFill>
                <a:latin typeface="Calibri"/>
              </a:rPr>
              <a:t>Act</a:t>
            </a:r>
          </a:p>
        </p:txBody>
      </p:sp>
      <p:sp>
        <p:nvSpPr>
          <p:cNvPr id="36" name="TextBox 35"/>
          <p:cNvSpPr txBox="1"/>
          <p:nvPr/>
        </p:nvSpPr>
        <p:spPr>
          <a:xfrm>
            <a:off x="9189719" y="2231136"/>
            <a:ext cx="2121408" cy="621792"/>
          </a:xfrm>
          <a:prstGeom prst="rect">
            <a:avLst/>
          </a:prstGeom>
          <a:noFill/>
        </p:spPr>
        <p:txBody>
          <a:bodyPr wrap="square" lIns="0" rIns="0" tIns="0" bIns="0" anchor="t">
            <a:spAutoFit/>
          </a:bodyPr>
          <a:lstStyle/>
          <a:p>
            <a:pPr algn="l">
              <a:lnSpc>
                <a:spcPts val="1400"/>
              </a:lnSpc>
            </a:pPr>
            <a:r>
              <a:rPr sz="1100" b="0" i="0">
                <a:solidFill>
                  <a:srgbClr val="55554E"/>
                </a:solidFill>
                <a:latin typeface="Calibri"/>
              </a:rPr>
              <a:t>Key each purchase suggestion</a:t>
            </a:r>
          </a:p>
          <a:p>
            <a:pPr algn="l">
              <a:lnSpc>
                <a:spcPts val="1400"/>
              </a:lnSpc>
            </a:pPr>
            <a:r>
              <a:rPr sz="1100" b="0" i="0">
                <a:solidFill>
                  <a:srgbClr val="55554E"/>
                </a:solidFill>
                <a:latin typeface="Calibri"/>
              </a:rPr>
              <a:t>back into the ERP, one at</a:t>
            </a:r>
          </a:p>
          <a:p>
            <a:pPr algn="l">
              <a:lnSpc>
                <a:spcPts val="1400"/>
              </a:lnSpc>
            </a:pPr>
            <a:r>
              <a:rPr sz="1100" b="0" i="0">
                <a:solidFill>
                  <a:srgbClr val="55554E"/>
                </a:solidFill>
                <a:latin typeface="Calibri"/>
              </a:rPr>
              <a:t>a time.</a:t>
            </a:r>
          </a:p>
        </p:txBody>
      </p:sp>
      <p:sp>
        <p:nvSpPr>
          <p:cNvPr id="37" name="Rounded Rectangle 36"/>
          <p:cNvSpPr/>
          <p:nvPr/>
        </p:nvSpPr>
        <p:spPr>
          <a:xfrm>
            <a:off x="9189719" y="2889504"/>
            <a:ext cx="786384" cy="201168"/>
          </a:xfrm>
          <a:prstGeom prst="roundRect">
            <a:avLst>
              <a:gd name="adj" fmla="val 50000"/>
            </a:avLst>
          </a:prstGeom>
          <a:solidFill>
            <a:srgbClr val="F0D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9189719" y="2898648"/>
            <a:ext cx="786384" cy="182880"/>
          </a:xfrm>
          <a:prstGeom prst="rect">
            <a:avLst/>
          </a:prstGeom>
          <a:noFill/>
        </p:spPr>
        <p:txBody>
          <a:bodyPr wrap="square" lIns="0" rIns="0" tIns="0" bIns="0" anchor="ctr">
            <a:spAutoFit/>
          </a:bodyPr>
          <a:lstStyle/>
          <a:p>
            <a:pPr algn="ctr"/>
            <a:r>
              <a:rPr sz="900" b="1" i="0">
                <a:solidFill>
                  <a:srgbClr val="6E6E66"/>
                </a:solidFill>
                <a:latin typeface="Calibri"/>
              </a:rPr>
              <a:t>~45 MIN</a:t>
            </a:r>
          </a:p>
        </p:txBody>
      </p:sp>
      <p:sp>
        <p:nvSpPr>
          <p:cNvPr id="39" name="TextBox 38"/>
          <p:cNvSpPr txBox="1"/>
          <p:nvPr/>
        </p:nvSpPr>
        <p:spPr>
          <a:xfrm>
            <a:off x="9006840" y="3328416"/>
            <a:ext cx="2487168" cy="457200"/>
          </a:xfrm>
          <a:prstGeom prst="rect">
            <a:avLst/>
          </a:prstGeom>
          <a:noFill/>
        </p:spPr>
        <p:txBody>
          <a:bodyPr wrap="square" lIns="0" rIns="0" tIns="0" bIns="0" anchor="t">
            <a:spAutoFit/>
          </a:bodyPr>
          <a:lstStyle/>
          <a:p>
            <a:pPr algn="l">
              <a:lnSpc>
                <a:spcPts val="1300"/>
              </a:lnSpc>
            </a:pPr>
            <a:r>
              <a:rPr sz="1050" b="0" i="0">
                <a:solidFill>
                  <a:srgbClr val="A34430"/>
                </a:solidFill>
                <a:latin typeface="Calibri"/>
              </a:rPr>
              <a:t>Committed immediately.</a:t>
            </a:r>
          </a:p>
          <a:p>
            <a:pPr algn="l">
              <a:lnSpc>
                <a:spcPts val="1300"/>
              </a:lnSpc>
            </a:pPr>
            <a:r>
              <a:rPr sz="1050" b="0" i="0">
                <a:solidFill>
                  <a:srgbClr val="A34430"/>
                </a:solidFill>
                <a:latin typeface="Calibri"/>
              </a:rPr>
              <a:t>Nothing is logged.</a:t>
            </a:r>
          </a:p>
        </p:txBody>
      </p:sp>
      <p:sp>
        <p:nvSpPr>
          <p:cNvPr id="40" name="Rounded Rectangle 39"/>
          <p:cNvSpPr/>
          <p:nvPr/>
        </p:nvSpPr>
        <p:spPr>
          <a:xfrm>
            <a:off x="640080" y="3950208"/>
            <a:ext cx="10908792" cy="475488"/>
          </a:xfrm>
          <a:prstGeom prst="roundRect">
            <a:avLst>
              <a:gd name="adj" fmla="val 6000"/>
            </a:avLst>
          </a:prstGeom>
          <a:solidFill>
            <a:srgbClr val="EE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Oval 40"/>
          <p:cNvSpPr/>
          <p:nvPr/>
        </p:nvSpPr>
        <p:spPr>
          <a:xfrm>
            <a:off x="868680" y="4059936"/>
            <a:ext cx="256032" cy="256032"/>
          </a:xfrm>
          <a:prstGeom prst="ellipse">
            <a:avLst/>
          </a:prstGeom>
          <a:solidFill>
            <a:srgbClr val="6E6E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1261872" y="3950208"/>
            <a:ext cx="10058400" cy="475488"/>
          </a:xfrm>
          <a:prstGeom prst="rect">
            <a:avLst/>
          </a:prstGeom>
          <a:noFill/>
        </p:spPr>
        <p:txBody>
          <a:bodyPr wrap="square" lIns="0" rIns="0" tIns="0" bIns="0" anchor="ctr">
            <a:spAutoFit/>
          </a:bodyPr>
          <a:lstStyle/>
          <a:p>
            <a:pPr algn="l"/>
            <a:r>
              <a:rPr sz="1250" b="1" i="0">
                <a:solidFill>
                  <a:srgbClr val="3A3A34"/>
                </a:solidFill>
                <a:latin typeface="Calibri"/>
              </a:rPr>
              <a:t>The same person performs all four steps — no handoff, no second pair of eyes, no checkpoint at any stage.</a:t>
            </a:r>
          </a:p>
        </p:txBody>
      </p:sp>
      <p:sp>
        <p:nvSpPr>
          <p:cNvPr id="43" name="Rounded Rectangle 42"/>
          <p:cNvSpPr/>
          <p:nvPr/>
        </p:nvSpPr>
        <p:spPr>
          <a:xfrm>
            <a:off x="640080" y="4645152"/>
            <a:ext cx="10908792" cy="786384"/>
          </a:xfrm>
          <a:prstGeom prst="roundRect">
            <a:avLst>
              <a:gd name="adj" fmla="val 6000"/>
            </a:avLst>
          </a:prstGeom>
          <a:solidFill>
            <a:srgbClr val="FDF7F5"/>
          </a:solidFill>
          <a:ln w="17780">
            <a:solidFill>
              <a:srgbClr val="E3C9C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914400" y="4754880"/>
            <a:ext cx="10332720" cy="274320"/>
          </a:xfrm>
          <a:prstGeom prst="rect">
            <a:avLst/>
          </a:prstGeom>
          <a:noFill/>
        </p:spPr>
        <p:txBody>
          <a:bodyPr wrap="square" lIns="0" rIns="0" tIns="0" bIns="0" anchor="t">
            <a:spAutoFit/>
          </a:bodyPr>
          <a:lstStyle/>
          <a:p>
            <a:pPr algn="l"/>
            <a:r>
              <a:rPr sz="1350" b="1" i="0">
                <a:solidFill>
                  <a:srgbClr val="A34430"/>
                </a:solidFill>
                <a:latin typeface="Calibri"/>
              </a:rPr>
              <a:t>Review and audit — this stage does not exist</a:t>
            </a:r>
          </a:p>
        </p:txBody>
      </p:sp>
      <p:sp>
        <p:nvSpPr>
          <p:cNvPr id="45" name="TextBox 44"/>
          <p:cNvSpPr txBox="1"/>
          <p:nvPr/>
        </p:nvSpPr>
        <p:spPr>
          <a:xfrm>
            <a:off x="914400" y="5047488"/>
            <a:ext cx="10332720" cy="292608"/>
          </a:xfrm>
          <a:prstGeom prst="rect">
            <a:avLst/>
          </a:prstGeom>
          <a:noFill/>
        </p:spPr>
        <p:txBody>
          <a:bodyPr wrap="square" lIns="0" rIns="0" tIns="0" bIns="0" anchor="t">
            <a:spAutoFit/>
          </a:bodyPr>
          <a:lstStyle/>
          <a:p>
            <a:pPr algn="l"/>
            <a:r>
              <a:rPr sz="1150" b="0" i="0">
                <a:solidFill>
                  <a:srgbClr val="A34430"/>
                </a:solidFill>
                <a:latin typeface="Calibri"/>
              </a:rPr>
              <a:t>Nothing verifies the quantities before they are committed, and no record of the reasoning survives the moment they are entered.</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384048"/>
            <a:ext cx="5486400" cy="237744"/>
          </a:xfrm>
          <a:prstGeom prst="rect">
            <a:avLst/>
          </a:prstGeom>
          <a:noFill/>
        </p:spPr>
        <p:txBody>
          <a:bodyPr wrap="square" lIns="0" rIns="0" tIns="0" bIns="0" anchor="t">
            <a:spAutoFit/>
          </a:bodyPr>
          <a:lstStyle/>
          <a:p>
            <a:pPr algn="l"/>
            <a:r>
              <a:rPr sz="950" b="1" i="0">
                <a:solidFill>
                  <a:srgbClr val="8A8A80"/>
                </a:solidFill>
                <a:latin typeface="Calibri"/>
              </a:rPr>
              <a:t>REBUILT STATE</a:t>
            </a:r>
          </a:p>
        </p:txBody>
      </p:sp>
      <p:sp>
        <p:nvSpPr>
          <p:cNvPr id="3" name="TextBox 2"/>
          <p:cNvSpPr txBox="1"/>
          <p:nvPr/>
        </p:nvSpPr>
        <p:spPr>
          <a:xfrm>
            <a:off x="640080" y="585216"/>
            <a:ext cx="10881360" cy="566928"/>
          </a:xfrm>
          <a:prstGeom prst="rect">
            <a:avLst/>
          </a:prstGeom>
          <a:noFill/>
        </p:spPr>
        <p:txBody>
          <a:bodyPr wrap="square" lIns="0" rIns="0" tIns="0" bIns="0" anchor="ctr">
            <a:spAutoFit/>
          </a:bodyPr>
          <a:lstStyle/>
          <a:p>
            <a:pPr algn="l"/>
            <a:r>
              <a:rPr sz="2700" b="1" i="0">
                <a:solidFill>
                  <a:srgbClr val="24241F"/>
                </a:solidFill>
                <a:latin typeface="Cambria"/>
              </a:rPr>
              <a:t>Replenishment rebuilt around an agent</a:t>
            </a:r>
          </a:p>
        </p:txBody>
      </p:sp>
      <p:sp>
        <p:nvSpPr>
          <p:cNvPr id="4" name="TextBox 3"/>
          <p:cNvSpPr txBox="1"/>
          <p:nvPr/>
        </p:nvSpPr>
        <p:spPr>
          <a:xfrm>
            <a:off x="640080" y="1188720"/>
            <a:ext cx="10607040" cy="310896"/>
          </a:xfrm>
          <a:prstGeom prst="rect">
            <a:avLst/>
          </a:prstGeom>
          <a:noFill/>
        </p:spPr>
        <p:txBody>
          <a:bodyPr wrap="square" lIns="0" rIns="0" tIns="0" bIns="0" anchor="ctr">
            <a:spAutoFit/>
          </a:bodyPr>
          <a:lstStyle/>
          <a:p>
            <a:pPr algn="l"/>
            <a:r>
              <a:rPr sz="1350" b="0" i="0">
                <a:solidFill>
                  <a:srgbClr val="6E6E66"/>
                </a:solidFill>
                <a:latin typeface="Calibri"/>
              </a:rPr>
              <a:t>Every product assessed in seconds — and a person kept at the one point where judgement is worth spending.</a:t>
            </a:r>
          </a:p>
        </p:txBody>
      </p:sp>
      <p:sp>
        <p:nvSpPr>
          <p:cNvPr id="5" name="Rounded Rectangle 4"/>
          <p:cNvSpPr/>
          <p:nvPr/>
        </p:nvSpPr>
        <p:spPr>
          <a:xfrm>
            <a:off x="640080" y="1664208"/>
            <a:ext cx="2487168" cy="1572768"/>
          </a:xfrm>
          <a:prstGeom prst="roundRect">
            <a:avLst>
              <a:gd name="adj" fmla="val 7000"/>
            </a:avLst>
          </a:prstGeom>
          <a:solidFill>
            <a:srgbClr val="F1F5EE"/>
          </a:solidFill>
          <a:ln w="12700">
            <a:solidFill>
              <a:srgbClr val="CFDEC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804671" y="1810512"/>
            <a:ext cx="310896" cy="310896"/>
          </a:xfrm>
          <a:prstGeom prst="ellipse">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04671" y="1810512"/>
            <a:ext cx="310896" cy="310896"/>
          </a:xfrm>
          <a:prstGeom prst="rect">
            <a:avLst/>
          </a:prstGeom>
          <a:noFill/>
        </p:spPr>
        <p:txBody>
          <a:bodyPr wrap="square" lIns="0" rIns="0" tIns="0" bIns="0" anchor="ctr">
            <a:spAutoFit/>
          </a:bodyPr>
          <a:lstStyle/>
          <a:p>
            <a:pPr algn="ctr"/>
            <a:r>
              <a:rPr sz="1300" b="1" i="0">
                <a:solidFill>
                  <a:srgbClr val="FFFFFF"/>
                </a:solidFill>
                <a:latin typeface="Cambria"/>
              </a:rPr>
              <a:t>1</a:t>
            </a:r>
          </a:p>
        </p:txBody>
      </p:sp>
      <p:sp>
        <p:nvSpPr>
          <p:cNvPr id="8" name="TextBox 7"/>
          <p:cNvSpPr txBox="1"/>
          <p:nvPr/>
        </p:nvSpPr>
        <p:spPr>
          <a:xfrm>
            <a:off x="1207007" y="1810512"/>
            <a:ext cx="1755648" cy="310896"/>
          </a:xfrm>
          <a:prstGeom prst="rect">
            <a:avLst/>
          </a:prstGeom>
          <a:noFill/>
        </p:spPr>
        <p:txBody>
          <a:bodyPr wrap="square" lIns="0" rIns="0" tIns="0" bIns="0" anchor="ctr">
            <a:spAutoFit/>
          </a:bodyPr>
          <a:lstStyle/>
          <a:p>
            <a:pPr algn="l"/>
            <a:r>
              <a:rPr sz="1450" b="1" i="0">
                <a:solidFill>
                  <a:srgbClr val="24241F"/>
                </a:solidFill>
                <a:latin typeface="Calibri"/>
              </a:rPr>
              <a:t>Sense</a:t>
            </a:r>
          </a:p>
        </p:txBody>
      </p:sp>
      <p:sp>
        <p:nvSpPr>
          <p:cNvPr id="9" name="TextBox 8"/>
          <p:cNvSpPr txBox="1"/>
          <p:nvPr/>
        </p:nvSpPr>
        <p:spPr>
          <a:xfrm>
            <a:off x="822959" y="2231136"/>
            <a:ext cx="2121408" cy="621792"/>
          </a:xfrm>
          <a:prstGeom prst="rect">
            <a:avLst/>
          </a:prstGeom>
          <a:noFill/>
        </p:spPr>
        <p:txBody>
          <a:bodyPr wrap="square" lIns="0" rIns="0" tIns="0" bIns="0" anchor="t">
            <a:spAutoFit/>
          </a:bodyPr>
          <a:lstStyle/>
          <a:p>
            <a:pPr algn="l">
              <a:lnSpc>
                <a:spcPts val="1400"/>
              </a:lnSpc>
            </a:pPr>
            <a:r>
              <a:rPr sz="1100" b="0" i="0">
                <a:solidFill>
                  <a:srgbClr val="55554E"/>
                </a:solidFill>
                <a:latin typeface="Calibri"/>
              </a:rPr>
              <a:t>Read sales by channel, stock,</a:t>
            </a:r>
          </a:p>
          <a:p>
            <a:pPr algn="l">
              <a:lnSpc>
                <a:spcPts val="1400"/>
              </a:lnSpc>
            </a:pPr>
            <a:r>
              <a:rPr sz="1100" b="0" i="0">
                <a:solidFill>
                  <a:srgbClr val="55554E"/>
                </a:solidFill>
                <a:latin typeface="Calibri"/>
              </a:rPr>
              <a:t>orders in transit and current</a:t>
            </a:r>
          </a:p>
          <a:p>
            <a:pPr algn="l">
              <a:lnSpc>
                <a:spcPts val="1400"/>
              </a:lnSpc>
            </a:pPr>
            <a:r>
              <a:rPr sz="1100" b="0" i="0">
                <a:solidFill>
                  <a:srgbClr val="55554E"/>
                </a:solidFill>
                <a:latin typeface="Calibri"/>
              </a:rPr>
              <a:t>supplier lead times.</a:t>
            </a:r>
          </a:p>
        </p:txBody>
      </p:sp>
      <p:sp>
        <p:nvSpPr>
          <p:cNvPr id="10" name="Rounded Rectangle 9"/>
          <p:cNvSpPr/>
          <p:nvPr/>
        </p:nvSpPr>
        <p:spPr>
          <a:xfrm>
            <a:off x="822959" y="2889504"/>
            <a:ext cx="786384" cy="201168"/>
          </a:xfrm>
          <a:prstGeom prst="roundRect">
            <a:avLst>
              <a:gd name="adj" fmla="val 50000"/>
            </a:avLst>
          </a:prstGeom>
          <a:solidFill>
            <a:srgbClr val="E1EB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22959" y="2898648"/>
            <a:ext cx="786384" cy="182880"/>
          </a:xfrm>
          <a:prstGeom prst="rect">
            <a:avLst/>
          </a:prstGeom>
          <a:noFill/>
        </p:spPr>
        <p:txBody>
          <a:bodyPr wrap="square" lIns="0" rIns="0" tIns="0" bIns="0" anchor="ctr">
            <a:spAutoFit/>
          </a:bodyPr>
          <a:lstStyle/>
          <a:p>
            <a:pPr algn="ctr"/>
            <a:r>
              <a:rPr sz="900" b="1" i="0">
                <a:solidFill>
                  <a:srgbClr val="2C5F2D"/>
                </a:solidFill>
                <a:latin typeface="Calibri"/>
              </a:rPr>
              <a:t>SECONDS</a:t>
            </a:r>
          </a:p>
        </p:txBody>
      </p:sp>
      <p:sp>
        <p:nvSpPr>
          <p:cNvPr id="12" name="TextBox 11"/>
          <p:cNvSpPr txBox="1"/>
          <p:nvPr/>
        </p:nvSpPr>
        <p:spPr>
          <a:xfrm>
            <a:off x="640080" y="3328416"/>
            <a:ext cx="2487168" cy="457200"/>
          </a:xfrm>
          <a:prstGeom prst="rect">
            <a:avLst/>
          </a:prstGeom>
          <a:noFill/>
        </p:spPr>
        <p:txBody>
          <a:bodyPr wrap="square" lIns="0" rIns="0" tIns="0" bIns="0" anchor="t">
            <a:spAutoFit/>
          </a:bodyPr>
          <a:lstStyle/>
          <a:p>
            <a:pPr algn="l">
              <a:lnSpc>
                <a:spcPts val="1300"/>
              </a:lnSpc>
            </a:pPr>
            <a:r>
              <a:rPr sz="1050" b="0" i="0">
                <a:solidFill>
                  <a:srgbClr val="3E7A3F"/>
                </a:solidFill>
                <a:latin typeface="Calibri"/>
              </a:rPr>
              <a:t>Every product, every run — not</a:t>
            </a:r>
          </a:p>
          <a:p>
            <a:pPr algn="l">
              <a:lnSpc>
                <a:spcPts val="1300"/>
              </a:lnSpc>
            </a:pPr>
            <a:r>
              <a:rPr sz="1050" b="0" i="0">
                <a:solidFill>
                  <a:srgbClr val="3E7A3F"/>
                </a:solidFill>
                <a:latin typeface="Calibri"/>
              </a:rPr>
              <a:t>the hundred that fit.</a:t>
            </a:r>
          </a:p>
        </p:txBody>
      </p:sp>
      <p:sp>
        <p:nvSpPr>
          <p:cNvPr id="13" name="Right Arrow 12"/>
          <p:cNvSpPr/>
          <p:nvPr/>
        </p:nvSpPr>
        <p:spPr>
          <a:xfrm>
            <a:off x="3191256" y="2377440"/>
            <a:ext cx="182880" cy="146304"/>
          </a:xfrm>
          <a:prstGeom prst="rightArrow">
            <a:avLst/>
          </a:prstGeom>
          <a:solidFill>
            <a:srgbClr val="9AA3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ounded Rectangle 13"/>
          <p:cNvSpPr/>
          <p:nvPr/>
        </p:nvSpPr>
        <p:spPr>
          <a:xfrm>
            <a:off x="3429000" y="1664208"/>
            <a:ext cx="2487168" cy="1572768"/>
          </a:xfrm>
          <a:prstGeom prst="roundRect">
            <a:avLst>
              <a:gd name="adj" fmla="val 7000"/>
            </a:avLst>
          </a:prstGeom>
          <a:solidFill>
            <a:srgbClr val="F1F5EE"/>
          </a:solidFill>
          <a:ln w="12700">
            <a:solidFill>
              <a:srgbClr val="CFDEC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3593592" y="1810512"/>
            <a:ext cx="310896" cy="310896"/>
          </a:xfrm>
          <a:prstGeom prst="ellipse">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593592" y="1810512"/>
            <a:ext cx="310896" cy="310896"/>
          </a:xfrm>
          <a:prstGeom prst="rect">
            <a:avLst/>
          </a:prstGeom>
          <a:noFill/>
        </p:spPr>
        <p:txBody>
          <a:bodyPr wrap="square" lIns="0" rIns="0" tIns="0" bIns="0" anchor="ctr">
            <a:spAutoFit/>
          </a:bodyPr>
          <a:lstStyle/>
          <a:p>
            <a:pPr algn="ctr"/>
            <a:r>
              <a:rPr sz="1300" b="1" i="0">
                <a:solidFill>
                  <a:srgbClr val="FFFFFF"/>
                </a:solidFill>
                <a:latin typeface="Cambria"/>
              </a:rPr>
              <a:t>2</a:t>
            </a:r>
          </a:p>
        </p:txBody>
      </p:sp>
      <p:sp>
        <p:nvSpPr>
          <p:cNvPr id="17" name="TextBox 16"/>
          <p:cNvSpPr txBox="1"/>
          <p:nvPr/>
        </p:nvSpPr>
        <p:spPr>
          <a:xfrm>
            <a:off x="3995928" y="1810512"/>
            <a:ext cx="1755648" cy="310896"/>
          </a:xfrm>
          <a:prstGeom prst="rect">
            <a:avLst/>
          </a:prstGeom>
          <a:noFill/>
        </p:spPr>
        <p:txBody>
          <a:bodyPr wrap="square" lIns="0" rIns="0" tIns="0" bIns="0" anchor="ctr">
            <a:spAutoFit/>
          </a:bodyPr>
          <a:lstStyle/>
          <a:p>
            <a:pPr algn="l"/>
            <a:r>
              <a:rPr sz="1450" b="1" i="0">
                <a:solidFill>
                  <a:srgbClr val="24241F"/>
                </a:solidFill>
                <a:latin typeface="Calibri"/>
              </a:rPr>
              <a:t>Decide</a:t>
            </a:r>
          </a:p>
        </p:txBody>
      </p:sp>
      <p:sp>
        <p:nvSpPr>
          <p:cNvPr id="18" name="TextBox 17"/>
          <p:cNvSpPr txBox="1"/>
          <p:nvPr/>
        </p:nvSpPr>
        <p:spPr>
          <a:xfrm>
            <a:off x="3611880" y="2231136"/>
            <a:ext cx="2121408" cy="621792"/>
          </a:xfrm>
          <a:prstGeom prst="rect">
            <a:avLst/>
          </a:prstGeom>
          <a:noFill/>
        </p:spPr>
        <p:txBody>
          <a:bodyPr wrap="square" lIns="0" rIns="0" tIns="0" bIns="0" anchor="t">
            <a:spAutoFit/>
          </a:bodyPr>
          <a:lstStyle/>
          <a:p>
            <a:pPr algn="l">
              <a:lnSpc>
                <a:spcPts val="1400"/>
              </a:lnSpc>
            </a:pPr>
            <a:r>
              <a:rPr sz="1100" b="0" i="0">
                <a:solidFill>
                  <a:srgbClr val="55554E"/>
                </a:solidFill>
                <a:latin typeface="Calibri"/>
              </a:rPr>
              <a:t>Size the reorder and score</a:t>
            </a:r>
          </a:p>
          <a:p>
            <a:pPr algn="l">
              <a:lnSpc>
                <a:spcPts val="1400"/>
              </a:lnSpc>
            </a:pPr>
            <a:r>
              <a:rPr sz="1100" b="0" i="0">
                <a:solidFill>
                  <a:srgbClr val="55554E"/>
                </a:solidFill>
                <a:latin typeface="Calibri"/>
              </a:rPr>
              <a:t>how confident it is in that</a:t>
            </a:r>
          </a:p>
          <a:p>
            <a:pPr algn="l">
              <a:lnSpc>
                <a:spcPts val="1400"/>
              </a:lnSpc>
            </a:pPr>
            <a:r>
              <a:rPr sz="1100" b="0" i="0">
                <a:solidFill>
                  <a:srgbClr val="55554E"/>
                </a:solidFill>
                <a:latin typeface="Calibri"/>
              </a:rPr>
              <a:t>number.</a:t>
            </a:r>
          </a:p>
        </p:txBody>
      </p:sp>
      <p:sp>
        <p:nvSpPr>
          <p:cNvPr id="19" name="Rounded Rectangle 18"/>
          <p:cNvSpPr/>
          <p:nvPr/>
        </p:nvSpPr>
        <p:spPr>
          <a:xfrm>
            <a:off x="3611880" y="2889504"/>
            <a:ext cx="786384" cy="201168"/>
          </a:xfrm>
          <a:prstGeom prst="roundRect">
            <a:avLst>
              <a:gd name="adj" fmla="val 50000"/>
            </a:avLst>
          </a:prstGeom>
          <a:solidFill>
            <a:srgbClr val="E1EB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3611880" y="2898648"/>
            <a:ext cx="786384" cy="182880"/>
          </a:xfrm>
          <a:prstGeom prst="rect">
            <a:avLst/>
          </a:prstGeom>
          <a:noFill/>
        </p:spPr>
        <p:txBody>
          <a:bodyPr wrap="square" lIns="0" rIns="0" tIns="0" bIns="0" anchor="ctr">
            <a:spAutoFit/>
          </a:bodyPr>
          <a:lstStyle/>
          <a:p>
            <a:pPr algn="ctr"/>
            <a:r>
              <a:rPr sz="900" b="1" i="0">
                <a:solidFill>
                  <a:srgbClr val="2C5F2D"/>
                </a:solidFill>
                <a:latin typeface="Calibri"/>
              </a:rPr>
              <a:t>SECONDS</a:t>
            </a:r>
          </a:p>
        </p:txBody>
      </p:sp>
      <p:sp>
        <p:nvSpPr>
          <p:cNvPr id="21" name="TextBox 20"/>
          <p:cNvSpPr txBox="1"/>
          <p:nvPr/>
        </p:nvSpPr>
        <p:spPr>
          <a:xfrm>
            <a:off x="3429000" y="3328416"/>
            <a:ext cx="2487168" cy="457200"/>
          </a:xfrm>
          <a:prstGeom prst="rect">
            <a:avLst/>
          </a:prstGeom>
          <a:noFill/>
        </p:spPr>
        <p:txBody>
          <a:bodyPr wrap="square" lIns="0" rIns="0" tIns="0" bIns="0" anchor="t">
            <a:spAutoFit/>
          </a:bodyPr>
          <a:lstStyle/>
          <a:p>
            <a:pPr algn="l">
              <a:lnSpc>
                <a:spcPts val="1300"/>
              </a:lnSpc>
            </a:pPr>
            <a:r>
              <a:rPr sz="1050" b="0" i="0">
                <a:solidFill>
                  <a:srgbClr val="3E7A3F"/>
                </a:solidFill>
                <a:latin typeface="Calibri"/>
              </a:rPr>
              <a:t>Confidence is an output,</a:t>
            </a:r>
          </a:p>
          <a:p>
            <a:pPr algn="l">
              <a:lnSpc>
                <a:spcPts val="1300"/>
              </a:lnSpc>
            </a:pPr>
            <a:r>
              <a:rPr sz="1050" b="0" i="0">
                <a:solidFill>
                  <a:srgbClr val="3E7A3F"/>
                </a:solidFill>
                <a:latin typeface="Calibri"/>
              </a:rPr>
              <a:t>not an assumption.</a:t>
            </a:r>
          </a:p>
        </p:txBody>
      </p:sp>
      <p:sp>
        <p:nvSpPr>
          <p:cNvPr id="22" name="Right Arrow 21"/>
          <p:cNvSpPr/>
          <p:nvPr/>
        </p:nvSpPr>
        <p:spPr>
          <a:xfrm>
            <a:off x="5980176" y="2377440"/>
            <a:ext cx="182880" cy="146304"/>
          </a:xfrm>
          <a:prstGeom prst="rightArrow">
            <a:avLst/>
          </a:prstGeom>
          <a:solidFill>
            <a:srgbClr val="9AA3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ounded Rectangle 22"/>
          <p:cNvSpPr/>
          <p:nvPr/>
        </p:nvSpPr>
        <p:spPr>
          <a:xfrm>
            <a:off x="6217920" y="1664208"/>
            <a:ext cx="2487168" cy="1572768"/>
          </a:xfrm>
          <a:prstGeom prst="roundRect">
            <a:avLst>
              <a:gd name="adj" fmla="val 7000"/>
            </a:avLst>
          </a:prstGeom>
          <a:solidFill>
            <a:srgbClr val="F1F5EE"/>
          </a:solidFill>
          <a:ln w="12700">
            <a:solidFill>
              <a:srgbClr val="CFDEC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6382512" y="1810512"/>
            <a:ext cx="310896" cy="310896"/>
          </a:xfrm>
          <a:prstGeom prst="ellipse">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6382512" y="1810512"/>
            <a:ext cx="310896" cy="310896"/>
          </a:xfrm>
          <a:prstGeom prst="rect">
            <a:avLst/>
          </a:prstGeom>
          <a:noFill/>
        </p:spPr>
        <p:txBody>
          <a:bodyPr wrap="square" lIns="0" rIns="0" tIns="0" bIns="0" anchor="ctr">
            <a:spAutoFit/>
          </a:bodyPr>
          <a:lstStyle/>
          <a:p>
            <a:pPr algn="ctr"/>
            <a:r>
              <a:rPr sz="1300" b="1" i="0">
                <a:solidFill>
                  <a:srgbClr val="FFFFFF"/>
                </a:solidFill>
                <a:latin typeface="Cambria"/>
              </a:rPr>
              <a:t>3</a:t>
            </a:r>
          </a:p>
        </p:txBody>
      </p:sp>
      <p:sp>
        <p:nvSpPr>
          <p:cNvPr id="26" name="TextBox 25"/>
          <p:cNvSpPr txBox="1"/>
          <p:nvPr/>
        </p:nvSpPr>
        <p:spPr>
          <a:xfrm>
            <a:off x="6784848" y="1810512"/>
            <a:ext cx="1755648" cy="310896"/>
          </a:xfrm>
          <a:prstGeom prst="rect">
            <a:avLst/>
          </a:prstGeom>
          <a:noFill/>
        </p:spPr>
        <p:txBody>
          <a:bodyPr wrap="square" lIns="0" rIns="0" tIns="0" bIns="0" anchor="ctr">
            <a:spAutoFit/>
          </a:bodyPr>
          <a:lstStyle/>
          <a:p>
            <a:pPr algn="l"/>
            <a:r>
              <a:rPr sz="1450" b="1" i="0">
                <a:solidFill>
                  <a:srgbClr val="24241F"/>
                </a:solidFill>
                <a:latin typeface="Calibri"/>
              </a:rPr>
              <a:t>Act</a:t>
            </a:r>
          </a:p>
        </p:txBody>
      </p:sp>
      <p:sp>
        <p:nvSpPr>
          <p:cNvPr id="27" name="TextBox 26"/>
          <p:cNvSpPr txBox="1"/>
          <p:nvPr/>
        </p:nvSpPr>
        <p:spPr>
          <a:xfrm>
            <a:off x="6400800" y="2231136"/>
            <a:ext cx="2121408" cy="621792"/>
          </a:xfrm>
          <a:prstGeom prst="rect">
            <a:avLst/>
          </a:prstGeom>
          <a:noFill/>
        </p:spPr>
        <p:txBody>
          <a:bodyPr wrap="square" lIns="0" rIns="0" tIns="0" bIns="0" anchor="t">
            <a:spAutoFit/>
          </a:bodyPr>
          <a:lstStyle/>
          <a:p>
            <a:pPr algn="l">
              <a:lnSpc>
                <a:spcPts val="1400"/>
              </a:lnSpc>
            </a:pPr>
            <a:r>
              <a:rPr sz="1100" b="0" i="0">
                <a:solidFill>
                  <a:srgbClr val="55554E"/>
                </a:solidFill>
                <a:latin typeface="Calibri"/>
              </a:rPr>
              <a:t>Draft the purchase order</a:t>
            </a:r>
          </a:p>
          <a:p>
            <a:pPr algn="l">
              <a:lnSpc>
                <a:spcPts val="1400"/>
              </a:lnSpc>
            </a:pPr>
            <a:r>
              <a:rPr sz="1100" b="0" i="0">
                <a:solidFill>
                  <a:srgbClr val="55554E"/>
                </a:solidFill>
                <a:latin typeface="Calibri"/>
              </a:rPr>
              <a:t>with the reasoning attached</a:t>
            </a:r>
          </a:p>
          <a:p>
            <a:pPr algn="l">
              <a:lnSpc>
                <a:spcPts val="1400"/>
              </a:lnSpc>
            </a:pPr>
            <a:r>
              <a:rPr sz="1100" b="0" i="0">
                <a:solidFill>
                  <a:srgbClr val="55554E"/>
                </a:solidFill>
                <a:latin typeface="Calibri"/>
              </a:rPr>
              <a:t>in plain English.</a:t>
            </a:r>
          </a:p>
        </p:txBody>
      </p:sp>
      <p:sp>
        <p:nvSpPr>
          <p:cNvPr id="28" name="Rounded Rectangle 27"/>
          <p:cNvSpPr/>
          <p:nvPr/>
        </p:nvSpPr>
        <p:spPr>
          <a:xfrm>
            <a:off x="6400800" y="2889504"/>
            <a:ext cx="786384" cy="201168"/>
          </a:xfrm>
          <a:prstGeom prst="roundRect">
            <a:avLst>
              <a:gd name="adj" fmla="val 50000"/>
            </a:avLst>
          </a:prstGeom>
          <a:solidFill>
            <a:srgbClr val="E1EB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6400800" y="2898648"/>
            <a:ext cx="786384" cy="182880"/>
          </a:xfrm>
          <a:prstGeom prst="rect">
            <a:avLst/>
          </a:prstGeom>
          <a:noFill/>
        </p:spPr>
        <p:txBody>
          <a:bodyPr wrap="square" lIns="0" rIns="0" tIns="0" bIns="0" anchor="ctr">
            <a:spAutoFit/>
          </a:bodyPr>
          <a:lstStyle/>
          <a:p>
            <a:pPr algn="ctr"/>
            <a:r>
              <a:rPr sz="900" b="1" i="0">
                <a:solidFill>
                  <a:srgbClr val="2C5F2D"/>
                </a:solidFill>
                <a:latin typeface="Calibri"/>
              </a:rPr>
              <a:t>SECONDS</a:t>
            </a:r>
          </a:p>
        </p:txBody>
      </p:sp>
      <p:sp>
        <p:nvSpPr>
          <p:cNvPr id="30" name="TextBox 29"/>
          <p:cNvSpPr txBox="1"/>
          <p:nvPr/>
        </p:nvSpPr>
        <p:spPr>
          <a:xfrm>
            <a:off x="6217920" y="3328416"/>
            <a:ext cx="2487168" cy="457200"/>
          </a:xfrm>
          <a:prstGeom prst="rect">
            <a:avLst/>
          </a:prstGeom>
          <a:noFill/>
        </p:spPr>
        <p:txBody>
          <a:bodyPr wrap="square" lIns="0" rIns="0" tIns="0" bIns="0" anchor="t">
            <a:spAutoFit/>
          </a:bodyPr>
          <a:lstStyle/>
          <a:p>
            <a:pPr algn="l">
              <a:lnSpc>
                <a:spcPts val="1300"/>
              </a:lnSpc>
            </a:pPr>
            <a:r>
              <a:rPr sz="1050" b="0" i="0">
                <a:solidFill>
                  <a:srgbClr val="3E7A3F"/>
                </a:solidFill>
                <a:latin typeface="Calibri"/>
              </a:rPr>
              <a:t>The reasoning outlives</a:t>
            </a:r>
          </a:p>
          <a:p>
            <a:pPr algn="l">
              <a:lnSpc>
                <a:spcPts val="1300"/>
              </a:lnSpc>
            </a:pPr>
            <a:r>
              <a:rPr sz="1050" b="0" i="0">
                <a:solidFill>
                  <a:srgbClr val="3E7A3F"/>
                </a:solidFill>
                <a:latin typeface="Calibri"/>
              </a:rPr>
              <a:t>the decision.</a:t>
            </a:r>
          </a:p>
        </p:txBody>
      </p:sp>
      <p:sp>
        <p:nvSpPr>
          <p:cNvPr id="31" name="Right Arrow 30"/>
          <p:cNvSpPr/>
          <p:nvPr/>
        </p:nvSpPr>
        <p:spPr>
          <a:xfrm>
            <a:off x="8769096" y="2377440"/>
            <a:ext cx="182880" cy="146304"/>
          </a:xfrm>
          <a:prstGeom prst="rightArrow">
            <a:avLst/>
          </a:prstGeom>
          <a:solidFill>
            <a:srgbClr val="9AA3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ounded Rectangle 31"/>
          <p:cNvSpPr/>
          <p:nvPr/>
        </p:nvSpPr>
        <p:spPr>
          <a:xfrm>
            <a:off x="9006840" y="1664208"/>
            <a:ext cx="2487168" cy="1572768"/>
          </a:xfrm>
          <a:prstGeom prst="roundRect">
            <a:avLst>
              <a:gd name="adj" fmla="val 7000"/>
            </a:avLst>
          </a:prstGeom>
          <a:solidFill>
            <a:srgbClr val="EDF3E7"/>
          </a:solidFill>
          <a:ln w="19050">
            <a:solidFill>
              <a:srgbClr val="97BC6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9171432" y="1810512"/>
            <a:ext cx="310896" cy="310896"/>
          </a:xfrm>
          <a:prstGeom prst="ellipse">
            <a:avLst/>
          </a:prstGeom>
          <a:solidFill>
            <a:srgbClr val="5C8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9171432" y="1810512"/>
            <a:ext cx="310896" cy="310896"/>
          </a:xfrm>
          <a:prstGeom prst="rect">
            <a:avLst/>
          </a:prstGeom>
          <a:noFill/>
        </p:spPr>
        <p:txBody>
          <a:bodyPr wrap="square" lIns="0" rIns="0" tIns="0" bIns="0" anchor="ctr">
            <a:spAutoFit/>
          </a:bodyPr>
          <a:lstStyle/>
          <a:p>
            <a:pPr algn="ctr"/>
            <a:r>
              <a:rPr sz="1300" b="1" i="0">
                <a:solidFill>
                  <a:srgbClr val="FFFFFF"/>
                </a:solidFill>
                <a:latin typeface="Cambria"/>
              </a:rPr>
              <a:t>4</a:t>
            </a:r>
          </a:p>
        </p:txBody>
      </p:sp>
      <p:sp>
        <p:nvSpPr>
          <p:cNvPr id="35" name="TextBox 34"/>
          <p:cNvSpPr txBox="1"/>
          <p:nvPr/>
        </p:nvSpPr>
        <p:spPr>
          <a:xfrm>
            <a:off x="9573767" y="1810512"/>
            <a:ext cx="1755648" cy="310896"/>
          </a:xfrm>
          <a:prstGeom prst="rect">
            <a:avLst/>
          </a:prstGeom>
          <a:noFill/>
        </p:spPr>
        <p:txBody>
          <a:bodyPr wrap="square" lIns="0" rIns="0" tIns="0" bIns="0" anchor="ctr">
            <a:spAutoFit/>
          </a:bodyPr>
          <a:lstStyle/>
          <a:p>
            <a:pPr algn="l"/>
            <a:r>
              <a:rPr sz="1450" b="1" i="0">
                <a:solidFill>
                  <a:srgbClr val="24241F"/>
                </a:solidFill>
                <a:latin typeface="Calibri"/>
              </a:rPr>
              <a:t>Escalate</a:t>
            </a:r>
          </a:p>
        </p:txBody>
      </p:sp>
      <p:sp>
        <p:nvSpPr>
          <p:cNvPr id="36" name="TextBox 35"/>
          <p:cNvSpPr txBox="1"/>
          <p:nvPr/>
        </p:nvSpPr>
        <p:spPr>
          <a:xfrm>
            <a:off x="9189719" y="2231136"/>
            <a:ext cx="2121408" cy="621792"/>
          </a:xfrm>
          <a:prstGeom prst="rect">
            <a:avLst/>
          </a:prstGeom>
          <a:noFill/>
        </p:spPr>
        <p:txBody>
          <a:bodyPr wrap="square" lIns="0" rIns="0" tIns="0" bIns="0" anchor="t">
            <a:spAutoFit/>
          </a:bodyPr>
          <a:lstStyle/>
          <a:p>
            <a:pPr algn="l">
              <a:lnSpc>
                <a:spcPts val="1400"/>
              </a:lnSpc>
            </a:pPr>
            <a:r>
              <a:rPr sz="1100" b="0" i="0">
                <a:solidFill>
                  <a:srgbClr val="55554E"/>
                </a:solidFill>
                <a:latin typeface="Calibri"/>
              </a:rPr>
              <a:t>Hold back anything uncertain,</a:t>
            </a:r>
          </a:p>
          <a:p>
            <a:pPr algn="l">
              <a:lnSpc>
                <a:spcPts val="1400"/>
              </a:lnSpc>
            </a:pPr>
            <a:r>
              <a:rPr sz="1100" b="0" i="0">
                <a:solidFill>
                  <a:srgbClr val="55554E"/>
                </a:solidFill>
                <a:latin typeface="Calibri"/>
              </a:rPr>
              <a:t>or about to go out of stock,</a:t>
            </a:r>
          </a:p>
          <a:p>
            <a:pPr algn="l">
              <a:lnSpc>
                <a:spcPts val="1400"/>
              </a:lnSpc>
            </a:pPr>
            <a:r>
              <a:rPr sz="1100" b="0" i="0">
                <a:solidFill>
                  <a:srgbClr val="55554E"/>
                </a:solidFill>
                <a:latin typeface="Calibri"/>
              </a:rPr>
              <a:t>for a person.</a:t>
            </a:r>
          </a:p>
        </p:txBody>
      </p:sp>
      <p:sp>
        <p:nvSpPr>
          <p:cNvPr id="37" name="Rounded Rectangle 36"/>
          <p:cNvSpPr/>
          <p:nvPr/>
        </p:nvSpPr>
        <p:spPr>
          <a:xfrm>
            <a:off x="9189719" y="2889504"/>
            <a:ext cx="786384" cy="201168"/>
          </a:xfrm>
          <a:prstGeom prst="roundRect">
            <a:avLst>
              <a:gd name="adj" fmla="val 50000"/>
            </a:avLst>
          </a:prstGeom>
          <a:solidFill>
            <a:srgbClr val="D8E7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9189719" y="2898648"/>
            <a:ext cx="786384" cy="182880"/>
          </a:xfrm>
          <a:prstGeom prst="rect">
            <a:avLst/>
          </a:prstGeom>
          <a:noFill/>
        </p:spPr>
        <p:txBody>
          <a:bodyPr wrap="square" lIns="0" rIns="0" tIns="0" bIns="0" anchor="ctr">
            <a:spAutoFit/>
          </a:bodyPr>
          <a:lstStyle/>
          <a:p>
            <a:pPr algn="ctr"/>
            <a:r>
              <a:rPr sz="900" b="1" i="0">
                <a:solidFill>
                  <a:srgbClr val="2C5F2D"/>
                </a:solidFill>
                <a:latin typeface="Calibri"/>
              </a:rPr>
              <a:t>HUMAN</a:t>
            </a:r>
          </a:p>
        </p:txBody>
      </p:sp>
      <p:sp>
        <p:nvSpPr>
          <p:cNvPr id="39" name="TextBox 38"/>
          <p:cNvSpPr txBox="1"/>
          <p:nvPr/>
        </p:nvSpPr>
        <p:spPr>
          <a:xfrm>
            <a:off x="9006840" y="3328416"/>
            <a:ext cx="2487168" cy="457200"/>
          </a:xfrm>
          <a:prstGeom prst="rect">
            <a:avLst/>
          </a:prstGeom>
          <a:noFill/>
        </p:spPr>
        <p:txBody>
          <a:bodyPr wrap="square" lIns="0" rIns="0" tIns="0" bIns="0" anchor="t">
            <a:spAutoFit/>
          </a:bodyPr>
          <a:lstStyle/>
          <a:p>
            <a:pPr algn="l">
              <a:lnSpc>
                <a:spcPts val="1300"/>
              </a:lnSpc>
            </a:pPr>
            <a:r>
              <a:rPr sz="1050" b="0" i="0">
                <a:solidFill>
                  <a:srgbClr val="3E7A3F"/>
                </a:solidFill>
                <a:latin typeface="Calibri"/>
              </a:rPr>
              <a:t>Nothing uncertain is</a:t>
            </a:r>
          </a:p>
          <a:p>
            <a:pPr algn="l">
              <a:lnSpc>
                <a:spcPts val="1300"/>
              </a:lnSpc>
            </a:pPr>
            <a:r>
              <a:rPr sz="1050" b="0" i="0">
                <a:solidFill>
                  <a:srgbClr val="3E7A3F"/>
                </a:solidFill>
                <a:latin typeface="Calibri"/>
              </a:rPr>
              <a:t>committed silently.</a:t>
            </a:r>
          </a:p>
        </p:txBody>
      </p:sp>
      <p:sp>
        <p:nvSpPr>
          <p:cNvPr id="40" name="Rounded Rectangle 39"/>
          <p:cNvSpPr/>
          <p:nvPr/>
        </p:nvSpPr>
        <p:spPr>
          <a:xfrm>
            <a:off x="640080" y="3950208"/>
            <a:ext cx="10908792" cy="475488"/>
          </a:xfrm>
          <a:prstGeom prst="roundRect">
            <a:avLst>
              <a:gd name="adj" fmla="val 6000"/>
            </a:avLst>
          </a:prstGeom>
          <a:solidFill>
            <a:srgbClr val="EE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Oval 40"/>
          <p:cNvSpPr/>
          <p:nvPr/>
        </p:nvSpPr>
        <p:spPr>
          <a:xfrm>
            <a:off x="868680" y="4059936"/>
            <a:ext cx="256032" cy="256032"/>
          </a:xfrm>
          <a:prstGeom prst="ellipse">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1261872" y="3950208"/>
            <a:ext cx="10058400" cy="475488"/>
          </a:xfrm>
          <a:prstGeom prst="rect">
            <a:avLst/>
          </a:prstGeom>
          <a:noFill/>
        </p:spPr>
        <p:txBody>
          <a:bodyPr wrap="square" lIns="0" rIns="0" tIns="0" bIns="0" anchor="ctr">
            <a:spAutoFit/>
          </a:bodyPr>
          <a:lstStyle/>
          <a:p>
            <a:pPr algn="l"/>
            <a:r>
              <a:rPr sz="1250" b="1" i="0">
                <a:solidFill>
                  <a:srgbClr val="3A3A34"/>
                </a:solidFill>
                <a:latin typeface="Calibri"/>
              </a:rPr>
              <a:t>The agent does the reading and the arithmetic. Human judgement is spent on the handful of cases that actually need it.</a:t>
            </a:r>
          </a:p>
        </p:txBody>
      </p:sp>
      <p:sp>
        <p:nvSpPr>
          <p:cNvPr id="43" name="Rounded Rectangle 42"/>
          <p:cNvSpPr/>
          <p:nvPr/>
        </p:nvSpPr>
        <p:spPr>
          <a:xfrm>
            <a:off x="640080" y="4645152"/>
            <a:ext cx="10908792" cy="786384"/>
          </a:xfrm>
          <a:prstGeom prst="roundRect">
            <a:avLst>
              <a:gd name="adj" fmla="val 6000"/>
            </a:avLst>
          </a:prstGeom>
          <a:solidFill>
            <a:srgbClr val="EDF3E7"/>
          </a:solidFill>
          <a:ln w="19050">
            <a:solidFill>
              <a:srgbClr val="97BC6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914400" y="4754880"/>
            <a:ext cx="10332720" cy="274320"/>
          </a:xfrm>
          <a:prstGeom prst="rect">
            <a:avLst/>
          </a:prstGeom>
          <a:noFill/>
        </p:spPr>
        <p:txBody>
          <a:bodyPr wrap="square" lIns="0" rIns="0" tIns="0" bIns="0" anchor="t">
            <a:spAutoFit/>
          </a:bodyPr>
          <a:lstStyle/>
          <a:p>
            <a:pPr algn="l"/>
            <a:r>
              <a:rPr sz="1350" b="1" i="0">
                <a:solidFill>
                  <a:srgbClr val="24541F"/>
                </a:solidFill>
                <a:latin typeface="Calibri"/>
              </a:rPr>
              <a:t>Planner review — this stage is the entire point</a:t>
            </a:r>
          </a:p>
        </p:txBody>
      </p:sp>
      <p:sp>
        <p:nvSpPr>
          <p:cNvPr id="45" name="TextBox 44"/>
          <p:cNvSpPr txBox="1"/>
          <p:nvPr/>
        </p:nvSpPr>
        <p:spPr>
          <a:xfrm>
            <a:off x="914400" y="5047488"/>
            <a:ext cx="10332720" cy="292608"/>
          </a:xfrm>
          <a:prstGeom prst="rect">
            <a:avLst/>
          </a:prstGeom>
          <a:noFill/>
        </p:spPr>
        <p:txBody>
          <a:bodyPr wrap="square" lIns="0" rIns="0" tIns="0" bIns="0" anchor="t">
            <a:spAutoFit/>
          </a:bodyPr>
          <a:lstStyle/>
          <a:p>
            <a:pPr algn="l"/>
            <a:r>
              <a:rPr sz="1150" b="0" i="0">
                <a:solidFill>
                  <a:srgbClr val="35603A"/>
                </a:solidFill>
                <a:latin typeface="Calibri"/>
              </a:rPr>
              <a:t>Every held recommendation arrives with its reasoning. Approve it, edit the quantity, or reject it with a stated reason — all of it logged.</a:t>
            </a:r>
          </a:p>
        </p:txBody>
      </p:sp>
      <p:sp>
        <p:nvSpPr>
          <p:cNvPr id="46" name="TextBox 45"/>
          <p:cNvSpPr txBox="1"/>
          <p:nvPr/>
        </p:nvSpPr>
        <p:spPr>
          <a:xfrm>
            <a:off x="640080" y="5577840"/>
            <a:ext cx="10881360" cy="274320"/>
          </a:xfrm>
          <a:prstGeom prst="rect">
            <a:avLst/>
          </a:prstGeom>
          <a:noFill/>
        </p:spPr>
        <p:txBody>
          <a:bodyPr wrap="square" lIns="0" rIns="0" tIns="0" bIns="0" anchor="t">
            <a:spAutoFit/>
          </a:bodyPr>
          <a:lstStyle/>
          <a:p>
            <a:pPr algn="l"/>
            <a:r>
              <a:rPr sz="1100" b="0" i="1">
                <a:solidFill>
                  <a:srgbClr val="6E6E66"/>
                </a:solidFill>
                <a:latin typeface="Calibri"/>
              </a:rPr>
              <a:t>↻  Overrides are recorded and intended to feed back into the decision thresholds. That loop is designed, but not yet built.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5486400" cy="237744"/>
          </a:xfrm>
          <a:prstGeom prst="rect">
            <a:avLst/>
          </a:prstGeom>
          <a:noFill/>
        </p:spPr>
        <p:txBody>
          <a:bodyPr wrap="square" lIns="0" rIns="0" tIns="0" bIns="0" anchor="t">
            <a:spAutoFit/>
          </a:bodyPr>
          <a:lstStyle/>
          <a:p>
            <a:pPr algn="l"/>
            <a:r>
              <a:rPr sz="950" b="1" i="0">
                <a:solidFill>
                  <a:srgbClr val="8A8A80"/>
                </a:solidFill>
                <a:latin typeface="Calibri"/>
              </a:rPr>
              <a:t>CURRENT STATE</a:t>
            </a:r>
          </a:p>
        </p:txBody>
      </p:sp>
      <p:sp>
        <p:nvSpPr>
          <p:cNvPr id="3" name="TextBox 2"/>
          <p:cNvSpPr txBox="1"/>
          <p:nvPr/>
        </p:nvSpPr>
        <p:spPr>
          <a:xfrm>
            <a:off x="640080" y="585216"/>
            <a:ext cx="10881360" cy="566928"/>
          </a:xfrm>
          <a:prstGeom prst="rect">
            <a:avLst/>
          </a:prstGeom>
          <a:noFill/>
        </p:spPr>
        <p:txBody>
          <a:bodyPr wrap="square" lIns="0" rIns="0" tIns="0" bIns="0" anchor="ctr">
            <a:spAutoFit/>
          </a:bodyPr>
          <a:lstStyle/>
          <a:p>
            <a:pPr algn="l"/>
            <a:r>
              <a:rPr sz="2700" b="1" i="0">
                <a:solidFill>
                  <a:srgbClr val="24241F"/>
                </a:solidFill>
                <a:latin typeface="Cambria"/>
              </a:rPr>
              <a:t>How the manual process actually runs</a:t>
            </a:r>
          </a:p>
        </p:txBody>
      </p:sp>
      <p:sp>
        <p:nvSpPr>
          <p:cNvPr id="4" name="TextBox 3"/>
          <p:cNvSpPr txBox="1"/>
          <p:nvPr/>
        </p:nvSpPr>
        <p:spPr>
          <a:xfrm>
            <a:off x="640080" y="1188720"/>
            <a:ext cx="10607040" cy="310896"/>
          </a:xfrm>
          <a:prstGeom prst="rect">
            <a:avLst/>
          </a:prstGeom>
          <a:noFill/>
        </p:spPr>
        <p:txBody>
          <a:bodyPr wrap="square" lIns="0" rIns="0" tIns="0" bIns="0" anchor="ctr">
            <a:spAutoFit/>
          </a:bodyPr>
          <a:lstStyle/>
          <a:p>
            <a:pPr algn="l"/>
            <a:r>
              <a:rPr sz="1350" b="0" i="0">
                <a:solidFill>
                  <a:srgbClr val="6E6E66"/>
                </a:solidFill>
                <a:latin typeface="Calibri"/>
              </a:rPr>
              <a:t>The detail behind the four steps on the previous slide</a:t>
            </a:r>
          </a:p>
        </p:txBody>
      </p:sp>
      <p:sp>
        <p:nvSpPr>
          <p:cNvPr id="5" name="TextBox 4"/>
          <p:cNvSpPr txBox="1"/>
          <p:nvPr/>
        </p:nvSpPr>
        <p:spPr>
          <a:xfrm>
            <a:off x="640080" y="1783080"/>
            <a:ext cx="5212080" cy="310896"/>
          </a:xfrm>
          <a:prstGeom prst="rect">
            <a:avLst/>
          </a:prstGeom>
          <a:noFill/>
        </p:spPr>
        <p:txBody>
          <a:bodyPr wrap="square" lIns="0" rIns="0" tIns="0" bIns="0" anchor="t">
            <a:spAutoFit/>
          </a:bodyPr>
          <a:lstStyle/>
          <a:p>
            <a:pPr algn="l"/>
            <a:r>
              <a:rPr sz="1600" b="1" i="0">
                <a:solidFill>
                  <a:srgbClr val="2C5F2D"/>
                </a:solidFill>
                <a:latin typeface="Cambria"/>
              </a:rPr>
              <a:t>What happens each week</a:t>
            </a:r>
          </a:p>
        </p:txBody>
      </p:sp>
      <p:sp>
        <p:nvSpPr>
          <p:cNvPr id="6" name="TextBox 5"/>
          <p:cNvSpPr txBox="1"/>
          <p:nvPr/>
        </p:nvSpPr>
        <p:spPr>
          <a:xfrm>
            <a:off x="640080" y="2167128"/>
            <a:ext cx="5212080" cy="1463040"/>
          </a:xfrm>
          <a:prstGeom prst="rect">
            <a:avLst/>
          </a:prstGeom>
          <a:noFill/>
        </p:spPr>
        <p:txBody>
          <a:bodyPr wrap="square" lIns="0" rIns="0" tIns="0" bIns="0" anchor="t">
            <a:spAutoFit/>
          </a:bodyPr>
          <a:lstStyle/>
          <a:p>
            <a:pPr algn="l">
              <a:lnSpc>
                <a:spcPts val="1700"/>
              </a:lnSpc>
            </a:pPr>
            <a:r>
              <a:rPr sz="1250" b="0" i="0">
                <a:solidFill>
                  <a:srgbClr val="3A3A34"/>
                </a:solidFill>
                <a:latin typeface="Calibri"/>
              </a:rPr>
              <a:t>Every Tuesday the planner exports the previous week's sales from the ERP, opens the file in a spreadsheet, and works down the list. She compares recent movement against what is on the shelf, factors in how long each supplier usually takes, and types quantities back in by hand. The full cycle takes roughly half a day.</a:t>
            </a:r>
          </a:p>
        </p:txBody>
      </p:sp>
      <p:sp>
        <p:nvSpPr>
          <p:cNvPr id="7" name="TextBox 6"/>
          <p:cNvSpPr txBox="1"/>
          <p:nvPr/>
        </p:nvSpPr>
        <p:spPr>
          <a:xfrm>
            <a:off x="6309360" y="1783080"/>
            <a:ext cx="5212080" cy="310896"/>
          </a:xfrm>
          <a:prstGeom prst="rect">
            <a:avLst/>
          </a:prstGeom>
          <a:noFill/>
        </p:spPr>
        <p:txBody>
          <a:bodyPr wrap="square" lIns="0" rIns="0" tIns="0" bIns="0" anchor="t">
            <a:spAutoFit/>
          </a:bodyPr>
          <a:lstStyle/>
          <a:p>
            <a:pPr algn="l"/>
            <a:r>
              <a:rPr sz="1600" b="1" i="0">
                <a:solidFill>
                  <a:srgbClr val="2C5F2D"/>
                </a:solidFill>
                <a:latin typeface="Cambria"/>
              </a:rPr>
              <a:t>Why it holds together at all</a:t>
            </a:r>
          </a:p>
        </p:txBody>
      </p:sp>
      <p:sp>
        <p:nvSpPr>
          <p:cNvPr id="8" name="TextBox 7"/>
          <p:cNvSpPr txBox="1"/>
          <p:nvPr/>
        </p:nvSpPr>
        <p:spPr>
          <a:xfrm>
            <a:off x="6309360" y="2167128"/>
            <a:ext cx="5212080" cy="1463040"/>
          </a:xfrm>
          <a:prstGeom prst="rect">
            <a:avLst/>
          </a:prstGeom>
          <a:noFill/>
        </p:spPr>
        <p:txBody>
          <a:bodyPr wrap="square" lIns="0" rIns="0" tIns="0" bIns="0" anchor="t">
            <a:spAutoFit/>
          </a:bodyPr>
          <a:lstStyle/>
          <a:p>
            <a:pPr algn="l">
              <a:lnSpc>
                <a:spcPts val="1700"/>
              </a:lnSpc>
            </a:pPr>
            <a:r>
              <a:rPr sz="1250" b="0" i="0">
                <a:solidFill>
                  <a:srgbClr val="3A3A34"/>
                </a:solidFill>
                <a:latin typeface="Calibri"/>
              </a:rPr>
              <a:t>It works because the planner is experienced. Eleven years of pattern recognition substitute for a method — she knows which lines move in spring, which suppliers slip, and which numbers look wrong before she can say quite why. That expertise is real, and it is doing all of the load-bearing work in this process.</a:t>
            </a:r>
          </a:p>
        </p:txBody>
      </p:sp>
      <p:sp>
        <p:nvSpPr>
          <p:cNvPr id="9" name="TextBox 8"/>
          <p:cNvSpPr txBox="1"/>
          <p:nvPr/>
        </p:nvSpPr>
        <p:spPr>
          <a:xfrm>
            <a:off x="640080" y="3794760"/>
            <a:ext cx="5212080" cy="310896"/>
          </a:xfrm>
          <a:prstGeom prst="rect">
            <a:avLst/>
          </a:prstGeom>
          <a:noFill/>
        </p:spPr>
        <p:txBody>
          <a:bodyPr wrap="square" lIns="0" rIns="0" tIns="0" bIns="0" anchor="t">
            <a:spAutoFit/>
          </a:bodyPr>
          <a:lstStyle/>
          <a:p>
            <a:pPr algn="l"/>
            <a:r>
              <a:rPr sz="1600" b="1" i="0">
                <a:solidFill>
                  <a:srgbClr val="2C5F2D"/>
                </a:solidFill>
                <a:latin typeface="Cambria"/>
              </a:rPr>
              <a:t>Where it breaks</a:t>
            </a:r>
          </a:p>
        </p:txBody>
      </p:sp>
      <p:sp>
        <p:nvSpPr>
          <p:cNvPr id="10" name="TextBox 9"/>
          <p:cNvSpPr txBox="1"/>
          <p:nvPr/>
        </p:nvSpPr>
        <p:spPr>
          <a:xfrm>
            <a:off x="640080" y="4178808"/>
            <a:ext cx="5212080" cy="1463040"/>
          </a:xfrm>
          <a:prstGeom prst="rect">
            <a:avLst/>
          </a:prstGeom>
          <a:noFill/>
        </p:spPr>
        <p:txBody>
          <a:bodyPr wrap="square" lIns="0" rIns="0" tIns="0" bIns="0" anchor="t">
            <a:spAutoFit/>
          </a:bodyPr>
          <a:lstStyle/>
          <a:p>
            <a:pPr algn="l">
              <a:lnSpc>
                <a:spcPts val="1700"/>
              </a:lnSpc>
            </a:pPr>
            <a:r>
              <a:rPr sz="1250" b="0" i="0">
                <a:solidFill>
                  <a:srgbClr val="3A3A34"/>
                </a:solidFill>
                <a:latin typeface="Calibri"/>
              </a:rPr>
              <a:t>It breaks at the edges of attention. Several thousand products compete for one morning, so a few hundred receive real judgement and the rest get a rule of thumb. Slow-moving lines are dropped first — which is exactly where a stockout is hardest to notice, and most irritating to the customer who came in for that one part.</a:t>
            </a:r>
          </a:p>
        </p:txBody>
      </p:sp>
      <p:sp>
        <p:nvSpPr>
          <p:cNvPr id="11" name="TextBox 10"/>
          <p:cNvSpPr txBox="1"/>
          <p:nvPr/>
        </p:nvSpPr>
        <p:spPr>
          <a:xfrm>
            <a:off x="6309360" y="3794760"/>
            <a:ext cx="5212080" cy="310896"/>
          </a:xfrm>
          <a:prstGeom prst="rect">
            <a:avLst/>
          </a:prstGeom>
          <a:noFill/>
        </p:spPr>
        <p:txBody>
          <a:bodyPr wrap="square" lIns="0" rIns="0" tIns="0" bIns="0" anchor="t">
            <a:spAutoFit/>
          </a:bodyPr>
          <a:lstStyle/>
          <a:p>
            <a:pPr algn="l"/>
            <a:r>
              <a:rPr sz="1600" b="1" i="0">
                <a:solidFill>
                  <a:srgbClr val="2C5F2D"/>
                </a:solidFill>
                <a:latin typeface="Cambria"/>
              </a:rPr>
              <a:t>What is missing entirely</a:t>
            </a:r>
          </a:p>
        </p:txBody>
      </p:sp>
      <p:sp>
        <p:nvSpPr>
          <p:cNvPr id="12" name="TextBox 11"/>
          <p:cNvSpPr txBox="1"/>
          <p:nvPr/>
        </p:nvSpPr>
        <p:spPr>
          <a:xfrm>
            <a:off x="6309360" y="4178808"/>
            <a:ext cx="5212080" cy="1463040"/>
          </a:xfrm>
          <a:prstGeom prst="rect">
            <a:avLst/>
          </a:prstGeom>
          <a:noFill/>
        </p:spPr>
        <p:txBody>
          <a:bodyPr wrap="square" lIns="0" rIns="0" tIns="0" bIns="0" anchor="t">
            <a:spAutoFit/>
          </a:bodyPr>
          <a:lstStyle/>
          <a:p>
            <a:pPr algn="l">
              <a:lnSpc>
                <a:spcPts val="1700"/>
              </a:lnSpc>
            </a:pPr>
            <a:r>
              <a:rPr sz="1250" b="0" i="0">
                <a:solidFill>
                  <a:srgbClr val="3A3A34"/>
                </a:solidFill>
                <a:latin typeface="Calibri"/>
              </a:rPr>
              <a:t>There is no review step and no audit trail. Nothing checks the numbers before they are committed, and once entered the reasoning is gone. Six months later nobody — including the planner — can say why an order was 400 rather than 200 units. The business does not merely depend on one person; it depends on her memory.</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5486400" cy="237744"/>
          </a:xfrm>
          <a:prstGeom prst="rect">
            <a:avLst/>
          </a:prstGeom>
          <a:noFill/>
        </p:spPr>
        <p:txBody>
          <a:bodyPr wrap="square" lIns="0" rIns="0" tIns="0" bIns="0" anchor="t">
            <a:spAutoFit/>
          </a:bodyPr>
          <a:lstStyle/>
          <a:p>
            <a:pPr algn="l"/>
            <a:r>
              <a:rPr sz="950" b="1" i="0">
                <a:solidFill>
                  <a:srgbClr val="8A8A80"/>
                </a:solidFill>
                <a:latin typeface="Calibri"/>
              </a:rPr>
              <a:t>REBUILT STATE</a:t>
            </a:r>
          </a:p>
        </p:txBody>
      </p:sp>
      <p:sp>
        <p:nvSpPr>
          <p:cNvPr id="3" name="TextBox 2"/>
          <p:cNvSpPr txBox="1"/>
          <p:nvPr/>
        </p:nvSpPr>
        <p:spPr>
          <a:xfrm>
            <a:off x="640080" y="585216"/>
            <a:ext cx="10881360" cy="566928"/>
          </a:xfrm>
          <a:prstGeom prst="rect">
            <a:avLst/>
          </a:prstGeom>
          <a:noFill/>
        </p:spPr>
        <p:txBody>
          <a:bodyPr wrap="square" lIns="0" rIns="0" tIns="0" bIns="0" anchor="ctr">
            <a:spAutoFit/>
          </a:bodyPr>
          <a:lstStyle/>
          <a:p>
            <a:pPr algn="l"/>
            <a:r>
              <a:rPr sz="2700" b="1" i="0">
                <a:solidFill>
                  <a:srgbClr val="24241F"/>
                </a:solidFill>
                <a:latin typeface="Cambria"/>
              </a:rPr>
              <a:t>How the agentic loop actually runs</a:t>
            </a:r>
          </a:p>
        </p:txBody>
      </p:sp>
      <p:sp>
        <p:nvSpPr>
          <p:cNvPr id="4" name="TextBox 3"/>
          <p:cNvSpPr txBox="1"/>
          <p:nvPr/>
        </p:nvSpPr>
        <p:spPr>
          <a:xfrm>
            <a:off x="640080" y="1188720"/>
            <a:ext cx="10607040" cy="310896"/>
          </a:xfrm>
          <a:prstGeom prst="rect">
            <a:avLst/>
          </a:prstGeom>
          <a:noFill/>
        </p:spPr>
        <p:txBody>
          <a:bodyPr wrap="square" lIns="0" rIns="0" tIns="0" bIns="0" anchor="ctr">
            <a:spAutoFit/>
          </a:bodyPr>
          <a:lstStyle/>
          <a:p>
            <a:pPr algn="l"/>
            <a:r>
              <a:rPr sz="1350" b="0" i="0">
                <a:solidFill>
                  <a:srgbClr val="6E6E66"/>
                </a:solidFill>
                <a:latin typeface="Calibri"/>
              </a:rPr>
              <a:t>The detail behind the four stages, including what it still cannot do</a:t>
            </a:r>
          </a:p>
        </p:txBody>
      </p:sp>
      <p:sp>
        <p:nvSpPr>
          <p:cNvPr id="5" name="TextBox 4"/>
          <p:cNvSpPr txBox="1"/>
          <p:nvPr/>
        </p:nvSpPr>
        <p:spPr>
          <a:xfrm>
            <a:off x="640080" y="1783080"/>
            <a:ext cx="5212080" cy="310896"/>
          </a:xfrm>
          <a:prstGeom prst="rect">
            <a:avLst/>
          </a:prstGeom>
          <a:noFill/>
        </p:spPr>
        <p:txBody>
          <a:bodyPr wrap="square" lIns="0" rIns="0" tIns="0" bIns="0" anchor="t">
            <a:spAutoFit/>
          </a:bodyPr>
          <a:lstStyle/>
          <a:p>
            <a:pPr algn="l"/>
            <a:r>
              <a:rPr sz="1600" b="1" i="0">
                <a:solidFill>
                  <a:srgbClr val="2C5F2D"/>
                </a:solidFill>
                <a:latin typeface="Cambria"/>
              </a:rPr>
              <a:t>What the agent does each run</a:t>
            </a:r>
          </a:p>
        </p:txBody>
      </p:sp>
      <p:sp>
        <p:nvSpPr>
          <p:cNvPr id="6" name="TextBox 5"/>
          <p:cNvSpPr txBox="1"/>
          <p:nvPr/>
        </p:nvSpPr>
        <p:spPr>
          <a:xfrm>
            <a:off x="640080" y="2167128"/>
            <a:ext cx="5212080" cy="1463040"/>
          </a:xfrm>
          <a:prstGeom prst="rect">
            <a:avLst/>
          </a:prstGeom>
          <a:noFill/>
        </p:spPr>
        <p:txBody>
          <a:bodyPr wrap="square" lIns="0" rIns="0" tIns="0" bIns="0" anchor="t">
            <a:spAutoFit/>
          </a:bodyPr>
          <a:lstStyle/>
          <a:p>
            <a:pPr algn="l">
              <a:lnSpc>
                <a:spcPts val="1700"/>
              </a:lnSpc>
            </a:pPr>
            <a:r>
              <a:rPr sz="1250" b="0" i="0">
                <a:solidFill>
                  <a:srgbClr val="3A3A34"/>
                </a:solidFill>
                <a:latin typeface="Calibri"/>
              </a:rPr>
              <a:t>Every product is read, not the hundred that fit into a morning. The agent compares recent movement by channel against stock on hand and stock in transit, checks what each supplier is currently quoting for delivery, and sizes a reorder. Every number carries a confidence score and the sentences explaining how it was reached.</a:t>
            </a:r>
          </a:p>
        </p:txBody>
      </p:sp>
      <p:sp>
        <p:nvSpPr>
          <p:cNvPr id="7" name="TextBox 6"/>
          <p:cNvSpPr txBox="1"/>
          <p:nvPr/>
        </p:nvSpPr>
        <p:spPr>
          <a:xfrm>
            <a:off x="6309360" y="1783080"/>
            <a:ext cx="5212080" cy="310896"/>
          </a:xfrm>
          <a:prstGeom prst="rect">
            <a:avLst/>
          </a:prstGeom>
          <a:noFill/>
        </p:spPr>
        <p:txBody>
          <a:bodyPr wrap="square" lIns="0" rIns="0" tIns="0" bIns="0" anchor="t">
            <a:spAutoFit/>
          </a:bodyPr>
          <a:lstStyle/>
          <a:p>
            <a:pPr algn="l"/>
            <a:r>
              <a:rPr sz="1600" b="1" i="0">
                <a:solidFill>
                  <a:srgbClr val="2C5F2D"/>
                </a:solidFill>
                <a:latin typeface="Cambria"/>
              </a:rPr>
              <a:t>Where the human stays in charge</a:t>
            </a:r>
          </a:p>
        </p:txBody>
      </p:sp>
      <p:sp>
        <p:nvSpPr>
          <p:cNvPr id="8" name="TextBox 7"/>
          <p:cNvSpPr txBox="1"/>
          <p:nvPr/>
        </p:nvSpPr>
        <p:spPr>
          <a:xfrm>
            <a:off x="6309360" y="2167128"/>
            <a:ext cx="5212080" cy="1463040"/>
          </a:xfrm>
          <a:prstGeom prst="rect">
            <a:avLst/>
          </a:prstGeom>
          <a:noFill/>
        </p:spPr>
        <p:txBody>
          <a:bodyPr wrap="square" lIns="0" rIns="0" tIns="0" bIns="0" anchor="t">
            <a:spAutoFit/>
          </a:bodyPr>
          <a:lstStyle/>
          <a:p>
            <a:pPr algn="l">
              <a:lnSpc>
                <a:spcPts val="1700"/>
              </a:lnSpc>
            </a:pPr>
            <a:r>
              <a:rPr sz="1250" b="0" i="0">
                <a:solidFill>
                  <a:srgbClr val="3A3A34"/>
                </a:solidFill>
                <a:latin typeface="Calibri"/>
              </a:rPr>
              <a:t>The planner sets how much freedom the agent has, and that dial has a floor beneath which nothing is approved automatically. Anything the agent is unsure about, or anything about to go out of stock, is held for a person and ranked by what it costs. Approvals, edits and rejections are all recorded with the reason given.</a:t>
            </a:r>
          </a:p>
        </p:txBody>
      </p:sp>
      <p:sp>
        <p:nvSpPr>
          <p:cNvPr id="9" name="TextBox 8"/>
          <p:cNvSpPr txBox="1"/>
          <p:nvPr/>
        </p:nvSpPr>
        <p:spPr>
          <a:xfrm>
            <a:off x="640080" y="3794760"/>
            <a:ext cx="5212080" cy="310896"/>
          </a:xfrm>
          <a:prstGeom prst="rect">
            <a:avLst/>
          </a:prstGeom>
          <a:noFill/>
        </p:spPr>
        <p:txBody>
          <a:bodyPr wrap="square" lIns="0" rIns="0" tIns="0" bIns="0" anchor="t">
            <a:spAutoFit/>
          </a:bodyPr>
          <a:lstStyle/>
          <a:p>
            <a:pPr algn="l"/>
            <a:r>
              <a:rPr sz="1600" b="1" i="0">
                <a:solidFill>
                  <a:srgbClr val="2C5F2D"/>
                </a:solidFill>
                <a:latin typeface="Cambria"/>
              </a:rPr>
              <a:t>What this actually changes</a:t>
            </a:r>
          </a:p>
        </p:txBody>
      </p:sp>
      <p:sp>
        <p:nvSpPr>
          <p:cNvPr id="10" name="TextBox 9"/>
          <p:cNvSpPr txBox="1"/>
          <p:nvPr/>
        </p:nvSpPr>
        <p:spPr>
          <a:xfrm>
            <a:off x="640080" y="4178808"/>
            <a:ext cx="5212080" cy="1463040"/>
          </a:xfrm>
          <a:prstGeom prst="rect">
            <a:avLst/>
          </a:prstGeom>
          <a:noFill/>
        </p:spPr>
        <p:txBody>
          <a:bodyPr wrap="square" lIns="0" rIns="0" tIns="0" bIns="0" anchor="t">
            <a:spAutoFit/>
          </a:bodyPr>
          <a:lstStyle/>
          <a:p>
            <a:pPr algn="l">
              <a:lnSpc>
                <a:spcPts val="1700"/>
              </a:lnSpc>
            </a:pPr>
            <a:r>
              <a:rPr sz="1250" b="0" i="0">
                <a:solidFill>
                  <a:srgbClr val="3A3A34"/>
                </a:solidFill>
                <a:latin typeface="Calibri"/>
              </a:rPr>
              <a:t>The long tail stops being invisible. A product selling twice a quarter gets the same assessment as a bestseller, and where there is too little history to judge, the agent says so rather than inventing a number. The reasoning behind every order now outlives the moment it was made, which is the part that never survived before.</a:t>
            </a:r>
          </a:p>
        </p:txBody>
      </p:sp>
      <p:sp>
        <p:nvSpPr>
          <p:cNvPr id="11" name="TextBox 10"/>
          <p:cNvSpPr txBox="1"/>
          <p:nvPr/>
        </p:nvSpPr>
        <p:spPr>
          <a:xfrm>
            <a:off x="6309360" y="3794760"/>
            <a:ext cx="5212080" cy="310896"/>
          </a:xfrm>
          <a:prstGeom prst="rect">
            <a:avLst/>
          </a:prstGeom>
          <a:noFill/>
        </p:spPr>
        <p:txBody>
          <a:bodyPr wrap="square" lIns="0" rIns="0" tIns="0" bIns="0" anchor="t">
            <a:spAutoFit/>
          </a:bodyPr>
          <a:lstStyle/>
          <a:p>
            <a:pPr algn="l"/>
            <a:r>
              <a:rPr sz="1600" b="1" i="0">
                <a:solidFill>
                  <a:srgbClr val="2C5F2D"/>
                </a:solidFill>
                <a:latin typeface="Cambria"/>
              </a:rPr>
              <a:t>What it still cannot do</a:t>
            </a:r>
          </a:p>
        </p:txBody>
      </p:sp>
      <p:sp>
        <p:nvSpPr>
          <p:cNvPr id="12" name="TextBox 11"/>
          <p:cNvSpPr txBox="1"/>
          <p:nvPr/>
        </p:nvSpPr>
        <p:spPr>
          <a:xfrm>
            <a:off x="6309360" y="4178808"/>
            <a:ext cx="5212080" cy="1463040"/>
          </a:xfrm>
          <a:prstGeom prst="rect">
            <a:avLst/>
          </a:prstGeom>
          <a:noFill/>
        </p:spPr>
        <p:txBody>
          <a:bodyPr wrap="square" lIns="0" rIns="0" tIns="0" bIns="0" anchor="t">
            <a:spAutoFit/>
          </a:bodyPr>
          <a:lstStyle/>
          <a:p>
            <a:pPr algn="l">
              <a:lnSpc>
                <a:spcPts val="1700"/>
              </a:lnSpc>
            </a:pPr>
            <a:r>
              <a:rPr sz="1250">
                <a:solidFill>
                  <a:srgbClr val="3A3A34"/>
                </a:solidFill>
                <a:latin typeface="Calibri"/>
              </a:rPr>
              <a:t>It holds one pooled stock figure, so it cannot spread inventory across shops. BOPIS (buy online, pick up in store) and BORIS (buy online, return in store) were never modelled — each changes what available stock means. And it does not yet learn: corrections are logged but change nothing.</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10881360" cy="566928"/>
          </a:xfrm>
          <a:prstGeom prst="rect">
            <a:avLst/>
          </a:prstGeom>
          <a:noFill/>
          <a:ln/>
        </p:spPr>
        <p:txBody>
          <a:bodyPr wrap="square" lIns="0" tIns="0" rIns="0" bIns="0" rtlCol="0" anchor="ctr"/>
          <a:lstStyle/>
          <a:p>
            <a:pPr marL="0" indent="0">
              <a:buNone/>
            </a:pPr>
            <a:r>
              <a:rPr lang="en-US" sz="3300" b="1" dirty="0">
                <a:solidFill>
                  <a:srgbClr val="2C5F2D"/>
                </a:solidFill>
                <a:latin typeface="Cambria" pitchFamily="34" charset="0"/>
                <a:ea typeface="Cambria" pitchFamily="34" charset="-122"/>
                <a:cs typeface="Cambria" pitchFamily="34" charset="-120"/>
              </a:rPr>
              <a:t>The four hard cases, with the real numbers</a:t>
            </a:r>
            <a:endParaRPr lang="en-US" sz="3300" dirty="0"/>
          </a:p>
        </p:txBody>
      </p:sp>
      <p:sp>
        <p:nvSpPr>
          <p:cNvPr id="3" name="Text 1"/>
          <p:cNvSpPr/>
          <p:nvPr/>
        </p:nvSpPr>
        <p:spPr>
          <a:xfrm>
            <a:off x="640080" y="1042416"/>
            <a:ext cx="10424160" cy="384048"/>
          </a:xfrm>
          <a:prstGeom prst="rect">
            <a:avLst/>
          </a:prstGeom>
          <a:noFill/>
          <a:ln/>
        </p:spPr>
        <p:txBody>
          <a:bodyPr wrap="square" lIns="0" tIns="0" rIns="0" bIns="0" rtlCol="0" anchor="ctr"/>
          <a:lstStyle/>
          <a:p>
            <a:pPr marL="0" indent="0">
              <a:buNone/>
            </a:pPr>
            <a:r>
              <a:rPr lang="en-US" sz="1500" dirty="0">
                <a:solidFill>
                  <a:srgbClr val="6E6E66"/>
                </a:solidFill>
                <a:latin typeface="Calibri" pitchFamily="34" charset="0"/>
                <a:ea typeface="Calibri" pitchFamily="34" charset="-122"/>
                <a:cs typeface="Calibri" pitchFamily="34" charset="-120"/>
              </a:rPr>
              <a:t>Each one a realistic way a naive calculation goes wrong</a:t>
            </a:r>
            <a:endParaRPr lang="en-US" sz="1500" dirty="0"/>
          </a:p>
        </p:txBody>
      </p:sp>
      <p:sp>
        <p:nvSpPr>
          <p:cNvPr id="4" name="Shape 2"/>
          <p:cNvSpPr/>
          <p:nvPr/>
        </p:nvSpPr>
        <p:spPr>
          <a:xfrm>
            <a:off x="640080" y="1874520"/>
            <a:ext cx="2148840" cy="411480"/>
          </a:xfrm>
          <a:prstGeom prst="rect">
            <a:avLst/>
          </a:prstGeom>
          <a:solidFill>
            <a:srgbClr val="2C5F2D"/>
          </a:solidFill>
          <a:ln/>
        </p:spPr>
        <p:txBody>
          <a:bodyPr/>
          <a:p/>
        </p:txBody>
      </p:sp>
      <p:sp>
        <p:nvSpPr>
          <p:cNvPr id="5" name="Text 3"/>
          <p:cNvSpPr/>
          <p:nvPr/>
        </p:nvSpPr>
        <p:spPr>
          <a:xfrm>
            <a:off x="768096" y="1874520"/>
            <a:ext cx="1892808" cy="411480"/>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Case</a:t>
            </a:r>
            <a:endParaRPr lang="en-US" sz="1250" dirty="0"/>
          </a:p>
        </p:txBody>
      </p:sp>
      <p:sp>
        <p:nvSpPr>
          <p:cNvPr id="6" name="Shape 4"/>
          <p:cNvSpPr/>
          <p:nvPr/>
        </p:nvSpPr>
        <p:spPr>
          <a:xfrm>
            <a:off x="2788920" y="1874520"/>
            <a:ext cx="3520440" cy="411480"/>
          </a:xfrm>
          <a:prstGeom prst="rect">
            <a:avLst/>
          </a:prstGeom>
          <a:solidFill>
            <a:srgbClr val="2C5F2D"/>
          </a:solidFill>
          <a:ln/>
        </p:spPr>
        <p:txBody>
          <a:bodyPr/>
          <a:p/>
        </p:txBody>
      </p:sp>
      <p:sp>
        <p:nvSpPr>
          <p:cNvPr id="7" name="Text 5"/>
          <p:cNvSpPr/>
          <p:nvPr/>
        </p:nvSpPr>
        <p:spPr>
          <a:xfrm>
            <a:off x="2916936" y="1874520"/>
            <a:ext cx="3264408" cy="411480"/>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What happens in the data</a:t>
            </a:r>
            <a:endParaRPr lang="en-US" sz="1250" dirty="0"/>
          </a:p>
        </p:txBody>
      </p:sp>
      <p:sp>
        <p:nvSpPr>
          <p:cNvPr id="8" name="Shape 6"/>
          <p:cNvSpPr/>
          <p:nvPr/>
        </p:nvSpPr>
        <p:spPr>
          <a:xfrm>
            <a:off x="6309360" y="1874520"/>
            <a:ext cx="4114800" cy="411480"/>
          </a:xfrm>
          <a:prstGeom prst="rect">
            <a:avLst/>
          </a:prstGeom>
          <a:solidFill>
            <a:srgbClr val="2C5F2D"/>
          </a:solidFill>
          <a:ln/>
        </p:spPr>
        <p:txBody>
          <a:bodyPr/>
          <a:p/>
        </p:txBody>
      </p:sp>
      <p:sp>
        <p:nvSpPr>
          <p:cNvPr id="9" name="Text 7"/>
          <p:cNvSpPr/>
          <p:nvPr/>
        </p:nvSpPr>
        <p:spPr>
          <a:xfrm>
            <a:off x="6437376" y="1874520"/>
            <a:ext cx="3858768" cy="411480"/>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What the agent does</a:t>
            </a:r>
            <a:endParaRPr lang="en-US" sz="1250" dirty="0"/>
          </a:p>
        </p:txBody>
      </p:sp>
      <p:sp>
        <p:nvSpPr>
          <p:cNvPr id="10" name="Shape 8"/>
          <p:cNvSpPr/>
          <p:nvPr/>
        </p:nvSpPr>
        <p:spPr>
          <a:xfrm>
            <a:off x="10424160" y="1874520"/>
            <a:ext cx="1097280" cy="411480"/>
          </a:xfrm>
          <a:prstGeom prst="rect">
            <a:avLst/>
          </a:prstGeom>
          <a:solidFill>
            <a:srgbClr val="2C5F2D"/>
          </a:solidFill>
          <a:ln/>
        </p:spPr>
        <p:txBody>
          <a:bodyPr/>
          <a:p/>
        </p:txBody>
      </p:sp>
      <p:sp>
        <p:nvSpPr>
          <p:cNvPr id="11" name="Text 9"/>
          <p:cNvSpPr/>
          <p:nvPr/>
        </p:nvSpPr>
        <p:spPr>
          <a:xfrm>
            <a:off x="10552176" y="1874520"/>
            <a:ext cx="841248" cy="411480"/>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Conf.</a:t>
            </a:r>
            <a:endParaRPr lang="en-US" sz="1250" dirty="0"/>
          </a:p>
        </p:txBody>
      </p:sp>
      <p:sp>
        <p:nvSpPr>
          <p:cNvPr id="12" name="Shape 10"/>
          <p:cNvSpPr/>
          <p:nvPr/>
        </p:nvSpPr>
        <p:spPr>
          <a:xfrm>
            <a:off x="640080" y="2286000"/>
            <a:ext cx="2148840" cy="786384"/>
          </a:xfrm>
          <a:prstGeom prst="rect">
            <a:avLst/>
          </a:prstGeom>
          <a:solidFill>
            <a:srgbClr val="FFFFFF"/>
          </a:solidFill>
          <a:ln w="9525">
            <a:solidFill>
              <a:srgbClr val="E2E8DC"/>
            </a:solidFill>
            <a:prstDash val="solid"/>
          </a:ln>
        </p:spPr>
        <p:txBody>
          <a:bodyPr/>
          <a:p/>
        </p:txBody>
      </p:sp>
      <p:sp>
        <p:nvSpPr>
          <p:cNvPr id="13" name="Text 11"/>
          <p:cNvSpPr/>
          <p:nvPr/>
        </p:nvSpPr>
        <p:spPr>
          <a:xfrm>
            <a:off x="768096" y="2286000"/>
            <a:ext cx="1892808" cy="786384"/>
          </a:xfrm>
          <a:prstGeom prst="rect">
            <a:avLst/>
          </a:prstGeom>
          <a:noFill/>
          <a:ln/>
        </p:spPr>
        <p:txBody>
          <a:bodyPr wrap="square" lIns="0" tIns="0" rIns="0" bIns="0" rtlCol="0" anchor="ctr"/>
          <a:lstStyle/>
          <a:p>
            <a:pPr marL="0" indent="0">
              <a:lnSpc>
                <a:spcPts val="1500"/>
              </a:lnSpc>
              <a:buNone/>
            </a:pPr>
            <a:r>
              <a:rPr lang="en-US" sz="1300" b="1" dirty="0">
                <a:solidFill>
                  <a:srgbClr val="24241F"/>
                </a:solidFill>
                <a:latin typeface="Calibri" pitchFamily="34" charset="0"/>
                <a:ea typeface="Calibri" pitchFamily="34" charset="-122"/>
                <a:cs typeface="Calibri" pitchFamily="34" charset="-120"/>
              </a:rPr>
              <a:t>Demand spike</a:t>
            </a:r>
            <a:endParaRPr lang="en-US" sz="1300" dirty="0"/>
          </a:p>
        </p:txBody>
      </p:sp>
      <p:sp>
        <p:nvSpPr>
          <p:cNvPr id="14" name="Shape 12"/>
          <p:cNvSpPr/>
          <p:nvPr/>
        </p:nvSpPr>
        <p:spPr>
          <a:xfrm>
            <a:off x="2788920" y="2286000"/>
            <a:ext cx="3520440" cy="786384"/>
          </a:xfrm>
          <a:prstGeom prst="rect">
            <a:avLst/>
          </a:prstGeom>
          <a:solidFill>
            <a:srgbClr val="FFFFFF"/>
          </a:solidFill>
          <a:ln w="9525">
            <a:solidFill>
              <a:srgbClr val="E2E8DC"/>
            </a:solidFill>
            <a:prstDash val="solid"/>
          </a:ln>
        </p:spPr>
        <p:txBody>
          <a:bodyPr/>
          <a:p/>
        </p:txBody>
      </p:sp>
      <p:sp>
        <p:nvSpPr>
          <p:cNvPr id="15" name="Text 13"/>
          <p:cNvSpPr/>
          <p:nvPr/>
        </p:nvSpPr>
        <p:spPr>
          <a:xfrm>
            <a:off x="2916936" y="2286000"/>
            <a:ext cx="3264408" cy="786384"/>
          </a:xfrm>
          <a:prstGeom prst="rect">
            <a:avLst/>
          </a:prstGeom>
          <a:noFill/>
          <a:ln/>
        </p:spPr>
        <p:txBody>
          <a:bodyPr wrap="square" lIns="0" tIns="0" rIns="0" bIns="0" rtlCol="0" anchor="ctr"/>
          <a:lstStyle/>
          <a:p>
            <a:pPr marL="0" indent="0">
              <a:lnSpc>
                <a:spcPts val="1500"/>
              </a:lnSpc>
              <a:buNone/>
            </a:pPr>
            <a:r>
              <a:rPr lang="en-US" sz="1200" dirty="0">
                <a:solidFill>
                  <a:srgbClr val="24241F"/>
                </a:solidFill>
                <a:latin typeface="Calibri" pitchFamily="34" charset="0"/>
                <a:ea typeface="Calibri" pitchFamily="34" charset="-122"/>
                <a:cs typeface="Calibri" pitchFamily="34" charset="-120"/>
              </a:rPr>
              <a:t>Jacket sells 39/wk, then 188 · 176 · 188</a:t>
            </a:r>
            <a:endParaRPr lang="en-US" sz="1200" dirty="0"/>
          </a:p>
        </p:txBody>
      </p:sp>
      <p:sp>
        <p:nvSpPr>
          <p:cNvPr id="16" name="Shape 14"/>
          <p:cNvSpPr/>
          <p:nvPr/>
        </p:nvSpPr>
        <p:spPr>
          <a:xfrm>
            <a:off x="6309360" y="2286000"/>
            <a:ext cx="4114800" cy="786384"/>
          </a:xfrm>
          <a:prstGeom prst="rect">
            <a:avLst/>
          </a:prstGeom>
          <a:solidFill>
            <a:srgbClr val="FFFFFF"/>
          </a:solidFill>
          <a:ln w="9525">
            <a:solidFill>
              <a:srgbClr val="E2E8DC"/>
            </a:solidFill>
            <a:prstDash val="solid"/>
          </a:ln>
        </p:spPr>
        <p:txBody>
          <a:bodyPr/>
          <a:p/>
        </p:txBody>
      </p:sp>
      <p:sp>
        <p:nvSpPr>
          <p:cNvPr id="17" name="Text 15"/>
          <p:cNvSpPr/>
          <p:nvPr/>
        </p:nvSpPr>
        <p:spPr>
          <a:xfrm>
            <a:off x="6437376" y="2286000"/>
            <a:ext cx="3858768" cy="786384"/>
          </a:xfrm>
          <a:prstGeom prst="rect">
            <a:avLst/>
          </a:prstGeom>
          <a:noFill/>
          <a:ln/>
        </p:spPr>
        <p:txBody>
          <a:bodyPr wrap="square" lIns="0" tIns="0" rIns="0" bIns="0" rtlCol="0" anchor="ctr"/>
          <a:lstStyle/>
          <a:p>
            <a:pPr marL="0" indent="0">
              <a:lnSpc>
                <a:spcPts val="1500"/>
              </a:lnSpc>
              <a:buNone/>
            </a:pPr>
            <a:r>
              <a:rPr lang="en-US" sz="1200" dirty="0">
                <a:solidFill>
                  <a:srgbClr val="24241F"/>
                </a:solidFill>
                <a:latin typeface="Calibri" pitchFamily="34" charset="0"/>
                <a:ea typeface="Calibri" pitchFamily="34" charset="-122"/>
                <a:cs typeface="Calibri" pitchFamily="34" charset="-120"/>
              </a:rPr>
              <a:t>Sizes against 42/wk — flagged weeks excluded, not smoothed</a:t>
            </a:r>
            <a:endParaRPr lang="en-US" sz="1200" dirty="0"/>
          </a:p>
        </p:txBody>
      </p:sp>
      <p:sp>
        <p:nvSpPr>
          <p:cNvPr id="18" name="Shape 16"/>
          <p:cNvSpPr/>
          <p:nvPr/>
        </p:nvSpPr>
        <p:spPr>
          <a:xfrm>
            <a:off x="10424160" y="2286000"/>
            <a:ext cx="1097280" cy="786384"/>
          </a:xfrm>
          <a:prstGeom prst="rect">
            <a:avLst/>
          </a:prstGeom>
          <a:solidFill>
            <a:srgbClr val="FFFFFF"/>
          </a:solidFill>
          <a:ln w="9525">
            <a:solidFill>
              <a:srgbClr val="E2E8DC"/>
            </a:solidFill>
            <a:prstDash val="solid"/>
          </a:ln>
        </p:spPr>
        <p:txBody>
          <a:bodyPr/>
          <a:p/>
        </p:txBody>
      </p:sp>
      <p:sp>
        <p:nvSpPr>
          <p:cNvPr id="19" name="Text 17"/>
          <p:cNvSpPr/>
          <p:nvPr/>
        </p:nvSpPr>
        <p:spPr>
          <a:xfrm>
            <a:off x="10552176" y="2286000"/>
            <a:ext cx="841248" cy="786384"/>
          </a:xfrm>
          <a:prstGeom prst="rect">
            <a:avLst/>
          </a:prstGeom>
          <a:noFill/>
          <a:ln/>
        </p:spPr>
        <p:txBody>
          <a:bodyPr wrap="square" lIns="0" tIns="0" rIns="0" bIns="0" rtlCol="0" anchor="ctr"/>
          <a:lstStyle/>
          <a:p>
            <a:pPr marL="0" indent="0">
              <a:lnSpc>
                <a:spcPts val="1500"/>
              </a:lnSpc>
              <a:buNone/>
            </a:pPr>
            <a:r>
              <a:rPr lang="en-US" sz="1200" b="1" dirty="0">
                <a:solidFill>
                  <a:srgbClr val="B85042"/>
                </a:solidFill>
                <a:latin typeface="Calibri" pitchFamily="34" charset="0"/>
                <a:ea typeface="Calibri" pitchFamily="34" charset="-122"/>
                <a:cs typeface="Calibri" pitchFamily="34" charset="-120"/>
              </a:rPr>
              <a:t>50%</a:t>
            </a:r>
            <a:endParaRPr lang="en-US" sz="1200" dirty="0"/>
          </a:p>
        </p:txBody>
      </p:sp>
      <p:sp>
        <p:nvSpPr>
          <p:cNvPr id="20" name="Shape 18"/>
          <p:cNvSpPr/>
          <p:nvPr/>
        </p:nvSpPr>
        <p:spPr>
          <a:xfrm>
            <a:off x="640080" y="3072384"/>
            <a:ext cx="2148840" cy="786384"/>
          </a:xfrm>
          <a:prstGeom prst="rect">
            <a:avLst/>
          </a:prstGeom>
          <a:solidFill>
            <a:srgbClr val="F4F6F1"/>
          </a:solidFill>
          <a:ln w="9525">
            <a:solidFill>
              <a:srgbClr val="E2E8DC"/>
            </a:solidFill>
            <a:prstDash val="solid"/>
          </a:ln>
        </p:spPr>
        <p:txBody>
          <a:bodyPr/>
          <a:p/>
        </p:txBody>
      </p:sp>
      <p:sp>
        <p:nvSpPr>
          <p:cNvPr id="21" name="Text 19"/>
          <p:cNvSpPr/>
          <p:nvPr/>
        </p:nvSpPr>
        <p:spPr>
          <a:xfrm>
            <a:off x="768096" y="3072384"/>
            <a:ext cx="1892808" cy="786384"/>
          </a:xfrm>
          <a:prstGeom prst="rect">
            <a:avLst/>
          </a:prstGeom>
          <a:noFill/>
          <a:ln/>
        </p:spPr>
        <p:txBody>
          <a:bodyPr wrap="square" lIns="0" tIns="0" rIns="0" bIns="0" rtlCol="0" anchor="ctr"/>
          <a:lstStyle/>
          <a:p>
            <a:pPr marL="0" indent="0">
              <a:lnSpc>
                <a:spcPts val="1500"/>
              </a:lnSpc>
              <a:buNone/>
            </a:pPr>
            <a:r>
              <a:rPr lang="en-US" sz="1300" b="1" dirty="0">
                <a:solidFill>
                  <a:srgbClr val="24241F"/>
                </a:solidFill>
                <a:latin typeface="Calibri" pitchFamily="34" charset="0"/>
                <a:ea typeface="Calibri" pitchFamily="34" charset="-122"/>
                <a:cs typeface="Calibri" pitchFamily="34" charset="-120"/>
              </a:rPr>
              <a:t>Lead-time shift</a:t>
            </a:r>
            <a:endParaRPr lang="en-US" sz="1300" dirty="0"/>
          </a:p>
        </p:txBody>
      </p:sp>
      <p:sp>
        <p:nvSpPr>
          <p:cNvPr id="22" name="Shape 20"/>
          <p:cNvSpPr/>
          <p:nvPr/>
        </p:nvSpPr>
        <p:spPr>
          <a:xfrm>
            <a:off x="2788920" y="3072384"/>
            <a:ext cx="3520440" cy="786384"/>
          </a:xfrm>
          <a:prstGeom prst="rect">
            <a:avLst/>
          </a:prstGeom>
          <a:solidFill>
            <a:srgbClr val="F4F6F1"/>
          </a:solidFill>
          <a:ln w="9525">
            <a:solidFill>
              <a:srgbClr val="E2E8DC"/>
            </a:solidFill>
            <a:prstDash val="solid"/>
          </a:ln>
        </p:spPr>
        <p:txBody>
          <a:bodyPr/>
          <a:p/>
        </p:txBody>
      </p:sp>
      <p:sp>
        <p:nvSpPr>
          <p:cNvPr id="23" name="Text 21"/>
          <p:cNvSpPr/>
          <p:nvPr/>
        </p:nvSpPr>
        <p:spPr>
          <a:xfrm>
            <a:off x="2916936" y="3072384"/>
            <a:ext cx="3264408" cy="786384"/>
          </a:xfrm>
          <a:prstGeom prst="rect">
            <a:avLst/>
          </a:prstGeom>
          <a:noFill/>
          <a:ln/>
        </p:spPr>
        <p:txBody>
          <a:bodyPr wrap="square" lIns="0" tIns="0" rIns="0" bIns="0" rtlCol="0" anchor="ctr"/>
          <a:lstStyle/>
          <a:p>
            <a:pPr marL="0" indent="0">
              <a:lnSpc>
                <a:spcPts val="1500"/>
              </a:lnSpc>
              <a:buNone/>
            </a:pPr>
            <a:r>
              <a:rPr lang="en-US" sz="1200" dirty="0">
                <a:solidFill>
                  <a:srgbClr val="24241F"/>
                </a:solidFill>
                <a:latin typeface="Calibri" pitchFamily="34" charset="0"/>
                <a:ea typeface="Calibri" pitchFamily="34" charset="-122"/>
                <a:cs typeface="Calibri" pitchFamily="34" charset="-120"/>
              </a:rPr>
              <a:t>Footwear supplier moves 21 → 45 days</a:t>
            </a:r>
            <a:endParaRPr lang="en-US" sz="1200" dirty="0"/>
          </a:p>
        </p:txBody>
      </p:sp>
      <p:sp>
        <p:nvSpPr>
          <p:cNvPr id="24" name="Shape 22"/>
          <p:cNvSpPr/>
          <p:nvPr/>
        </p:nvSpPr>
        <p:spPr>
          <a:xfrm>
            <a:off x="6309360" y="3072384"/>
            <a:ext cx="4114800" cy="786384"/>
          </a:xfrm>
          <a:prstGeom prst="rect">
            <a:avLst/>
          </a:prstGeom>
          <a:solidFill>
            <a:srgbClr val="F4F6F1"/>
          </a:solidFill>
          <a:ln w="9525">
            <a:solidFill>
              <a:srgbClr val="E2E8DC"/>
            </a:solidFill>
            <a:prstDash val="solid"/>
          </a:ln>
        </p:spPr>
        <p:txBody>
          <a:bodyPr/>
          <a:p/>
        </p:txBody>
      </p:sp>
      <p:sp>
        <p:nvSpPr>
          <p:cNvPr id="25" name="Text 23"/>
          <p:cNvSpPr/>
          <p:nvPr/>
        </p:nvSpPr>
        <p:spPr>
          <a:xfrm>
            <a:off x="6437376" y="3072384"/>
            <a:ext cx="3858768" cy="786384"/>
          </a:xfrm>
          <a:prstGeom prst="rect">
            <a:avLst/>
          </a:prstGeom>
          <a:noFill/>
          <a:ln/>
        </p:spPr>
        <p:txBody>
          <a:bodyPr wrap="square" lIns="0" tIns="0" rIns="0" bIns="0" rtlCol="0" anchor="ctr"/>
          <a:lstStyle/>
          <a:p>
            <a:pPr marL="0" indent="0">
              <a:lnSpc>
                <a:spcPts val="1500"/>
              </a:lnSpc>
              <a:buNone/>
            </a:pPr>
            <a:r>
              <a:rPr lang="en-US" sz="1200" dirty="0">
                <a:solidFill>
                  <a:srgbClr val="24241F"/>
                </a:solidFill>
                <a:latin typeface="Calibri" pitchFamily="34" charset="0"/>
                <a:ea typeface="Calibri" pitchFamily="34" charset="-122"/>
                <a:cs typeface="Calibri" pitchFamily="34" charset="-120"/>
              </a:rPr>
              <a:t>Reorder timing and quantity both re-based on current lead time</a:t>
            </a:r>
            <a:endParaRPr lang="en-US" sz="1200" dirty="0"/>
          </a:p>
        </p:txBody>
      </p:sp>
      <p:sp>
        <p:nvSpPr>
          <p:cNvPr id="26" name="Shape 24"/>
          <p:cNvSpPr/>
          <p:nvPr/>
        </p:nvSpPr>
        <p:spPr>
          <a:xfrm>
            <a:off x="10424160" y="3072384"/>
            <a:ext cx="1097280" cy="786384"/>
          </a:xfrm>
          <a:prstGeom prst="rect">
            <a:avLst/>
          </a:prstGeom>
          <a:solidFill>
            <a:srgbClr val="F4F6F1"/>
          </a:solidFill>
          <a:ln w="9525">
            <a:solidFill>
              <a:srgbClr val="E2E8DC"/>
            </a:solidFill>
            <a:prstDash val="solid"/>
          </a:ln>
        </p:spPr>
        <p:txBody>
          <a:bodyPr/>
          <a:p/>
        </p:txBody>
      </p:sp>
      <p:sp>
        <p:nvSpPr>
          <p:cNvPr id="27" name="Text 25"/>
          <p:cNvSpPr/>
          <p:nvPr/>
        </p:nvSpPr>
        <p:spPr>
          <a:xfrm>
            <a:off x="10552176" y="3072384"/>
            <a:ext cx="841248" cy="786384"/>
          </a:xfrm>
          <a:prstGeom prst="rect">
            <a:avLst/>
          </a:prstGeom>
          <a:noFill/>
          <a:ln/>
        </p:spPr>
        <p:txBody>
          <a:bodyPr wrap="square" lIns="0" tIns="0" rIns="0" bIns="0" rtlCol="0" anchor="ctr"/>
          <a:lstStyle/>
          <a:p>
            <a:pPr marL="0" indent="0">
              <a:lnSpc>
                <a:spcPts val="1500"/>
              </a:lnSpc>
              <a:buNone/>
            </a:pPr>
            <a:r>
              <a:rPr lang="en-US" sz="1200" b="1" dirty="0">
                <a:solidFill>
                  <a:srgbClr val="24241F"/>
                </a:solidFill>
                <a:latin typeface="Calibri" pitchFamily="34" charset="0"/>
                <a:ea typeface="Calibri" pitchFamily="34" charset="-122"/>
                <a:cs typeface="Calibri" pitchFamily="34" charset="-120"/>
              </a:rPr>
              <a:t>75%</a:t>
            </a:r>
            <a:endParaRPr lang="en-US" sz="1200" dirty="0"/>
          </a:p>
        </p:txBody>
      </p:sp>
      <p:sp>
        <p:nvSpPr>
          <p:cNvPr id="28" name="Shape 26"/>
          <p:cNvSpPr/>
          <p:nvPr/>
        </p:nvSpPr>
        <p:spPr>
          <a:xfrm>
            <a:off x="640080" y="3858768"/>
            <a:ext cx="2148840" cy="786384"/>
          </a:xfrm>
          <a:prstGeom prst="rect">
            <a:avLst/>
          </a:prstGeom>
          <a:solidFill>
            <a:srgbClr val="FFFFFF"/>
          </a:solidFill>
          <a:ln w="9525">
            <a:solidFill>
              <a:srgbClr val="E2E8DC"/>
            </a:solidFill>
            <a:prstDash val="solid"/>
          </a:ln>
        </p:spPr>
        <p:txBody>
          <a:bodyPr/>
          <a:p/>
        </p:txBody>
      </p:sp>
      <p:sp>
        <p:nvSpPr>
          <p:cNvPr id="29" name="Text 27"/>
          <p:cNvSpPr/>
          <p:nvPr/>
        </p:nvSpPr>
        <p:spPr>
          <a:xfrm>
            <a:off x="768096" y="3858768"/>
            <a:ext cx="1892808" cy="786384"/>
          </a:xfrm>
          <a:prstGeom prst="rect">
            <a:avLst/>
          </a:prstGeom>
          <a:noFill/>
          <a:ln/>
        </p:spPr>
        <p:txBody>
          <a:bodyPr wrap="square" lIns="0" tIns="0" rIns="0" bIns="0" rtlCol="0" anchor="ctr"/>
          <a:lstStyle/>
          <a:p>
            <a:pPr marL="0" indent="0">
              <a:lnSpc>
                <a:spcPts val="1500"/>
              </a:lnSpc>
              <a:buNone/>
            </a:pPr>
            <a:r>
              <a:rPr lang="en-US" sz="1300" b="1" dirty="0">
                <a:solidFill>
                  <a:srgbClr val="24241F"/>
                </a:solidFill>
                <a:latin typeface="Calibri" pitchFamily="34" charset="0"/>
                <a:ea typeface="Calibri" pitchFamily="34" charset="-122"/>
                <a:cs typeface="Calibri" pitchFamily="34" charset="-120"/>
              </a:rPr>
              <a:t>Long tail</a:t>
            </a:r>
            <a:endParaRPr lang="en-US" sz="1300" dirty="0"/>
          </a:p>
        </p:txBody>
      </p:sp>
      <p:sp>
        <p:nvSpPr>
          <p:cNvPr id="30" name="Shape 28"/>
          <p:cNvSpPr/>
          <p:nvPr/>
        </p:nvSpPr>
        <p:spPr>
          <a:xfrm>
            <a:off x="2788920" y="3858768"/>
            <a:ext cx="3520440" cy="786384"/>
          </a:xfrm>
          <a:prstGeom prst="rect">
            <a:avLst/>
          </a:prstGeom>
          <a:solidFill>
            <a:srgbClr val="FFFFFF"/>
          </a:solidFill>
          <a:ln w="9525">
            <a:solidFill>
              <a:srgbClr val="E2E8DC"/>
            </a:solidFill>
            <a:prstDash val="solid"/>
          </a:ln>
        </p:spPr>
        <p:txBody>
          <a:bodyPr/>
          <a:p/>
        </p:txBody>
      </p:sp>
      <p:sp>
        <p:nvSpPr>
          <p:cNvPr id="31" name="Text 29"/>
          <p:cNvSpPr/>
          <p:nvPr/>
        </p:nvSpPr>
        <p:spPr>
          <a:xfrm>
            <a:off x="2916936" y="3858768"/>
            <a:ext cx="3264408" cy="786384"/>
          </a:xfrm>
          <a:prstGeom prst="rect">
            <a:avLst/>
          </a:prstGeom>
          <a:noFill/>
          <a:ln/>
        </p:spPr>
        <p:txBody>
          <a:bodyPr wrap="square" lIns="0" tIns="0" rIns="0" bIns="0" rtlCol="0" anchor="ctr"/>
          <a:lstStyle/>
          <a:p>
            <a:pPr marL="0" indent="0">
              <a:lnSpc>
                <a:spcPts val="1500"/>
              </a:lnSpc>
              <a:buNone/>
            </a:pPr>
            <a:r>
              <a:rPr lang="en-US" sz="1200" dirty="0">
                <a:solidFill>
                  <a:srgbClr val="24241F"/>
                </a:solidFill>
                <a:latin typeface="Calibri" pitchFamily="34" charset="0"/>
                <a:ea typeface="Calibri" pitchFamily="34" charset="-122"/>
                <a:cs typeface="Calibri" pitchFamily="34" charset="-120"/>
              </a:rPr>
              <a:t>Buckle sells in 8 weeks of 26</a:t>
            </a:r>
            <a:endParaRPr lang="en-US" sz="1200" dirty="0"/>
          </a:p>
        </p:txBody>
      </p:sp>
      <p:sp>
        <p:nvSpPr>
          <p:cNvPr id="32" name="Shape 30"/>
          <p:cNvSpPr/>
          <p:nvPr/>
        </p:nvSpPr>
        <p:spPr>
          <a:xfrm>
            <a:off x="6309360" y="3858768"/>
            <a:ext cx="4114800" cy="786384"/>
          </a:xfrm>
          <a:prstGeom prst="rect">
            <a:avLst/>
          </a:prstGeom>
          <a:solidFill>
            <a:srgbClr val="FFFFFF"/>
          </a:solidFill>
          <a:ln w="9525">
            <a:solidFill>
              <a:srgbClr val="E2E8DC"/>
            </a:solidFill>
            <a:prstDash val="solid"/>
          </a:ln>
        </p:spPr>
        <p:txBody>
          <a:bodyPr/>
          <a:p/>
        </p:txBody>
      </p:sp>
      <p:sp>
        <p:nvSpPr>
          <p:cNvPr id="33" name="Text 31"/>
          <p:cNvSpPr/>
          <p:nvPr/>
        </p:nvSpPr>
        <p:spPr>
          <a:xfrm>
            <a:off x="6437376" y="3858768"/>
            <a:ext cx="3858768" cy="786384"/>
          </a:xfrm>
          <a:prstGeom prst="rect">
            <a:avLst/>
          </a:prstGeom>
          <a:noFill/>
          <a:ln/>
        </p:spPr>
        <p:txBody>
          <a:bodyPr wrap="square" lIns="0" tIns="0" rIns="0" bIns="0" rtlCol="0" anchor="ctr"/>
          <a:lstStyle/>
          <a:p>
            <a:pPr marL="0" indent="0">
              <a:lnSpc>
                <a:spcPts val="1500"/>
              </a:lnSpc>
              <a:buNone/>
            </a:pPr>
            <a:r>
              <a:rPr lang="en-US" sz="1200" dirty="0">
                <a:solidFill>
                  <a:srgbClr val="24241F"/>
                </a:solidFill>
                <a:latin typeface="Calibri" pitchFamily="34" charset="0"/>
                <a:ea typeface="Calibri" pitchFamily="34" charset="-122"/>
                <a:cs typeface="Calibri" pitchFamily="34" charset="-120"/>
              </a:rPr>
              <a:t>Declares insufficient history; cannot be auto-approved</a:t>
            </a:r>
            <a:endParaRPr lang="en-US" sz="1200" dirty="0"/>
          </a:p>
        </p:txBody>
      </p:sp>
      <p:sp>
        <p:nvSpPr>
          <p:cNvPr id="34" name="Shape 32"/>
          <p:cNvSpPr/>
          <p:nvPr/>
        </p:nvSpPr>
        <p:spPr>
          <a:xfrm>
            <a:off x="10424160" y="3858768"/>
            <a:ext cx="1097280" cy="786384"/>
          </a:xfrm>
          <a:prstGeom prst="rect">
            <a:avLst/>
          </a:prstGeom>
          <a:solidFill>
            <a:srgbClr val="FFFFFF"/>
          </a:solidFill>
          <a:ln w="9525">
            <a:solidFill>
              <a:srgbClr val="E2E8DC"/>
            </a:solidFill>
            <a:prstDash val="solid"/>
          </a:ln>
        </p:spPr>
        <p:txBody>
          <a:bodyPr/>
          <a:p/>
        </p:txBody>
      </p:sp>
      <p:sp>
        <p:nvSpPr>
          <p:cNvPr id="35" name="Text 33"/>
          <p:cNvSpPr/>
          <p:nvPr/>
        </p:nvSpPr>
        <p:spPr>
          <a:xfrm>
            <a:off x="10552176" y="3858768"/>
            <a:ext cx="841248" cy="786384"/>
          </a:xfrm>
          <a:prstGeom prst="rect">
            <a:avLst/>
          </a:prstGeom>
          <a:noFill/>
          <a:ln/>
        </p:spPr>
        <p:txBody>
          <a:bodyPr wrap="square" lIns="0" tIns="0" rIns="0" bIns="0" rtlCol="0" anchor="ctr"/>
          <a:lstStyle/>
          <a:p>
            <a:pPr marL="0" indent="0">
              <a:lnSpc>
                <a:spcPts val="1500"/>
              </a:lnSpc>
              <a:buNone/>
            </a:pPr>
            <a:r>
              <a:rPr lang="en-US" sz="1200" b="1" dirty="0">
                <a:solidFill>
                  <a:srgbClr val="B85042"/>
                </a:solidFill>
                <a:latin typeface="Calibri" pitchFamily="34" charset="0"/>
                <a:ea typeface="Calibri" pitchFamily="34" charset="-122"/>
                <a:cs typeface="Calibri" pitchFamily="34" charset="-120"/>
              </a:rPr>
              <a:t>40%</a:t>
            </a:r>
            <a:endParaRPr lang="en-US" sz="1200" dirty="0"/>
          </a:p>
        </p:txBody>
      </p:sp>
      <p:sp>
        <p:nvSpPr>
          <p:cNvPr id="36" name="Shape 34"/>
          <p:cNvSpPr/>
          <p:nvPr/>
        </p:nvSpPr>
        <p:spPr>
          <a:xfrm>
            <a:off x="640080" y="4645152"/>
            <a:ext cx="2148840" cy="786384"/>
          </a:xfrm>
          <a:prstGeom prst="rect">
            <a:avLst/>
          </a:prstGeom>
          <a:solidFill>
            <a:srgbClr val="F4F6F1"/>
          </a:solidFill>
          <a:ln w="9525">
            <a:solidFill>
              <a:srgbClr val="E2E8DC"/>
            </a:solidFill>
            <a:prstDash val="solid"/>
          </a:ln>
        </p:spPr>
        <p:txBody>
          <a:bodyPr/>
          <a:p/>
        </p:txBody>
      </p:sp>
      <p:sp>
        <p:nvSpPr>
          <p:cNvPr id="37" name="Text 35"/>
          <p:cNvSpPr/>
          <p:nvPr/>
        </p:nvSpPr>
        <p:spPr>
          <a:xfrm>
            <a:off x="768096" y="4645152"/>
            <a:ext cx="1892808" cy="786384"/>
          </a:xfrm>
          <a:prstGeom prst="rect">
            <a:avLst/>
          </a:prstGeom>
          <a:noFill/>
          <a:ln/>
        </p:spPr>
        <p:txBody>
          <a:bodyPr wrap="square" lIns="0" tIns="0" rIns="0" bIns="0" rtlCol="0" anchor="ctr"/>
          <a:lstStyle/>
          <a:p>
            <a:pPr marL="0" indent="0">
              <a:lnSpc>
                <a:spcPts val="1500"/>
              </a:lnSpc>
              <a:buNone/>
            </a:pPr>
            <a:r>
              <a:rPr lang="en-US" sz="1300" b="1" dirty="0">
                <a:solidFill>
                  <a:srgbClr val="24241F"/>
                </a:solidFill>
                <a:latin typeface="Calibri" pitchFamily="34" charset="0"/>
                <a:ea typeface="Calibri" pitchFamily="34" charset="-122"/>
                <a:cs typeface="Calibri" pitchFamily="34" charset="-120"/>
              </a:rPr>
              <a:t>Channel shift</a:t>
            </a:r>
            <a:endParaRPr lang="en-US" sz="1300" dirty="0"/>
          </a:p>
        </p:txBody>
      </p:sp>
      <p:sp>
        <p:nvSpPr>
          <p:cNvPr id="38" name="Shape 36"/>
          <p:cNvSpPr/>
          <p:nvPr/>
        </p:nvSpPr>
        <p:spPr>
          <a:xfrm>
            <a:off x="2788920" y="4645152"/>
            <a:ext cx="3520440" cy="786384"/>
          </a:xfrm>
          <a:prstGeom prst="rect">
            <a:avLst/>
          </a:prstGeom>
          <a:solidFill>
            <a:srgbClr val="F4F6F1"/>
          </a:solidFill>
          <a:ln w="9525">
            <a:solidFill>
              <a:srgbClr val="E2E8DC"/>
            </a:solidFill>
            <a:prstDash val="solid"/>
          </a:ln>
        </p:spPr>
        <p:txBody>
          <a:bodyPr/>
          <a:p/>
        </p:txBody>
      </p:sp>
      <p:sp>
        <p:nvSpPr>
          <p:cNvPr id="39" name="Text 37"/>
          <p:cNvSpPr/>
          <p:nvPr/>
        </p:nvSpPr>
        <p:spPr>
          <a:xfrm>
            <a:off x="2916936" y="4645152"/>
            <a:ext cx="3264408" cy="786384"/>
          </a:xfrm>
          <a:prstGeom prst="rect">
            <a:avLst/>
          </a:prstGeom>
          <a:noFill/>
          <a:ln/>
        </p:spPr>
        <p:txBody>
          <a:bodyPr wrap="square" lIns="0" tIns="0" rIns="0" bIns="0" rtlCol="0" anchor="ctr"/>
          <a:lstStyle/>
          <a:p>
            <a:pPr marL="0" indent="0">
              <a:lnSpc>
                <a:spcPts val="1500"/>
              </a:lnSpc>
              <a:buNone/>
            </a:pPr>
            <a:r>
              <a:rPr lang="en-US" sz="1200" dirty="0">
                <a:solidFill>
                  <a:srgbClr val="24241F"/>
                </a:solidFill>
                <a:latin typeface="Calibri" pitchFamily="34" charset="0"/>
                <a:ea typeface="Calibri" pitchFamily="34" charset="-122"/>
                <a:cs typeface="Calibri" pitchFamily="34" charset="-120"/>
              </a:rPr>
              <a:t>Total flat at ~30/wk; store 16→3, web 14→22</a:t>
            </a:r>
            <a:endParaRPr lang="en-US" sz="1200" dirty="0"/>
          </a:p>
        </p:txBody>
      </p:sp>
      <p:sp>
        <p:nvSpPr>
          <p:cNvPr id="40" name="Shape 38"/>
          <p:cNvSpPr/>
          <p:nvPr/>
        </p:nvSpPr>
        <p:spPr>
          <a:xfrm>
            <a:off x="6309360" y="4645152"/>
            <a:ext cx="4114800" cy="786384"/>
          </a:xfrm>
          <a:prstGeom prst="rect">
            <a:avLst/>
          </a:prstGeom>
          <a:solidFill>
            <a:srgbClr val="F4F6F1"/>
          </a:solidFill>
          <a:ln w="9525">
            <a:solidFill>
              <a:srgbClr val="E2E8DC"/>
            </a:solidFill>
            <a:prstDash val="solid"/>
          </a:ln>
        </p:spPr>
        <p:txBody>
          <a:bodyPr/>
          <a:p/>
        </p:txBody>
      </p:sp>
      <p:sp>
        <p:nvSpPr>
          <p:cNvPr id="41" name="Text 39"/>
          <p:cNvSpPr/>
          <p:nvPr/>
        </p:nvSpPr>
        <p:spPr>
          <a:xfrm>
            <a:off x="6437376" y="4645152"/>
            <a:ext cx="3858768" cy="786384"/>
          </a:xfrm>
          <a:prstGeom prst="rect">
            <a:avLst/>
          </a:prstGeom>
          <a:noFill/>
          <a:ln/>
        </p:spPr>
        <p:txBody>
          <a:bodyPr wrap="square" lIns="0" tIns="0" rIns="0" bIns="0" rtlCol="0" anchor="ctr"/>
          <a:lstStyle/>
          <a:p>
            <a:pPr marL="0" indent="0">
              <a:lnSpc>
                <a:spcPts val="1500"/>
              </a:lnSpc>
              <a:buNone/>
            </a:pPr>
            <a:r>
              <a:rPr lang="en-US" sz="1200" dirty="0">
                <a:solidFill>
                  <a:srgbClr val="24241F"/>
                </a:solidFill>
                <a:latin typeface="Calibri" pitchFamily="34" charset="0"/>
                <a:ea typeface="Calibri" pitchFamily="34" charset="-122"/>
                <a:cs typeface="Calibri" pitchFamily="34" charset="-120"/>
              </a:rPr>
              <a:t>Caught only by per-channel sensing; invisible in the total</a:t>
            </a:r>
            <a:endParaRPr lang="en-US" sz="1200" dirty="0"/>
          </a:p>
        </p:txBody>
      </p:sp>
      <p:sp>
        <p:nvSpPr>
          <p:cNvPr id="42" name="Shape 40"/>
          <p:cNvSpPr/>
          <p:nvPr/>
        </p:nvSpPr>
        <p:spPr>
          <a:xfrm>
            <a:off x="10424160" y="4645152"/>
            <a:ext cx="1097280" cy="786384"/>
          </a:xfrm>
          <a:prstGeom prst="rect">
            <a:avLst/>
          </a:prstGeom>
          <a:solidFill>
            <a:srgbClr val="F4F6F1"/>
          </a:solidFill>
          <a:ln w="9525">
            <a:solidFill>
              <a:srgbClr val="E2E8DC"/>
            </a:solidFill>
            <a:prstDash val="solid"/>
          </a:ln>
        </p:spPr>
        <p:txBody>
          <a:bodyPr/>
          <a:p/>
        </p:txBody>
      </p:sp>
      <p:sp>
        <p:nvSpPr>
          <p:cNvPr id="43" name="Text 41"/>
          <p:cNvSpPr/>
          <p:nvPr/>
        </p:nvSpPr>
        <p:spPr>
          <a:xfrm>
            <a:off x="10552176" y="4645152"/>
            <a:ext cx="841248" cy="786384"/>
          </a:xfrm>
          <a:prstGeom prst="rect">
            <a:avLst/>
          </a:prstGeom>
          <a:noFill/>
          <a:ln/>
        </p:spPr>
        <p:txBody>
          <a:bodyPr wrap="square" lIns="0" tIns="0" rIns="0" bIns="0" rtlCol="0" anchor="ctr"/>
          <a:lstStyle/>
          <a:p>
            <a:pPr marL="0" indent="0">
              <a:lnSpc>
                <a:spcPts val="1500"/>
              </a:lnSpc>
              <a:buNone/>
            </a:pPr>
            <a:r>
              <a:rPr lang="en-US" sz="1200" b="1" dirty="0">
                <a:solidFill>
                  <a:srgbClr val="24241F"/>
                </a:solidFill>
                <a:latin typeface="Calibri" pitchFamily="34" charset="0"/>
                <a:ea typeface="Calibri" pitchFamily="34" charset="-122"/>
                <a:cs typeface="Calibri" pitchFamily="34" charset="-120"/>
              </a:rPr>
              <a:t>75%</a:t>
            </a:r>
            <a:endParaRPr lang="en-US" sz="1200" dirty="0"/>
          </a:p>
        </p:txBody>
      </p:sp>
      <p:sp>
        <p:nvSpPr>
          <p:cNvPr id="44" name="Text 42"/>
          <p:cNvSpPr/>
          <p:nvPr/>
        </p:nvSpPr>
        <p:spPr>
          <a:xfrm>
            <a:off x="640080" y="6291072"/>
            <a:ext cx="10881360" cy="292608"/>
          </a:xfrm>
          <a:prstGeom prst="rect">
            <a:avLst/>
          </a:prstGeom>
          <a:noFill/>
          <a:ln/>
        </p:spPr>
        <p:txBody>
          <a:bodyPr wrap="square" lIns="0" tIns="0" rIns="0" bIns="0" rtlCol="0" anchor="ctr"/>
          <a:lstStyle/>
          <a:p>
            <a:pPr marL="0" indent="0">
              <a:buNone/>
            </a:pPr>
            <a:r>
              <a:rPr lang="en-US" sz="1050" i="1" dirty="0">
                <a:solidFill>
                  <a:srgbClr val="6E6E66"/>
                </a:solidFill>
                <a:latin typeface="Calibri" pitchFamily="34" charset="0"/>
                <a:ea typeface="Calibri" pitchFamily="34" charset="-122"/>
                <a:cs typeface="Calibri" pitchFamily="34" charset="-120"/>
              </a:rPr>
              <a:t>Confidence is the agent's own reported certainty. Lower is the system saying it is unsure — not the system performing badly.</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10881360" cy="566928"/>
          </a:xfrm>
          <a:prstGeom prst="rect">
            <a:avLst/>
          </a:prstGeom>
          <a:noFill/>
          <a:ln/>
        </p:spPr>
        <p:txBody>
          <a:bodyPr wrap="square" lIns="0" tIns="0" rIns="0" bIns="0" rtlCol="0" anchor="ctr"/>
          <a:lstStyle/>
          <a:p>
            <a:pPr marL="0" indent="0">
              <a:buNone/>
            </a:pPr>
            <a:r>
              <a:rPr lang="en-US" sz="3300" b="1" dirty="0">
                <a:solidFill>
                  <a:srgbClr val="2C5F2D"/>
                </a:solidFill>
                <a:latin typeface="Cambria" pitchFamily="34" charset="0"/>
                <a:ea typeface="Cambria" pitchFamily="34" charset="-122"/>
                <a:cs typeface="Cambria" pitchFamily="34" charset="-120"/>
              </a:rPr>
              <a:t>The fix that wasn't a fix</a:t>
            </a:r>
            <a:endParaRPr lang="en-US" sz="3300" dirty="0"/>
          </a:p>
        </p:txBody>
      </p:sp>
      <p:sp>
        <p:nvSpPr>
          <p:cNvPr id="3" name="Text 1"/>
          <p:cNvSpPr/>
          <p:nvPr/>
        </p:nvSpPr>
        <p:spPr>
          <a:xfrm>
            <a:off x="640080" y="1042416"/>
            <a:ext cx="10424160" cy="384048"/>
          </a:xfrm>
          <a:prstGeom prst="rect">
            <a:avLst/>
          </a:prstGeom>
          <a:noFill/>
          <a:ln/>
        </p:spPr>
        <p:txBody>
          <a:bodyPr wrap="square" lIns="0" tIns="0" rIns="0" bIns="0" rtlCol="0" anchor="ctr"/>
          <a:lstStyle/>
          <a:p>
            <a:pPr marL="0" indent="0">
              <a:buNone/>
            </a:pPr>
            <a:r>
              <a:rPr lang="en-US" sz="1500" dirty="0">
                <a:solidFill>
                  <a:srgbClr val="6E6E66"/>
                </a:solidFill>
                <a:latin typeface="Calibri" pitchFamily="34" charset="0"/>
                <a:ea typeface="Calibri" pitchFamily="34" charset="-122"/>
                <a:cs typeface="Calibri" pitchFamily="34" charset="-120"/>
              </a:rPr>
              <a:t>The most instructive defect found in this build</a:t>
            </a:r>
            <a:endParaRPr lang="en-US" sz="1500" dirty="0"/>
          </a:p>
        </p:txBody>
      </p:sp>
      <p:sp>
        <p:nvSpPr>
          <p:cNvPr id="4" name="Text 2"/>
          <p:cNvSpPr/>
          <p:nvPr/>
        </p:nvSpPr>
        <p:spPr>
          <a:xfrm>
            <a:off x="640080" y="1737360"/>
            <a:ext cx="5943600" cy="1005840"/>
          </a:xfrm>
          <a:prstGeom prst="rect">
            <a:avLst/>
          </a:prstGeom>
          <a:noFill/>
          <a:ln/>
        </p:spPr>
        <p:txBody>
          <a:bodyPr wrap="square" lIns="0" tIns="0" rIns="0" bIns="0" rtlCol="0" anchor="ctr"/>
          <a:lstStyle/>
          <a:p>
            <a:pPr marL="0" indent="0">
              <a:lnSpc>
                <a:spcPts val="2400"/>
              </a:lnSpc>
              <a:buNone/>
            </a:pPr>
            <a:r>
              <a:rPr lang="en-US" sz="1550" dirty="0">
                <a:solidFill>
                  <a:srgbClr val="24241F"/>
                </a:solidFill>
                <a:latin typeface="Calibri" pitchFamily="34" charset="0"/>
                <a:ea typeface="Calibri" pitchFamily="34" charset="-122"/>
                <a:cs typeface="Calibri" pitchFamily="34" charset="-120"/>
              </a:rPr>
              <a:t>On detecting a spike, the first version fell back to the eight-week average as a corrected baseline. All three spike weeks sit inside that eight-week window.</a:t>
            </a:r>
            <a:endParaRPr lang="en-US" sz="1550" dirty="0"/>
          </a:p>
        </p:txBody>
      </p:sp>
      <p:sp>
        <p:nvSpPr>
          <p:cNvPr id="5" name="Text 3"/>
          <p:cNvSpPr/>
          <p:nvPr/>
        </p:nvSpPr>
        <p:spPr>
          <a:xfrm>
            <a:off x="640080" y="2880360"/>
            <a:ext cx="5943600" cy="1371600"/>
          </a:xfrm>
          <a:prstGeom prst="rect">
            <a:avLst/>
          </a:prstGeom>
          <a:noFill/>
          <a:ln/>
        </p:spPr>
        <p:txBody>
          <a:bodyPr wrap="square" lIns="0" tIns="0" rIns="0" bIns="0" rtlCol="0" anchor="ctr"/>
          <a:lstStyle/>
          <a:p>
            <a:pPr marL="0" indent="0">
              <a:lnSpc>
                <a:spcPts val="2400"/>
              </a:lnSpc>
              <a:buNone/>
            </a:pPr>
            <a:r>
              <a:rPr lang="en-US" sz="1550" dirty="0">
                <a:solidFill>
                  <a:srgbClr val="B85042"/>
                </a:solidFill>
                <a:latin typeface="Calibri" pitchFamily="34" charset="0"/>
                <a:ea typeface="Calibri" pitchFamily="34" charset="-122"/>
                <a:cs typeface="Calibri" pitchFamily="34" charset="-120"/>
              </a:rPr>
              <a:t>The system was over-ordering by more than double while its reasoning told the planner it had corrected for the spike. A planner checking the arithmetic by hand would have caught it — which undermines the entire claim of auditability.</a:t>
            </a:r>
            <a:endParaRPr lang="en-US" sz="1550" dirty="0"/>
          </a:p>
        </p:txBody>
      </p:sp>
      <p:sp>
        <p:nvSpPr>
          <p:cNvPr id="6" name="Text 4"/>
          <p:cNvSpPr/>
          <p:nvPr/>
        </p:nvSpPr>
        <p:spPr>
          <a:xfrm>
            <a:off x="640080" y="4389120"/>
            <a:ext cx="5943600" cy="1005840"/>
          </a:xfrm>
          <a:prstGeom prst="rect">
            <a:avLst/>
          </a:prstGeom>
          <a:noFill/>
          <a:ln/>
        </p:spPr>
        <p:txBody>
          <a:bodyPr wrap="square" lIns="0" tIns="0" rIns="0" bIns="0" rtlCol="0" anchor="ctr"/>
          <a:lstStyle/>
          <a:p>
            <a:pPr marL="0" indent="0">
              <a:lnSpc>
                <a:spcPts val="2400"/>
              </a:lnSpc>
              <a:buNone/>
            </a:pPr>
            <a:r>
              <a:rPr lang="en-US" sz="1550" b="1" dirty="0">
                <a:solidFill>
                  <a:srgbClr val="2C5F2D"/>
                </a:solidFill>
                <a:latin typeface="Calibri" pitchFamily="34" charset="0"/>
                <a:ea typeface="Calibri" pitchFamily="34" charset="-122"/>
                <a:cs typeface="Calibri" pitchFamily="34" charset="-120"/>
              </a:rPr>
              <a:t>The working fix excludes flagged event weeks outright, and the reasoning now discloses that the eight-week figure is not a clean baseline either.</a:t>
            </a:r>
            <a:endParaRPr lang="en-US" sz="1550" dirty="0"/>
          </a:p>
        </p:txBody>
      </p:sp>
      <p:graphicFrame>
        <p:nvGraphicFramePr>
          <p:cNvPr id="7" name="Chart 0"/>
          <p:cNvGraphicFramePr/>
          <p:nvPr/>
        </p:nvGraphicFramePr>
        <p:xfrm>
          <a:off x="7040880" y="1828800"/>
          <a:ext cx="4480560" cy="310896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7">
    <p:bg>
      <p:bgPr>
        <a:solidFill>
          <a:srgbClr val="2C5F2D"/>
        </a:solidFill>
        <a:effectLst/>
      </p:bgPr>
    </p:bg>
    <p:spTree>
      <p:nvGrpSpPr>
        <p:cNvPr id="1" name=""/>
        <p:cNvGrpSpPr/>
        <p:nvPr/>
      </p:nvGrpSpPr>
      <p:grpSpPr>
        <a:xfrm>
          <a:off x="0" y="0"/>
          <a:ext cx="0" cy="0"/>
          <a:chOff x="0" y="0"/>
          <a:chExt cx="0" cy="0"/>
        </a:xfrm>
      </p:grpSpPr>
      <p:sp>
        <p:nvSpPr>
          <p:cNvPr id="2" name="Shape 0"/>
          <p:cNvSpPr/>
          <p:nvPr/>
        </p:nvSpPr>
        <p:spPr>
          <a:xfrm>
            <a:off x="640080" y="2286000"/>
            <a:ext cx="868680" cy="868680"/>
          </a:xfrm>
          <a:prstGeom prst="ellipse">
            <a:avLst/>
          </a:prstGeom>
          <a:solidFill>
            <a:srgbClr val="97BC62"/>
          </a:solidFill>
          <a:ln/>
        </p:spPr>
        <p:txBody>
          <a:bodyPr/>
          <a:p/>
        </p:txBody>
      </p:sp>
      <p:sp>
        <p:nvSpPr>
          <p:cNvPr id="3" name="Text 1"/>
          <p:cNvSpPr/>
          <p:nvPr/>
        </p:nvSpPr>
        <p:spPr>
          <a:xfrm>
            <a:off x="640080" y="2286000"/>
            <a:ext cx="868680" cy="868680"/>
          </a:xfrm>
          <a:prstGeom prst="rect">
            <a:avLst/>
          </a:prstGeom>
          <a:noFill/>
          <a:ln/>
        </p:spPr>
        <p:txBody>
          <a:bodyPr wrap="square" rtlCol="0" anchor="ctr"/>
          <a:lstStyle/>
          <a:p>
            <a:pPr marL="0" indent="0" algn="ctr">
              <a:buNone/>
            </a:pPr>
            <a:r>
              <a:rPr lang="en-US" sz="3200" b="1" dirty="0">
                <a:solidFill>
                  <a:srgbClr val="16301A"/>
                </a:solidFill>
                <a:latin typeface="Cambria" pitchFamily="34" charset="0"/>
                <a:ea typeface="Cambria" pitchFamily="34" charset="-122"/>
                <a:cs typeface="Cambria" pitchFamily="34" charset="-120"/>
              </a:rPr>
              <a:t>3</a:t>
            </a:r>
            <a:endParaRPr lang="en-US" sz="3200" dirty="0"/>
          </a:p>
        </p:txBody>
      </p:sp>
      <p:sp>
        <p:nvSpPr>
          <p:cNvPr id="4" name="Text 2"/>
          <p:cNvSpPr/>
          <p:nvPr/>
        </p:nvSpPr>
        <p:spPr>
          <a:xfrm>
            <a:off x="1874520" y="2240280"/>
            <a:ext cx="9509760" cy="777240"/>
          </a:xfrm>
          <a:prstGeom prst="rect">
            <a:avLst/>
          </a:prstGeom>
          <a:noFill/>
          <a:ln/>
        </p:spPr>
        <p:txBody>
          <a:bodyPr wrap="square" rtlCol="0" anchor="ctr"/>
          <a:lstStyle/>
          <a:p>
            <a:pPr marL="0" indent="0">
              <a:buNone/>
            </a:pPr>
            <a:r>
              <a:rPr lang="en-US" sz="3800" b="1" dirty="0">
                <a:solidFill>
                  <a:srgbClr val="FFFFFF"/>
                </a:solidFill>
                <a:latin typeface="Cambria" pitchFamily="34" charset="0"/>
                <a:ea typeface="Cambria" pitchFamily="34" charset="-122"/>
                <a:cs typeface="Cambria" pitchFamily="34" charset="-120"/>
              </a:rPr>
              <a:t>Trust and control</a:t>
            </a:r>
            <a:endParaRPr lang="en-US" sz="3800" dirty="0"/>
          </a:p>
        </p:txBody>
      </p:sp>
      <p:sp>
        <p:nvSpPr>
          <p:cNvPr id="5" name="Text 3"/>
          <p:cNvSpPr/>
          <p:nvPr/>
        </p:nvSpPr>
        <p:spPr>
          <a:xfrm>
            <a:off x="1874520" y="3063240"/>
            <a:ext cx="8961120" cy="822960"/>
          </a:xfrm>
          <a:prstGeom prst="rect">
            <a:avLst/>
          </a:prstGeom>
          <a:noFill/>
          <a:ln/>
        </p:spPr>
        <p:txBody>
          <a:bodyPr wrap="square" rtlCol="0" anchor="ctr"/>
          <a:lstStyle/>
          <a:p>
            <a:pPr marL="0" indent="0">
              <a:lnSpc>
                <a:spcPts val="2400"/>
              </a:lnSpc>
              <a:buNone/>
            </a:pPr>
            <a:r>
              <a:rPr lang="en-US" sz="1600" dirty="0">
                <a:solidFill>
                  <a:srgbClr val="D4E3C6"/>
                </a:solidFill>
                <a:latin typeface="Calibri" pitchFamily="34" charset="0"/>
                <a:ea typeface="Calibri" pitchFamily="34" charset="-122"/>
                <a:cs typeface="Calibri" pitchFamily="34" charset="-120"/>
              </a:rPr>
              <a:t>An ordering system a planner cannot see into, argue with, or overrule is not one any retailer would switch on.</a:t>
            </a:r>
            <a:endParaRPr lang="en-US" sz="1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10881360" cy="566928"/>
          </a:xfrm>
          <a:prstGeom prst="rect">
            <a:avLst/>
          </a:prstGeom>
          <a:noFill/>
          <a:ln/>
        </p:spPr>
        <p:txBody>
          <a:bodyPr wrap="square" lIns="0" tIns="0" rIns="0" bIns="0" rtlCol="0" anchor="ctr"/>
          <a:lstStyle/>
          <a:p>
            <a:pPr marL="0" indent="0">
              <a:buNone/>
            </a:pPr>
            <a:r>
              <a:rPr lang="en-US" sz="3300" b="1" dirty="0">
                <a:solidFill>
                  <a:srgbClr val="2C5F2D"/>
                </a:solidFill>
                <a:latin typeface="Cambria" pitchFamily="34" charset="0"/>
                <a:ea typeface="Cambria" pitchFamily="34" charset="-122"/>
                <a:cs typeface="Cambria" pitchFamily="34" charset="-120"/>
              </a:rPr>
              <a:t>Four mechanisms that keep a human in charge</a:t>
            </a:r>
            <a:endParaRPr lang="en-US" sz="3300" dirty="0"/>
          </a:p>
        </p:txBody>
      </p:sp>
      <p:sp>
        <p:nvSpPr>
          <p:cNvPr id="3" name="Text 1"/>
          <p:cNvSpPr/>
          <p:nvPr/>
        </p:nvSpPr>
        <p:spPr>
          <a:xfrm>
            <a:off x="640080" y="1042416"/>
            <a:ext cx="10424160" cy="384048"/>
          </a:xfrm>
          <a:prstGeom prst="rect">
            <a:avLst/>
          </a:prstGeom>
          <a:noFill/>
          <a:ln/>
        </p:spPr>
        <p:txBody>
          <a:bodyPr wrap="square" lIns="0" tIns="0" rIns="0" bIns="0" rtlCol="0" anchor="ctr"/>
          <a:lstStyle/>
          <a:p>
            <a:pPr marL="0" indent="0">
              <a:buNone/>
            </a:pPr>
            <a:r>
              <a:rPr lang="en-US" sz="1500" dirty="0">
                <a:solidFill>
                  <a:srgbClr val="6E6E66"/>
                </a:solidFill>
                <a:latin typeface="Calibri" pitchFamily="34" charset="0"/>
                <a:ea typeface="Calibri" pitchFamily="34" charset="-122"/>
                <a:cs typeface="Calibri" pitchFamily="34" charset="-120"/>
              </a:rPr>
              <a:t>This is where most of the design effort went</a:t>
            </a:r>
            <a:endParaRPr lang="en-US" sz="1500" dirty="0"/>
          </a:p>
        </p:txBody>
      </p:sp>
      <p:sp>
        <p:nvSpPr>
          <p:cNvPr id="4" name="Shape 2"/>
          <p:cNvSpPr/>
          <p:nvPr/>
        </p:nvSpPr>
        <p:spPr>
          <a:xfrm>
            <a:off x="640080" y="1783080"/>
            <a:ext cx="457200" cy="457200"/>
          </a:xfrm>
          <a:prstGeom prst="ellipse">
            <a:avLst/>
          </a:prstGeom>
          <a:solidFill>
            <a:srgbClr val="97BC62"/>
          </a:solidFill>
          <a:ln/>
        </p:spPr>
        <p:txBody>
          <a:bodyPr/>
          <a:p/>
        </p:txBody>
      </p:sp>
      <p:sp>
        <p:nvSpPr>
          <p:cNvPr id="5" name="Text 3"/>
          <p:cNvSpPr/>
          <p:nvPr/>
        </p:nvSpPr>
        <p:spPr>
          <a:xfrm>
            <a:off x="640080" y="1783080"/>
            <a:ext cx="457200" cy="457200"/>
          </a:xfrm>
          <a:prstGeom prst="rect">
            <a:avLst/>
          </a:prstGeom>
          <a:noFill/>
          <a:ln/>
        </p:spPr>
        <p:txBody>
          <a:bodyPr wrap="square" rtlCol="0" anchor="ctr"/>
          <a:lstStyle/>
          <a:p>
            <a:pPr marL="0" indent="0" algn="ctr">
              <a:buNone/>
            </a:pPr>
            <a:r>
              <a:rPr lang="en-US" sz="1700" b="1" dirty="0">
                <a:solidFill>
                  <a:srgbClr val="16301A"/>
                </a:solidFill>
                <a:latin typeface="Cambria" pitchFamily="34" charset="0"/>
                <a:ea typeface="Cambria" pitchFamily="34" charset="-122"/>
                <a:cs typeface="Cambria" pitchFamily="34" charset="-120"/>
              </a:rPr>
              <a:t>1</a:t>
            </a:r>
            <a:endParaRPr lang="en-US" sz="1700" dirty="0"/>
          </a:p>
        </p:txBody>
      </p:sp>
      <p:sp>
        <p:nvSpPr>
          <p:cNvPr id="6" name="Text 4"/>
          <p:cNvSpPr/>
          <p:nvPr/>
        </p:nvSpPr>
        <p:spPr>
          <a:xfrm>
            <a:off x="1298448" y="1764792"/>
            <a:ext cx="4553712" cy="310896"/>
          </a:xfrm>
          <a:prstGeom prst="rect">
            <a:avLst/>
          </a:prstGeom>
          <a:noFill/>
          <a:ln/>
        </p:spPr>
        <p:txBody>
          <a:bodyPr wrap="square" lIns="0" tIns="0" rIns="0" bIns="0" rtlCol="0" anchor="ctr"/>
          <a:lstStyle/>
          <a:p>
            <a:pPr marL="0" indent="0">
              <a:buNone/>
            </a:pPr>
            <a:r>
              <a:rPr lang="en-US" sz="1600" b="1" dirty="0">
                <a:solidFill>
                  <a:srgbClr val="24241F"/>
                </a:solidFill>
                <a:latin typeface="Calibri" pitchFamily="34" charset="0"/>
                <a:ea typeface="Calibri" pitchFamily="34" charset="-122"/>
                <a:cs typeface="Calibri" pitchFamily="34" charset="-120"/>
              </a:rPr>
              <a:t>Everything carries its reasoning</a:t>
            </a:r>
            <a:endParaRPr lang="en-US" sz="1600" dirty="0"/>
          </a:p>
        </p:txBody>
      </p:sp>
      <p:sp>
        <p:nvSpPr>
          <p:cNvPr id="7" name="Text 5"/>
          <p:cNvSpPr/>
          <p:nvPr/>
        </p:nvSpPr>
        <p:spPr>
          <a:xfrm>
            <a:off x="1298448" y="2075688"/>
            <a:ext cx="4553712" cy="777240"/>
          </a:xfrm>
          <a:prstGeom prst="rect">
            <a:avLst/>
          </a:prstGeom>
          <a:noFill/>
          <a:ln/>
        </p:spPr>
        <p:txBody>
          <a:bodyPr wrap="square" lIns="0" tIns="0" rIns="0" bIns="0" rtlCol="0" anchor="t"/>
          <a:lstStyle/>
          <a:p>
            <a:pPr marL="0" indent="0">
              <a:lnSpc>
                <a:spcPts val="1800"/>
              </a:lnSpc>
              <a:buNone/>
            </a:pPr>
            <a:r>
              <a:rPr lang="en-US" sz="1350" dirty="0">
                <a:solidFill>
                  <a:srgbClr val="6E6E66"/>
                </a:solidFill>
                <a:latin typeface="Calibri" pitchFamily="34" charset="0"/>
                <a:ea typeface="Calibri" pitchFamily="34" charset="-122"/>
                <a:cs typeface="Calibri" pitchFamily="34" charset="-120"/>
              </a:rPr>
              <a:t>Each recommendation arrives with the sentences that produced it, in plain English. A planner can disagree on substance rather than on instinct.</a:t>
            </a:r>
            <a:endParaRPr lang="en-US" sz="1350" dirty="0"/>
          </a:p>
        </p:txBody>
      </p:sp>
      <p:sp>
        <p:nvSpPr>
          <p:cNvPr id="8" name="Shape 6"/>
          <p:cNvSpPr/>
          <p:nvPr/>
        </p:nvSpPr>
        <p:spPr>
          <a:xfrm>
            <a:off x="640080" y="3154680"/>
            <a:ext cx="457200" cy="457200"/>
          </a:xfrm>
          <a:prstGeom prst="ellipse">
            <a:avLst/>
          </a:prstGeom>
          <a:solidFill>
            <a:srgbClr val="97BC62"/>
          </a:solidFill>
          <a:ln/>
        </p:spPr>
        <p:txBody>
          <a:bodyPr/>
          <a:p/>
        </p:txBody>
      </p:sp>
      <p:sp>
        <p:nvSpPr>
          <p:cNvPr id="9" name="Text 7"/>
          <p:cNvSpPr/>
          <p:nvPr/>
        </p:nvSpPr>
        <p:spPr>
          <a:xfrm>
            <a:off x="640080" y="3154680"/>
            <a:ext cx="457200" cy="457200"/>
          </a:xfrm>
          <a:prstGeom prst="rect">
            <a:avLst/>
          </a:prstGeom>
          <a:noFill/>
          <a:ln/>
        </p:spPr>
        <p:txBody>
          <a:bodyPr wrap="square" rtlCol="0" anchor="ctr"/>
          <a:lstStyle/>
          <a:p>
            <a:pPr marL="0" indent="0" algn="ctr">
              <a:buNone/>
            </a:pPr>
            <a:r>
              <a:rPr lang="en-US" sz="1700" b="1" dirty="0">
                <a:solidFill>
                  <a:srgbClr val="16301A"/>
                </a:solidFill>
                <a:latin typeface="Cambria" pitchFamily="34" charset="0"/>
                <a:ea typeface="Cambria" pitchFamily="34" charset="-122"/>
                <a:cs typeface="Cambria" pitchFamily="34" charset="-120"/>
              </a:rPr>
              <a:t>2</a:t>
            </a:r>
            <a:endParaRPr lang="en-US" sz="1700" dirty="0"/>
          </a:p>
        </p:txBody>
      </p:sp>
      <p:sp>
        <p:nvSpPr>
          <p:cNvPr id="10" name="Text 8"/>
          <p:cNvSpPr/>
          <p:nvPr/>
        </p:nvSpPr>
        <p:spPr>
          <a:xfrm>
            <a:off x="1298448" y="3136392"/>
            <a:ext cx="4553712" cy="310896"/>
          </a:xfrm>
          <a:prstGeom prst="rect">
            <a:avLst/>
          </a:prstGeom>
          <a:noFill/>
          <a:ln/>
        </p:spPr>
        <p:txBody>
          <a:bodyPr wrap="square" lIns="0" tIns="0" rIns="0" bIns="0" rtlCol="0" anchor="ctr"/>
          <a:lstStyle/>
          <a:p>
            <a:pPr marL="0" indent="0">
              <a:buNone/>
            </a:pPr>
            <a:r>
              <a:rPr lang="en-US" sz="1600" b="1" dirty="0">
                <a:solidFill>
                  <a:srgbClr val="24241F"/>
                </a:solidFill>
                <a:latin typeface="Calibri" pitchFamily="34" charset="0"/>
                <a:ea typeface="Calibri" pitchFamily="34" charset="-122"/>
                <a:cs typeface="Calibri" pitchFamily="34" charset="-120"/>
              </a:rPr>
              <a:t>The planner sets the freedom</a:t>
            </a:r>
            <a:endParaRPr lang="en-US" sz="1600" dirty="0"/>
          </a:p>
        </p:txBody>
      </p:sp>
      <p:sp>
        <p:nvSpPr>
          <p:cNvPr id="11" name="Text 9"/>
          <p:cNvSpPr/>
          <p:nvPr/>
        </p:nvSpPr>
        <p:spPr>
          <a:xfrm>
            <a:off x="1298448" y="3447288"/>
            <a:ext cx="4553712" cy="777240"/>
          </a:xfrm>
          <a:prstGeom prst="rect">
            <a:avLst/>
          </a:prstGeom>
          <a:noFill/>
          <a:ln/>
        </p:spPr>
        <p:txBody>
          <a:bodyPr wrap="square" lIns="0" tIns="0" rIns="0" bIns="0" rtlCol="0" anchor="t"/>
          <a:lstStyle/>
          <a:p>
            <a:pPr marL="0" indent="0">
              <a:lnSpc>
                <a:spcPts val="1800"/>
              </a:lnSpc>
              <a:buNone/>
            </a:pPr>
            <a:r>
              <a:rPr lang="en-US" sz="1350" dirty="0">
                <a:solidFill>
                  <a:srgbClr val="6E6E66"/>
                </a:solidFill>
                <a:latin typeface="Calibri" pitchFamily="34" charset="0"/>
                <a:ea typeface="Calibri" pitchFamily="34" charset="-122"/>
                <a:cs typeface="Calibri" pitchFamily="34" charset="-120"/>
              </a:rPr>
              <a:t>A slider decides how much the system handles alone. How far to trust the software belongs to a person, not to whoever wrote the code.</a:t>
            </a:r>
            <a:endParaRPr lang="en-US" sz="1350" dirty="0"/>
          </a:p>
        </p:txBody>
      </p:sp>
      <p:sp>
        <p:nvSpPr>
          <p:cNvPr id="12" name="Shape 10"/>
          <p:cNvSpPr/>
          <p:nvPr/>
        </p:nvSpPr>
        <p:spPr>
          <a:xfrm>
            <a:off x="6492240" y="1783080"/>
            <a:ext cx="457200" cy="457200"/>
          </a:xfrm>
          <a:prstGeom prst="ellipse">
            <a:avLst/>
          </a:prstGeom>
          <a:solidFill>
            <a:srgbClr val="97BC62"/>
          </a:solidFill>
          <a:ln/>
        </p:spPr>
        <p:txBody>
          <a:bodyPr/>
          <a:p/>
        </p:txBody>
      </p:sp>
      <p:sp>
        <p:nvSpPr>
          <p:cNvPr id="13" name="Text 11"/>
          <p:cNvSpPr/>
          <p:nvPr/>
        </p:nvSpPr>
        <p:spPr>
          <a:xfrm>
            <a:off x="6492240" y="1783080"/>
            <a:ext cx="457200" cy="457200"/>
          </a:xfrm>
          <a:prstGeom prst="rect">
            <a:avLst/>
          </a:prstGeom>
          <a:noFill/>
          <a:ln/>
        </p:spPr>
        <p:txBody>
          <a:bodyPr wrap="square" rtlCol="0" anchor="ctr"/>
          <a:lstStyle/>
          <a:p>
            <a:pPr marL="0" indent="0" algn="ctr">
              <a:buNone/>
            </a:pPr>
            <a:r>
              <a:rPr lang="en-US" sz="1700" b="1" dirty="0">
                <a:solidFill>
                  <a:srgbClr val="16301A"/>
                </a:solidFill>
                <a:latin typeface="Cambria" pitchFamily="34" charset="0"/>
                <a:ea typeface="Cambria" pitchFamily="34" charset="-122"/>
                <a:cs typeface="Cambria" pitchFamily="34" charset="-120"/>
              </a:rPr>
              <a:t>3</a:t>
            </a:r>
            <a:endParaRPr lang="en-US" sz="1700" dirty="0"/>
          </a:p>
        </p:txBody>
      </p:sp>
      <p:sp>
        <p:nvSpPr>
          <p:cNvPr id="14" name="Text 12"/>
          <p:cNvSpPr/>
          <p:nvPr/>
        </p:nvSpPr>
        <p:spPr>
          <a:xfrm>
            <a:off x="7150608" y="1764792"/>
            <a:ext cx="4370832" cy="310896"/>
          </a:xfrm>
          <a:prstGeom prst="rect">
            <a:avLst/>
          </a:prstGeom>
          <a:noFill/>
          <a:ln/>
        </p:spPr>
        <p:txBody>
          <a:bodyPr wrap="square" lIns="0" tIns="0" rIns="0" bIns="0" rtlCol="0" anchor="ctr"/>
          <a:lstStyle/>
          <a:p>
            <a:pPr marL="0" indent="0">
              <a:buNone/>
            </a:pPr>
            <a:r>
              <a:rPr lang="en-US" sz="1600" b="1" dirty="0">
                <a:solidFill>
                  <a:srgbClr val="24241F"/>
                </a:solidFill>
                <a:latin typeface="Calibri" pitchFamily="34" charset="0"/>
                <a:ea typeface="Calibri" pitchFamily="34" charset="-122"/>
                <a:cs typeface="Calibri" pitchFamily="34" charset="-120"/>
              </a:rPr>
              <a:t>But the slider has a floor</a:t>
            </a:r>
            <a:endParaRPr lang="en-US" sz="1600" dirty="0"/>
          </a:p>
        </p:txBody>
      </p:sp>
      <p:sp>
        <p:nvSpPr>
          <p:cNvPr id="15" name="Text 13"/>
          <p:cNvSpPr/>
          <p:nvPr/>
        </p:nvSpPr>
        <p:spPr>
          <a:xfrm>
            <a:off x="7150608" y="2075688"/>
            <a:ext cx="4370832" cy="777240"/>
          </a:xfrm>
          <a:prstGeom prst="rect">
            <a:avLst/>
          </a:prstGeom>
          <a:noFill/>
          <a:ln/>
        </p:spPr>
        <p:txBody>
          <a:bodyPr wrap="square" lIns="0" tIns="0" rIns="0" bIns="0" rtlCol="0" anchor="t"/>
          <a:lstStyle/>
          <a:p>
            <a:pPr marL="0" indent="0">
              <a:lnSpc>
                <a:spcPts val="1800"/>
              </a:lnSpc>
              <a:buNone/>
            </a:pPr>
            <a:r>
              <a:rPr lang="en-US" sz="1350" dirty="0">
                <a:solidFill>
                  <a:srgbClr val="6E6E66"/>
                </a:solidFill>
                <a:latin typeface="Calibri" pitchFamily="34" charset="0"/>
                <a:ea typeface="Calibri" pitchFamily="34" charset="-122"/>
                <a:cs typeface="Calibri" pitchFamily="34" charset="-120"/>
              </a:rPr>
              <a:t>Below 50% confidence nothing is auto-approved, at any setting. A safety mechanism that can be switched off completely is not one.</a:t>
            </a:r>
            <a:endParaRPr lang="en-US" sz="1350" dirty="0"/>
          </a:p>
        </p:txBody>
      </p:sp>
      <p:sp>
        <p:nvSpPr>
          <p:cNvPr id="16" name="Shape 14"/>
          <p:cNvSpPr/>
          <p:nvPr/>
        </p:nvSpPr>
        <p:spPr>
          <a:xfrm>
            <a:off x="6492240" y="3154680"/>
            <a:ext cx="457200" cy="457200"/>
          </a:xfrm>
          <a:prstGeom prst="ellipse">
            <a:avLst/>
          </a:prstGeom>
          <a:solidFill>
            <a:srgbClr val="97BC62"/>
          </a:solidFill>
          <a:ln/>
        </p:spPr>
        <p:txBody>
          <a:bodyPr/>
          <a:p/>
        </p:txBody>
      </p:sp>
      <p:sp>
        <p:nvSpPr>
          <p:cNvPr id="17" name="Text 15"/>
          <p:cNvSpPr/>
          <p:nvPr/>
        </p:nvSpPr>
        <p:spPr>
          <a:xfrm>
            <a:off x="6492240" y="3154680"/>
            <a:ext cx="457200" cy="457200"/>
          </a:xfrm>
          <a:prstGeom prst="rect">
            <a:avLst/>
          </a:prstGeom>
          <a:noFill/>
          <a:ln/>
        </p:spPr>
        <p:txBody>
          <a:bodyPr wrap="square" rtlCol="0" anchor="ctr"/>
          <a:lstStyle/>
          <a:p>
            <a:pPr marL="0" indent="0" algn="ctr">
              <a:buNone/>
            </a:pPr>
            <a:r>
              <a:rPr lang="en-US" sz="1700" b="1" dirty="0">
                <a:solidFill>
                  <a:srgbClr val="16301A"/>
                </a:solidFill>
                <a:latin typeface="Cambria" pitchFamily="34" charset="0"/>
                <a:ea typeface="Cambria" pitchFamily="34" charset="-122"/>
                <a:cs typeface="Cambria" pitchFamily="34" charset="-120"/>
              </a:rPr>
              <a:t>4</a:t>
            </a:r>
            <a:endParaRPr lang="en-US" sz="1700" dirty="0"/>
          </a:p>
        </p:txBody>
      </p:sp>
      <p:sp>
        <p:nvSpPr>
          <p:cNvPr id="18" name="Text 16"/>
          <p:cNvSpPr/>
          <p:nvPr/>
        </p:nvSpPr>
        <p:spPr>
          <a:xfrm>
            <a:off x="7150608" y="3136392"/>
            <a:ext cx="4370832" cy="310896"/>
          </a:xfrm>
          <a:prstGeom prst="rect">
            <a:avLst/>
          </a:prstGeom>
          <a:noFill/>
          <a:ln/>
        </p:spPr>
        <p:txBody>
          <a:bodyPr wrap="square" lIns="0" tIns="0" rIns="0" bIns="0" rtlCol="0" anchor="ctr"/>
          <a:lstStyle/>
          <a:p>
            <a:pPr marL="0" indent="0">
              <a:buNone/>
            </a:pPr>
            <a:r>
              <a:rPr lang="en-US" sz="1600" b="1" dirty="0">
                <a:solidFill>
                  <a:srgbClr val="24241F"/>
                </a:solidFill>
                <a:latin typeface="Calibri" pitchFamily="34" charset="0"/>
                <a:ea typeface="Calibri" pitchFamily="34" charset="-122"/>
                <a:cs typeface="Calibri" pitchFamily="34" charset="-120"/>
              </a:rPr>
              <a:t>Urgent problems jump the queue</a:t>
            </a:r>
            <a:endParaRPr lang="en-US" sz="1600" dirty="0"/>
          </a:p>
        </p:txBody>
      </p:sp>
      <p:sp>
        <p:nvSpPr>
          <p:cNvPr id="19" name="Text 17"/>
          <p:cNvSpPr/>
          <p:nvPr/>
        </p:nvSpPr>
        <p:spPr>
          <a:xfrm>
            <a:off x="7150608" y="3447288"/>
            <a:ext cx="4370832" cy="777240"/>
          </a:xfrm>
          <a:prstGeom prst="rect">
            <a:avLst/>
          </a:prstGeom>
          <a:noFill/>
          <a:ln/>
        </p:spPr>
        <p:txBody>
          <a:bodyPr wrap="square" lIns="0" tIns="0" rIns="0" bIns="0" rtlCol="0" anchor="t"/>
          <a:lstStyle/>
          <a:p>
            <a:pPr marL="0" indent="0">
              <a:lnSpc>
                <a:spcPts val="1800"/>
              </a:lnSpc>
              <a:buNone/>
            </a:pPr>
            <a:r>
              <a:rPr lang="en-US" sz="1350" dirty="0">
                <a:solidFill>
                  <a:srgbClr val="6E6E66"/>
                </a:solidFill>
                <a:latin typeface="Calibri" pitchFamily="34" charset="0"/>
                <a:ea typeface="Calibri" pitchFamily="34" charset="-122"/>
                <a:cs typeface="Calibri" pitchFamily="34" charset="-120"/>
              </a:rPr>
              <a:t>Separately from confidence, products about to run dry are always escalated — and ranked by money at stake, not by days.</a:t>
            </a:r>
            <a:endParaRPr lang="en-US" sz="1350" dirty="0"/>
          </a:p>
        </p:txBody>
      </p:sp>
      <p:sp>
        <p:nvSpPr>
          <p:cNvPr id="20" name="Text 18"/>
          <p:cNvSpPr/>
          <p:nvPr/>
        </p:nvSpPr>
        <p:spPr>
          <a:xfrm>
            <a:off x="640080" y="6291072"/>
            <a:ext cx="10881360" cy="292608"/>
          </a:xfrm>
          <a:prstGeom prst="rect">
            <a:avLst/>
          </a:prstGeom>
          <a:noFill/>
          <a:ln/>
        </p:spPr>
        <p:txBody>
          <a:bodyPr wrap="square" lIns="0" tIns="0" rIns="0" bIns="0" rtlCol="0" anchor="ctr"/>
          <a:lstStyle/>
          <a:p>
            <a:pPr marL="0" indent="0">
              <a:buNone/>
            </a:pPr>
            <a:r>
              <a:rPr lang="en-US" sz="1050" i="1" dirty="0">
                <a:solidFill>
                  <a:srgbClr val="6E6E66"/>
                </a:solidFill>
                <a:latin typeface="Calibri" pitchFamily="34" charset="0"/>
                <a:ea typeface="Calibri" pitchFamily="34" charset="-122"/>
                <a:cs typeface="Calibri" pitchFamily="34" charset="-120"/>
              </a:rPr>
              <a:t>Every approval, edit and rejection is written to an audit trail, with the planner's stated reason.</a:t>
            </a:r>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10881360" cy="566928"/>
          </a:xfrm>
          <a:prstGeom prst="rect">
            <a:avLst/>
          </a:prstGeom>
          <a:noFill/>
          <a:ln/>
        </p:spPr>
        <p:txBody>
          <a:bodyPr wrap="square" lIns="0" tIns="0" rIns="0" bIns="0" rtlCol="0" anchor="ctr"/>
          <a:lstStyle/>
          <a:p>
            <a:pPr marL="0" indent="0">
              <a:buNone/>
            </a:pPr>
            <a:r>
              <a:rPr lang="en-US" sz="3300" b="1" dirty="0">
                <a:solidFill>
                  <a:srgbClr val="2C5F2D"/>
                </a:solidFill>
                <a:latin typeface="Cambria" pitchFamily="34" charset="0"/>
                <a:ea typeface="Cambria" pitchFamily="34" charset="-122"/>
                <a:cs typeface="Cambria" pitchFamily="34" charset="-120"/>
              </a:rPr>
              <a:t>The autonomy floor</a:t>
            </a:r>
            <a:endParaRPr lang="en-US" sz="3300" dirty="0"/>
          </a:p>
        </p:txBody>
      </p:sp>
      <p:sp>
        <p:nvSpPr>
          <p:cNvPr id="3" name="Text 1"/>
          <p:cNvSpPr/>
          <p:nvPr/>
        </p:nvSpPr>
        <p:spPr>
          <a:xfrm>
            <a:off x="640080" y="1042416"/>
            <a:ext cx="10424160" cy="384048"/>
          </a:xfrm>
          <a:prstGeom prst="rect">
            <a:avLst/>
          </a:prstGeom>
          <a:noFill/>
          <a:ln/>
        </p:spPr>
        <p:txBody>
          <a:bodyPr wrap="square" lIns="0" tIns="0" rIns="0" bIns="0" rtlCol="0" anchor="ctr"/>
          <a:lstStyle/>
          <a:p>
            <a:pPr marL="0" indent="0">
              <a:buNone/>
            </a:pPr>
            <a:r>
              <a:rPr lang="en-US" sz="1500" dirty="0">
                <a:solidFill>
                  <a:srgbClr val="6E6E66"/>
                </a:solidFill>
                <a:latin typeface="Calibri" pitchFamily="34" charset="0"/>
                <a:ea typeface="Calibri" pitchFamily="34" charset="-122"/>
                <a:cs typeface="Calibri" pitchFamily="34" charset="-120"/>
              </a:rPr>
              <a:t>Added after testing showed the original design allowed the opposite</a:t>
            </a:r>
            <a:endParaRPr lang="en-US" sz="1500" dirty="0"/>
          </a:p>
        </p:txBody>
      </p:sp>
      <p:sp>
        <p:nvSpPr>
          <p:cNvPr id="4" name="Shape 2"/>
          <p:cNvSpPr/>
          <p:nvPr/>
        </p:nvSpPr>
        <p:spPr>
          <a:xfrm>
            <a:off x="640080" y="1737360"/>
            <a:ext cx="5760720" cy="1645920"/>
          </a:xfrm>
          <a:prstGeom prst="roundRect">
            <a:avLst>
              <a:gd name="adj" fmla="val 4444"/>
            </a:avLst>
          </a:prstGeom>
          <a:solidFill>
            <a:srgbClr val="F7ECE9"/>
          </a:solidFill>
          <a:ln w="9525">
            <a:solidFill>
              <a:srgbClr val="E8D2CD"/>
            </a:solidFill>
            <a:prstDash val="solid"/>
          </a:ln>
        </p:spPr>
        <p:txBody>
          <a:bodyPr/>
          <a:p/>
        </p:txBody>
      </p:sp>
      <p:sp>
        <p:nvSpPr>
          <p:cNvPr id="5" name="Text 3"/>
          <p:cNvSpPr/>
          <p:nvPr/>
        </p:nvSpPr>
        <p:spPr>
          <a:xfrm>
            <a:off x="932688" y="1874520"/>
            <a:ext cx="5120640" cy="274320"/>
          </a:xfrm>
          <a:prstGeom prst="rect">
            <a:avLst/>
          </a:prstGeom>
          <a:noFill/>
          <a:ln/>
        </p:spPr>
        <p:txBody>
          <a:bodyPr wrap="square" lIns="0" tIns="0" rIns="0" bIns="0" rtlCol="0" anchor="ctr"/>
          <a:lstStyle/>
          <a:p>
            <a:pPr marL="0" indent="0">
              <a:buNone/>
            </a:pPr>
            <a:r>
              <a:rPr lang="en-US" sz="1200" b="1" kern="0" spc="200" dirty="0">
                <a:solidFill>
                  <a:srgbClr val="7A2E1E"/>
                </a:solidFill>
                <a:latin typeface="Calibri" pitchFamily="34" charset="0"/>
                <a:ea typeface="Calibri" pitchFamily="34" charset="-122"/>
                <a:cs typeface="Calibri" pitchFamily="34" charset="-120"/>
              </a:rPr>
              <a:t>The problem</a:t>
            </a:r>
            <a:endParaRPr lang="en-US" sz="1200" dirty="0"/>
          </a:p>
        </p:txBody>
      </p:sp>
      <p:sp>
        <p:nvSpPr>
          <p:cNvPr id="6" name="Text 4"/>
          <p:cNvSpPr/>
          <p:nvPr/>
        </p:nvSpPr>
        <p:spPr>
          <a:xfrm>
            <a:off x="932688" y="2212848"/>
            <a:ext cx="5175504" cy="1143000"/>
          </a:xfrm>
          <a:prstGeom prst="rect">
            <a:avLst/>
          </a:prstGeom>
          <a:noFill/>
          <a:ln/>
        </p:spPr>
        <p:txBody>
          <a:bodyPr wrap="square" lIns="0" tIns="0" rIns="0" bIns="0" rtlCol="0" anchor="ctr"/>
          <a:lstStyle/>
          <a:p>
            <a:pPr marL="0" indent="0">
              <a:lnSpc>
                <a:spcPts val="1800"/>
              </a:lnSpc>
              <a:buNone/>
            </a:pPr>
            <a:r>
              <a:rPr lang="en-US" sz="1300" dirty="0">
                <a:solidFill>
                  <a:srgbClr val="7A2E1E"/>
                </a:solidFill>
                <a:latin typeface="Calibri" pitchFamily="34" charset="0"/>
                <a:ea typeface="Calibri" pitchFamily="34" charset="-122"/>
                <a:cs typeface="Calibri" pitchFamily="34" charset="-120"/>
              </a:rPr>
              <a:t>The urgent flag could not be overridden — but the agent's own declaration that it lacked data to judge could be. At a low enough setting, 11 of 15 products auto-approved, including one whose reasoning read 'too little history to trust'.</a:t>
            </a:r>
            <a:endParaRPr lang="en-US" sz="1300" dirty="0"/>
          </a:p>
        </p:txBody>
      </p:sp>
      <p:sp>
        <p:nvSpPr>
          <p:cNvPr id="7" name="Shape 5"/>
          <p:cNvSpPr/>
          <p:nvPr/>
        </p:nvSpPr>
        <p:spPr>
          <a:xfrm>
            <a:off x="640080" y="3566160"/>
            <a:ext cx="5760720" cy="1645920"/>
          </a:xfrm>
          <a:prstGeom prst="roundRect">
            <a:avLst>
              <a:gd name="adj" fmla="val 4444"/>
            </a:avLst>
          </a:prstGeom>
          <a:solidFill>
            <a:srgbClr val="E8F0E2"/>
          </a:solidFill>
          <a:ln w="9525">
            <a:solidFill>
              <a:srgbClr val="CFDEC5"/>
            </a:solidFill>
            <a:prstDash val="solid"/>
          </a:ln>
        </p:spPr>
        <p:txBody>
          <a:bodyPr/>
          <a:p/>
        </p:txBody>
      </p:sp>
      <p:sp>
        <p:nvSpPr>
          <p:cNvPr id="8" name="Text 6"/>
          <p:cNvSpPr/>
          <p:nvPr/>
        </p:nvSpPr>
        <p:spPr>
          <a:xfrm>
            <a:off x="932688" y="3714006"/>
            <a:ext cx="5120640" cy="274320"/>
          </a:xfrm>
          <a:prstGeom prst="rect">
            <a:avLst/>
          </a:prstGeom>
          <a:noFill/>
          <a:ln/>
        </p:spPr>
        <p:txBody>
          <a:bodyPr wrap="square" lIns="0" tIns="0" rIns="0" bIns="0" rtlCol="0" anchor="ctr"/>
          <a:lstStyle/>
          <a:p>
            <a:pPr marL="0" indent="0">
              <a:buNone/>
            </a:pPr>
            <a:r>
              <a:rPr lang="en-US" sz="1200" b="1" kern="0" spc="200" dirty="0">
                <a:solidFill>
                  <a:srgbClr val="2C5F2D"/>
                </a:solidFill>
                <a:latin typeface="Calibri" pitchFamily="34" charset="0"/>
                <a:ea typeface="Calibri" pitchFamily="34" charset="-122"/>
                <a:cs typeface="Calibri" pitchFamily="34" charset="-120"/>
              </a:rPr>
              <a:t>The fix</a:t>
            </a:r>
            <a:endParaRPr lang="en-US" sz="1200" dirty="0"/>
          </a:p>
        </p:txBody>
      </p:sp>
      <p:sp>
        <p:nvSpPr>
          <p:cNvPr id="9" name="Text 7"/>
          <p:cNvSpPr/>
          <p:nvPr/>
        </p:nvSpPr>
        <p:spPr>
          <a:xfrm>
            <a:off x="932688" y="4041648"/>
            <a:ext cx="5175504" cy="1143000"/>
          </a:xfrm>
          <a:prstGeom prst="rect">
            <a:avLst/>
          </a:prstGeom>
          <a:noFill/>
          <a:ln/>
        </p:spPr>
        <p:txBody>
          <a:bodyPr wrap="square" lIns="0" tIns="0" rIns="0" bIns="0" rtlCol="0" anchor="ctr"/>
          <a:lstStyle/>
          <a:p>
            <a:pPr marL="0" indent="0">
              <a:lnSpc>
                <a:spcPts val="1800"/>
              </a:lnSpc>
              <a:buNone/>
            </a:pPr>
            <a:r>
              <a:rPr lang="en-US" sz="1300" dirty="0">
                <a:solidFill>
                  <a:srgbClr val="16301A"/>
                </a:solidFill>
                <a:latin typeface="Calibri" pitchFamily="34" charset="0"/>
                <a:ea typeface="Calibri" pitchFamily="34" charset="-122"/>
                <a:cs typeface="Calibri" pitchFamily="34" charset="-120"/>
              </a:rPr>
              <a:t>A hard floor at 50%, checked before both the urgent flag and the slider. If the system has flagged something as beyond its own competence, an autonomy dial should not be able to wave it through.</a:t>
            </a:r>
            <a:endParaRPr lang="en-US" sz="1300" dirty="0"/>
          </a:p>
        </p:txBody>
      </p:sp>
      <p:sp>
        <p:nvSpPr>
          <p:cNvPr id="10" name="Shape 8"/>
          <p:cNvSpPr/>
          <p:nvPr/>
        </p:nvSpPr>
        <p:spPr>
          <a:xfrm>
            <a:off x="6858000" y="1737360"/>
            <a:ext cx="4663440" cy="3474720"/>
          </a:xfrm>
          <a:prstGeom prst="roundRect">
            <a:avLst>
              <a:gd name="adj" fmla="val 2105"/>
            </a:avLst>
          </a:prstGeom>
          <a:solidFill>
            <a:srgbClr val="16301A"/>
          </a:solidFill>
          <a:ln/>
        </p:spPr>
        <p:txBody>
          <a:bodyPr/>
          <a:p/>
        </p:txBody>
      </p:sp>
      <p:sp>
        <p:nvSpPr>
          <p:cNvPr id="11" name="Text 9"/>
          <p:cNvSpPr/>
          <p:nvPr/>
        </p:nvSpPr>
        <p:spPr>
          <a:xfrm>
            <a:off x="7223760" y="2194560"/>
            <a:ext cx="3931920" cy="2560320"/>
          </a:xfrm>
          <a:prstGeom prst="rect">
            <a:avLst/>
          </a:prstGeom>
          <a:noFill/>
          <a:ln/>
        </p:spPr>
        <p:txBody>
          <a:bodyPr wrap="square" lIns="0" tIns="0" rIns="0" bIns="0" rtlCol="0" anchor="ctr"/>
          <a:lstStyle/>
          <a:p>
            <a:pPr marL="0" indent="0">
              <a:lnSpc>
                <a:spcPts val="3200"/>
              </a:lnSpc>
              <a:buNone/>
            </a:pPr>
            <a:r>
              <a:rPr lang="en-US" sz="2200" i="1" dirty="0">
                <a:solidFill>
                  <a:srgbClr val="FFFFFF"/>
                </a:solidFill>
                <a:latin typeface="Cambria" pitchFamily="34" charset="0"/>
                <a:ea typeface="Cambria" pitchFamily="34" charset="-122"/>
                <a:cs typeface="Cambria" pitchFamily="34" charset="-120"/>
              </a:rPr>
              <a:t>“A trust layer you can instruct to trust itself completely is not a trust layer.”</a:t>
            </a:r>
            <a:endParaRPr lang="en-US" sz="2200" dirty="0"/>
          </a:p>
        </p:txBody>
      </p:sp>
      <p:sp>
        <p:nvSpPr>
          <p:cNvPr id="12" name="Text 10"/>
          <p:cNvSpPr/>
          <p:nvPr/>
        </p:nvSpPr>
        <p:spPr>
          <a:xfrm>
            <a:off x="640080" y="6291072"/>
            <a:ext cx="10881360" cy="292608"/>
          </a:xfrm>
          <a:prstGeom prst="rect">
            <a:avLst/>
          </a:prstGeom>
          <a:noFill/>
          <a:ln/>
        </p:spPr>
        <p:txBody>
          <a:bodyPr wrap="square" lIns="0" tIns="0" rIns="0" bIns="0" rtlCol="0" anchor="ctr"/>
          <a:lstStyle/>
          <a:p>
            <a:pPr marL="0" indent="0">
              <a:buNone/>
            </a:pPr>
            <a:r>
              <a:rPr lang="en-US" sz="1050" i="1" dirty="0">
                <a:solidFill>
                  <a:srgbClr val="6E6E66"/>
                </a:solidFill>
                <a:latin typeface="Calibri" pitchFamily="34" charset="0"/>
                <a:ea typeface="Calibri" pitchFamily="34" charset="-122"/>
                <a:cs typeface="Calibri" pitchFamily="34" charset="-120"/>
              </a:rPr>
              <a:t>Uncertainty is the stronger case for mandatory review, not the weaker one — a stockout is computed correctly; sparse history means it does not know.</a:t>
            </a:r>
            <a:endParaRPr lang="en-US" sz="10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10881360" cy="566928"/>
          </a:xfrm>
          <a:prstGeom prst="rect">
            <a:avLst/>
          </a:prstGeom>
          <a:noFill/>
          <a:ln/>
        </p:spPr>
        <p:txBody>
          <a:bodyPr wrap="square" lIns="0" tIns="0" rIns="0" bIns="0" rtlCol="0" anchor="ctr"/>
          <a:lstStyle/>
          <a:p>
            <a:pPr marL="0" indent="0">
              <a:buNone/>
            </a:pPr>
            <a:r>
              <a:rPr lang="en-US" sz="3300" b="1" dirty="0">
                <a:solidFill>
                  <a:srgbClr val="2C5F2D"/>
                </a:solidFill>
                <a:latin typeface="Cambria" pitchFamily="34" charset="0"/>
                <a:ea typeface="Cambria" pitchFamily="34" charset="-122"/>
                <a:cs typeface="Cambria" pitchFamily="34" charset="-120"/>
              </a:rPr>
              <a:t>Ranking the queue by what is actually at stake</a:t>
            </a:r>
            <a:endParaRPr lang="en-US" sz="3300" dirty="0"/>
          </a:p>
        </p:txBody>
      </p:sp>
      <p:sp>
        <p:nvSpPr>
          <p:cNvPr id="3" name="Text 1"/>
          <p:cNvSpPr/>
          <p:nvPr/>
        </p:nvSpPr>
        <p:spPr>
          <a:xfrm>
            <a:off x="640080" y="1042416"/>
            <a:ext cx="10424160" cy="384048"/>
          </a:xfrm>
          <a:prstGeom prst="rect">
            <a:avLst/>
          </a:prstGeom>
          <a:noFill/>
          <a:ln/>
        </p:spPr>
        <p:txBody>
          <a:bodyPr wrap="square" lIns="0" tIns="0" rIns="0" bIns="0" rtlCol="0" anchor="ctr"/>
          <a:lstStyle/>
          <a:p>
            <a:pPr marL="0" indent="0">
              <a:buNone/>
            </a:pPr>
            <a:r>
              <a:rPr lang="en-US" sz="1500" dirty="0">
                <a:solidFill>
                  <a:srgbClr val="6E6E66"/>
                </a:solidFill>
                <a:latin typeface="Calibri" pitchFamily="34" charset="0"/>
                <a:ea typeface="Calibri" pitchFamily="34" charset="-122"/>
                <a:cs typeface="Calibri" pitchFamily="34" charset="-120"/>
              </a:rPr>
              <a:t>A queue that does not prioritise is one people work through by accident</a:t>
            </a:r>
            <a:endParaRPr lang="en-US" sz="1500" dirty="0"/>
          </a:p>
        </p:txBody>
      </p:sp>
      <p:sp>
        <p:nvSpPr>
          <p:cNvPr id="4" name="Text 2"/>
          <p:cNvSpPr/>
          <p:nvPr/>
        </p:nvSpPr>
        <p:spPr>
          <a:xfrm>
            <a:off x="640080" y="1737360"/>
            <a:ext cx="5120640" cy="914400"/>
          </a:xfrm>
          <a:prstGeom prst="rect">
            <a:avLst/>
          </a:prstGeom>
          <a:noFill/>
          <a:ln/>
        </p:spPr>
        <p:txBody>
          <a:bodyPr wrap="square" lIns="0" tIns="0" rIns="0" bIns="0" rtlCol="0" anchor="ctr"/>
          <a:lstStyle/>
          <a:p>
            <a:pPr marL="0" indent="0">
              <a:lnSpc>
                <a:spcPts val="2300"/>
              </a:lnSpc>
              <a:buNone/>
            </a:pPr>
            <a:r>
              <a:rPr lang="en-US" sz="1500" dirty="0">
                <a:solidFill>
                  <a:srgbClr val="24241F"/>
                </a:solidFill>
                <a:latin typeface="Calibri" pitchFamily="34" charset="0"/>
                <a:ea typeface="Calibri" pitchFamily="34" charset="-122"/>
                <a:cs typeface="Calibri" pitchFamily="34" charset="-120"/>
              </a:rPr>
              <a:t>Urgency was originally ranked by how many days early the shelf empties. That put the highest-exposure product fourth.</a:t>
            </a:r>
            <a:endParaRPr lang="en-US" sz="1500" dirty="0"/>
          </a:p>
        </p:txBody>
      </p:sp>
      <p:sp>
        <p:nvSpPr>
          <p:cNvPr id="5" name="Text 3"/>
          <p:cNvSpPr/>
          <p:nvPr/>
        </p:nvSpPr>
        <p:spPr>
          <a:xfrm>
            <a:off x="640080" y="2788920"/>
            <a:ext cx="5120640" cy="1463040"/>
          </a:xfrm>
          <a:prstGeom prst="rect">
            <a:avLst/>
          </a:prstGeom>
          <a:noFill/>
          <a:ln/>
        </p:spPr>
        <p:txBody>
          <a:bodyPr wrap="square" lIns="0" tIns="0" rIns="0" bIns="0" rtlCol="0" anchor="ctr"/>
          <a:lstStyle/>
          <a:p>
            <a:pPr marL="0" indent="0">
              <a:lnSpc>
                <a:spcPts val="2300"/>
              </a:lnSpc>
              <a:buNone/>
            </a:pPr>
            <a:r>
              <a:rPr lang="en-US" sz="1500" dirty="0">
                <a:solidFill>
                  <a:srgbClr val="24241F"/>
                </a:solidFill>
                <a:latin typeface="Calibri" pitchFamily="34" charset="0"/>
                <a:ea typeface="Calibri" pitchFamily="34" charset="-122"/>
                <a:cs typeface="Calibri" pitchFamily="34" charset="-120"/>
              </a:rPr>
              <a:t>The queue is now ordered by exposure — units of demand left unserved during the gap, valued at retail. That deliberately uses price, which the reorder calculation never touches, so it adds information rather than rescaling the same signal.</a:t>
            </a:r>
            <a:endParaRPr lang="en-US" sz="1500" dirty="0"/>
          </a:p>
        </p:txBody>
      </p:sp>
      <p:sp>
        <p:nvSpPr>
          <p:cNvPr id="6" name="Text 4"/>
          <p:cNvSpPr/>
          <p:nvPr/>
        </p:nvSpPr>
        <p:spPr>
          <a:xfrm>
            <a:off x="640080" y="4389120"/>
            <a:ext cx="5120640" cy="914400"/>
          </a:xfrm>
          <a:prstGeom prst="rect">
            <a:avLst/>
          </a:prstGeom>
          <a:noFill/>
          <a:ln/>
        </p:spPr>
        <p:txBody>
          <a:bodyPr wrap="square" lIns="0" tIns="0" rIns="0" bIns="0" rtlCol="0" anchor="ctr"/>
          <a:lstStyle/>
          <a:p>
            <a:pPr marL="0" indent="0">
              <a:lnSpc>
                <a:spcPts val="2300"/>
              </a:lnSpc>
              <a:buNone/>
            </a:pPr>
            <a:r>
              <a:rPr lang="en-US" sz="1500" b="1" dirty="0">
                <a:solidFill>
                  <a:srgbClr val="2C5F2D"/>
                </a:solidFill>
                <a:latin typeface="Calibri" pitchFamily="34" charset="0"/>
                <a:ea typeface="Calibri" pitchFamily="34" charset="-122"/>
                <a:cs typeface="Calibri" pitchFamily="34" charset="-120"/>
              </a:rPr>
              <a:t>The jacket has the smallest shortfall in days of the three urgent items — and the largest exposure, because it sells far faster.</a:t>
            </a:r>
            <a:endParaRPr lang="en-US" sz="1500" dirty="0"/>
          </a:p>
        </p:txBody>
      </p:sp>
      <p:graphicFrame>
        <p:nvGraphicFramePr>
          <p:cNvPr id="7" name="Chart 0"/>
          <p:cNvGraphicFramePr/>
          <p:nvPr/>
        </p:nvGraphicFramePr>
        <p:xfrm>
          <a:off x="6126480" y="1828800"/>
          <a:ext cx="5394960" cy="301752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1">
    <p:bg>
      <p:bgPr>
        <a:solidFill>
          <a:srgbClr val="2C5F2D"/>
        </a:solidFill>
        <a:effectLst/>
      </p:bgPr>
    </p:bg>
    <p:spTree>
      <p:nvGrpSpPr>
        <p:cNvPr id="1" name=""/>
        <p:cNvGrpSpPr/>
        <p:nvPr/>
      </p:nvGrpSpPr>
      <p:grpSpPr>
        <a:xfrm>
          <a:off x="0" y="0"/>
          <a:ext cx="0" cy="0"/>
          <a:chOff x="0" y="0"/>
          <a:chExt cx="0" cy="0"/>
        </a:xfrm>
      </p:grpSpPr>
      <p:sp>
        <p:nvSpPr>
          <p:cNvPr id="2" name="Shape 0"/>
          <p:cNvSpPr/>
          <p:nvPr/>
        </p:nvSpPr>
        <p:spPr>
          <a:xfrm>
            <a:off x="640080" y="2286000"/>
            <a:ext cx="868680" cy="868680"/>
          </a:xfrm>
          <a:prstGeom prst="ellipse">
            <a:avLst/>
          </a:prstGeom>
          <a:solidFill>
            <a:srgbClr val="97BC62"/>
          </a:solidFill>
          <a:ln/>
        </p:spPr>
        <p:txBody>
          <a:bodyPr/>
          <a:p/>
        </p:txBody>
      </p:sp>
      <p:sp>
        <p:nvSpPr>
          <p:cNvPr id="3" name="Text 1"/>
          <p:cNvSpPr/>
          <p:nvPr/>
        </p:nvSpPr>
        <p:spPr>
          <a:xfrm>
            <a:off x="640080" y="2286000"/>
            <a:ext cx="868680" cy="868680"/>
          </a:xfrm>
          <a:prstGeom prst="rect">
            <a:avLst/>
          </a:prstGeom>
          <a:noFill/>
          <a:ln/>
        </p:spPr>
        <p:txBody>
          <a:bodyPr wrap="square" rtlCol="0" anchor="ctr"/>
          <a:lstStyle/>
          <a:p>
            <a:pPr marL="0" indent="0" algn="ctr">
              <a:buNone/>
            </a:pPr>
            <a:r>
              <a:rPr lang="en-US" sz="3200" b="1" dirty="0">
                <a:solidFill>
                  <a:srgbClr val="16301A"/>
                </a:solidFill>
                <a:latin typeface="Cambria" pitchFamily="34" charset="0"/>
                <a:ea typeface="Cambria" pitchFamily="34" charset="-122"/>
                <a:cs typeface="Cambria" pitchFamily="34" charset="-120"/>
              </a:rPr>
              <a:t>4</a:t>
            </a:r>
            <a:endParaRPr lang="en-US" sz="3200" dirty="0"/>
          </a:p>
        </p:txBody>
      </p:sp>
      <p:sp>
        <p:nvSpPr>
          <p:cNvPr id="4" name="Text 2"/>
          <p:cNvSpPr/>
          <p:nvPr/>
        </p:nvSpPr>
        <p:spPr>
          <a:xfrm>
            <a:off x="1874520" y="2240280"/>
            <a:ext cx="9509760" cy="777240"/>
          </a:xfrm>
          <a:prstGeom prst="rect">
            <a:avLst/>
          </a:prstGeom>
          <a:noFill/>
          <a:ln/>
        </p:spPr>
        <p:txBody>
          <a:bodyPr wrap="square" rtlCol="0" anchor="ctr"/>
          <a:lstStyle/>
          <a:p>
            <a:pPr marL="0" indent="0">
              <a:buNone/>
            </a:pPr>
            <a:r>
              <a:rPr lang="en-US" sz="3800" b="1" dirty="0">
                <a:solidFill>
                  <a:srgbClr val="FFFFFF"/>
                </a:solidFill>
                <a:latin typeface="Cambria" pitchFamily="34" charset="0"/>
                <a:ea typeface="Cambria" pitchFamily="34" charset="-122"/>
                <a:cs typeface="Cambria" pitchFamily="34" charset="-120"/>
              </a:rPr>
              <a:t>Limitations and decisions</a:t>
            </a:r>
            <a:endParaRPr lang="en-US" sz="3800" dirty="0"/>
          </a:p>
        </p:txBody>
      </p:sp>
      <p:sp>
        <p:nvSpPr>
          <p:cNvPr id="5" name="Text 3"/>
          <p:cNvSpPr/>
          <p:nvPr/>
        </p:nvSpPr>
        <p:spPr>
          <a:xfrm>
            <a:off x="1874520" y="3063240"/>
            <a:ext cx="8961120" cy="822960"/>
          </a:xfrm>
          <a:prstGeom prst="rect">
            <a:avLst/>
          </a:prstGeom>
          <a:noFill/>
          <a:ln/>
        </p:spPr>
        <p:txBody>
          <a:bodyPr wrap="square" rtlCol="0" anchor="ctr"/>
          <a:lstStyle/>
          <a:p>
            <a:pPr marL="0" indent="0">
              <a:lnSpc>
                <a:spcPts val="2400"/>
              </a:lnSpc>
              <a:buNone/>
            </a:pPr>
            <a:r>
              <a:rPr lang="en-US" sz="1600" dirty="0">
                <a:solidFill>
                  <a:srgbClr val="D4E3C6"/>
                </a:solidFill>
                <a:latin typeface="Calibri" pitchFamily="34" charset="0"/>
                <a:ea typeface="Calibri" pitchFamily="34" charset="-122"/>
                <a:cs typeface="Calibri" pitchFamily="34" charset="-120"/>
              </a:rPr>
              <a:t>What was got wrong and corrected, what was chosen deliberately, and what remains broken in the delivered system.</a:t>
            </a:r>
            <a:endParaRPr lang="en-US" sz="16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10881360" cy="566928"/>
          </a:xfrm>
          <a:prstGeom prst="rect">
            <a:avLst/>
          </a:prstGeom>
          <a:noFill/>
          <a:ln/>
        </p:spPr>
        <p:txBody>
          <a:bodyPr wrap="square" lIns="0" tIns="0" rIns="0" bIns="0" rtlCol="0" anchor="ctr"/>
          <a:lstStyle/>
          <a:p>
            <a:pPr marL="0" indent="0">
              <a:buNone/>
            </a:pPr>
            <a:r>
              <a:rPr lang="en-US" sz="3300" b="1" dirty="0">
                <a:solidFill>
                  <a:srgbClr val="2C5F2D"/>
                </a:solidFill>
                <a:latin typeface="Cambria" pitchFamily="34" charset="0"/>
                <a:ea typeface="Cambria" pitchFamily="34" charset="-122"/>
                <a:cs typeface="Cambria" pitchFamily="34" charset="-120"/>
              </a:rPr>
              <a:t>What we got wrong, and corrected</a:t>
            </a:r>
            <a:endParaRPr lang="en-US" sz="3300" dirty="0"/>
          </a:p>
        </p:txBody>
      </p:sp>
      <p:sp>
        <p:nvSpPr>
          <p:cNvPr id="3" name="Text 1"/>
          <p:cNvSpPr/>
          <p:nvPr/>
        </p:nvSpPr>
        <p:spPr>
          <a:xfrm>
            <a:off x="640080" y="1042416"/>
            <a:ext cx="10424160" cy="384048"/>
          </a:xfrm>
          <a:prstGeom prst="rect">
            <a:avLst/>
          </a:prstGeom>
          <a:noFill/>
          <a:ln/>
        </p:spPr>
        <p:txBody>
          <a:bodyPr wrap="square" lIns="0" tIns="0" rIns="0" bIns="0" rtlCol="0" anchor="ctr"/>
          <a:lstStyle/>
          <a:p>
            <a:pPr marL="0" indent="0">
              <a:buNone/>
            </a:pPr>
            <a:r>
              <a:rPr lang="en-US" sz="1500" dirty="0">
                <a:solidFill>
                  <a:srgbClr val="6E6E66"/>
                </a:solidFill>
                <a:latin typeface="Calibri" pitchFamily="34" charset="0"/>
                <a:ea typeface="Calibri" pitchFamily="34" charset="-122"/>
                <a:cs typeface="Calibri" pitchFamily="34" charset="-120"/>
              </a:rPr>
              <a:t>Every figure below was produced by running the code, not by reading it</a:t>
            </a:r>
            <a:endParaRPr lang="en-US" sz="1500" dirty="0"/>
          </a:p>
        </p:txBody>
      </p:sp>
      <p:sp>
        <p:nvSpPr>
          <p:cNvPr id="4" name="Shape 2"/>
          <p:cNvSpPr/>
          <p:nvPr/>
        </p:nvSpPr>
        <p:spPr>
          <a:xfrm>
            <a:off x="640080" y="1783080"/>
            <a:ext cx="2606040" cy="1600200"/>
          </a:xfrm>
          <a:prstGeom prst="roundRect">
            <a:avLst>
              <a:gd name="adj" fmla="val 4571"/>
            </a:avLst>
          </a:prstGeom>
          <a:solidFill>
            <a:srgbClr val="F4F6F1"/>
          </a:solidFill>
          <a:ln w="9525">
            <a:solidFill>
              <a:srgbClr val="E2E8DC"/>
            </a:solidFill>
            <a:prstDash val="solid"/>
          </a:ln>
        </p:spPr>
        <p:txBody>
          <a:bodyPr/>
          <a:p/>
        </p:txBody>
      </p:sp>
      <p:sp>
        <p:nvSpPr>
          <p:cNvPr id="5" name="Text 3"/>
          <p:cNvSpPr/>
          <p:nvPr/>
        </p:nvSpPr>
        <p:spPr>
          <a:xfrm>
            <a:off x="868680" y="1911096"/>
            <a:ext cx="2148840" cy="603504"/>
          </a:xfrm>
          <a:prstGeom prst="rect">
            <a:avLst/>
          </a:prstGeom>
          <a:noFill/>
          <a:ln/>
        </p:spPr>
        <p:txBody>
          <a:bodyPr wrap="square" lIns="0" tIns="0" rIns="0" bIns="0" rtlCol="0" anchor="ctr"/>
          <a:lstStyle/>
          <a:p>
            <a:pPr marL="0" indent="0">
              <a:buNone/>
            </a:pPr>
            <a:r>
              <a:rPr lang="en-US" sz="3400" b="1" dirty="0">
                <a:solidFill>
                  <a:srgbClr val="2C5F2D"/>
                </a:solidFill>
                <a:latin typeface="Cambria" pitchFamily="34" charset="0"/>
                <a:ea typeface="Cambria" pitchFamily="34" charset="-122"/>
                <a:cs typeface="Cambria" pitchFamily="34" charset="-120"/>
              </a:rPr>
              <a:t>17</a:t>
            </a:r>
            <a:endParaRPr lang="en-US" sz="3400" dirty="0"/>
          </a:p>
        </p:txBody>
      </p:sp>
      <p:sp>
        <p:nvSpPr>
          <p:cNvPr id="6" name="Text 4"/>
          <p:cNvSpPr/>
          <p:nvPr/>
        </p:nvSpPr>
        <p:spPr>
          <a:xfrm>
            <a:off x="868680" y="2532888"/>
            <a:ext cx="2148840" cy="740664"/>
          </a:xfrm>
          <a:prstGeom prst="rect">
            <a:avLst/>
          </a:prstGeom>
          <a:noFill/>
          <a:ln/>
        </p:spPr>
        <p:txBody>
          <a:bodyPr wrap="square" lIns="0" tIns="0" rIns="0" bIns="0" rtlCol="0" anchor="t"/>
          <a:lstStyle/>
          <a:p>
            <a:pPr marL="0" indent="0">
              <a:lnSpc>
                <a:spcPts val="1600"/>
              </a:lnSpc>
              <a:buNone/>
            </a:pPr>
            <a:r>
              <a:rPr lang="en-US" sz="1200" dirty="0">
                <a:solidFill>
                  <a:srgbClr val="6E6E66"/>
                </a:solidFill>
                <a:latin typeface="Calibri" pitchFamily="34" charset="0"/>
                <a:ea typeface="Calibri" pitchFamily="34" charset="-122"/>
                <a:cs typeface="Calibri" pitchFamily="34" charset="-120"/>
              </a:rPr>
              <a:t>Functional defects</a:t>
            </a:r>
            <a:endParaRPr lang="en-US" sz="1200" dirty="0"/>
          </a:p>
          <a:p>
            <a:pPr marL="0" indent="0">
              <a:lnSpc>
                <a:spcPts val="1600"/>
              </a:lnSpc>
              <a:buNone/>
            </a:pPr>
            <a:r>
              <a:rPr lang="en-US" sz="1200" dirty="0">
                <a:solidFill>
                  <a:srgbClr val="6E6E66"/>
                </a:solidFill>
                <a:latin typeface="Calibri" pitchFamily="34" charset="0"/>
                <a:ea typeface="Calibri" pitchFamily="34" charset="-122"/>
                <a:cs typeface="Calibri" pitchFamily="34" charset="-120"/>
              </a:rPr>
              <a:t>found and fixed</a:t>
            </a:r>
            <a:endParaRPr lang="en-US" sz="1200" dirty="0"/>
          </a:p>
        </p:txBody>
      </p:sp>
      <p:sp>
        <p:nvSpPr>
          <p:cNvPr id="7" name="Shape 5"/>
          <p:cNvSpPr/>
          <p:nvPr/>
        </p:nvSpPr>
        <p:spPr>
          <a:xfrm>
            <a:off x="3429000" y="1783080"/>
            <a:ext cx="2606040" cy="1600200"/>
          </a:xfrm>
          <a:prstGeom prst="roundRect">
            <a:avLst>
              <a:gd name="adj" fmla="val 4571"/>
            </a:avLst>
          </a:prstGeom>
          <a:solidFill>
            <a:srgbClr val="F4F6F1"/>
          </a:solidFill>
          <a:ln w="9525">
            <a:solidFill>
              <a:srgbClr val="E2E8DC"/>
            </a:solidFill>
            <a:prstDash val="solid"/>
          </a:ln>
        </p:spPr>
        <p:txBody>
          <a:bodyPr/>
          <a:p/>
        </p:txBody>
      </p:sp>
      <p:sp>
        <p:nvSpPr>
          <p:cNvPr id="8" name="Text 6"/>
          <p:cNvSpPr/>
          <p:nvPr/>
        </p:nvSpPr>
        <p:spPr>
          <a:xfrm>
            <a:off x="3657600" y="1911096"/>
            <a:ext cx="2148840" cy="603504"/>
          </a:xfrm>
          <a:prstGeom prst="rect">
            <a:avLst/>
          </a:prstGeom>
          <a:noFill/>
          <a:ln/>
        </p:spPr>
        <p:txBody>
          <a:bodyPr wrap="square" lIns="0" tIns="0" rIns="0" bIns="0" rtlCol="0" anchor="ctr"/>
          <a:lstStyle/>
          <a:p>
            <a:pPr marL="0" indent="0">
              <a:buNone/>
            </a:pPr>
            <a:r>
              <a:rPr lang="en-US" sz="3400" b="1" dirty="0">
                <a:solidFill>
                  <a:srgbClr val="2C5F2D"/>
                </a:solidFill>
                <a:latin typeface="Cambria" pitchFamily="34" charset="0"/>
                <a:ea typeface="Cambria" pitchFamily="34" charset="-122"/>
                <a:cs typeface="Cambria" pitchFamily="34" charset="-120"/>
              </a:rPr>
              <a:t>10</a:t>
            </a:r>
            <a:endParaRPr lang="en-US" sz="3400" dirty="0"/>
          </a:p>
        </p:txBody>
      </p:sp>
      <p:sp>
        <p:nvSpPr>
          <p:cNvPr id="9" name="Text 7"/>
          <p:cNvSpPr/>
          <p:nvPr/>
        </p:nvSpPr>
        <p:spPr>
          <a:xfrm>
            <a:off x="3657600" y="2532888"/>
            <a:ext cx="2148840" cy="740664"/>
          </a:xfrm>
          <a:prstGeom prst="rect">
            <a:avLst/>
          </a:prstGeom>
          <a:noFill/>
          <a:ln/>
        </p:spPr>
        <p:txBody>
          <a:bodyPr wrap="square" lIns="0" tIns="0" rIns="0" bIns="0" rtlCol="0" anchor="t"/>
          <a:lstStyle/>
          <a:p>
            <a:pPr marL="0" indent="0">
              <a:lnSpc>
                <a:spcPts val="1600"/>
              </a:lnSpc>
              <a:buNone/>
            </a:pPr>
            <a:r>
              <a:rPr lang="en-US" sz="1200" dirty="0">
                <a:solidFill>
                  <a:srgbClr val="6E6E66"/>
                </a:solidFill>
                <a:latin typeface="Calibri" pitchFamily="34" charset="0"/>
                <a:ea typeface="Calibri" pitchFamily="34" charset="-122"/>
                <a:cs typeface="Calibri" pitchFamily="34" charset="-120"/>
              </a:rPr>
              <a:t>Capabilities added</a:t>
            </a:r>
            <a:endParaRPr lang="en-US" sz="1200" dirty="0"/>
          </a:p>
          <a:p>
            <a:pPr marL="0" indent="0">
              <a:lnSpc>
                <a:spcPts val="1600"/>
              </a:lnSpc>
              <a:buNone/>
            </a:pPr>
            <a:r>
              <a:rPr lang="en-US" sz="1200" dirty="0">
                <a:solidFill>
                  <a:srgbClr val="6E6E66"/>
                </a:solidFill>
                <a:latin typeface="Calibri" pitchFamily="34" charset="0"/>
                <a:ea typeface="Calibri" pitchFamily="34" charset="-122"/>
                <a:cs typeface="Calibri" pitchFamily="34" charset="-120"/>
              </a:rPr>
              <a:t>after first build</a:t>
            </a:r>
            <a:endParaRPr lang="en-US" sz="1200" dirty="0"/>
          </a:p>
        </p:txBody>
      </p:sp>
      <p:sp>
        <p:nvSpPr>
          <p:cNvPr id="10" name="Shape 8"/>
          <p:cNvSpPr/>
          <p:nvPr/>
        </p:nvSpPr>
        <p:spPr>
          <a:xfrm>
            <a:off x="6217920" y="1783080"/>
            <a:ext cx="2606040" cy="1600200"/>
          </a:xfrm>
          <a:prstGeom prst="roundRect">
            <a:avLst>
              <a:gd name="adj" fmla="val 4571"/>
            </a:avLst>
          </a:prstGeom>
          <a:solidFill>
            <a:srgbClr val="F4F6F1"/>
          </a:solidFill>
          <a:ln w="9525">
            <a:solidFill>
              <a:srgbClr val="E2E8DC"/>
            </a:solidFill>
            <a:prstDash val="solid"/>
          </a:ln>
        </p:spPr>
        <p:txBody>
          <a:bodyPr/>
          <a:p/>
        </p:txBody>
      </p:sp>
      <p:sp>
        <p:nvSpPr>
          <p:cNvPr id="11" name="Text 9"/>
          <p:cNvSpPr/>
          <p:nvPr/>
        </p:nvSpPr>
        <p:spPr>
          <a:xfrm>
            <a:off x="6446520" y="1911096"/>
            <a:ext cx="2148840" cy="603504"/>
          </a:xfrm>
          <a:prstGeom prst="rect">
            <a:avLst/>
          </a:prstGeom>
          <a:noFill/>
          <a:ln/>
        </p:spPr>
        <p:txBody>
          <a:bodyPr wrap="square" lIns="0" tIns="0" rIns="0" bIns="0" rtlCol="0" anchor="ctr"/>
          <a:lstStyle/>
          <a:p>
            <a:pPr marL="0" indent="0">
              <a:buNone/>
            </a:pPr>
            <a:r>
              <a:rPr lang="en-US" sz="3400" b="1" dirty="0">
                <a:solidFill>
                  <a:srgbClr val="B85042"/>
                </a:solidFill>
                <a:latin typeface="Cambria" pitchFamily="34" charset="0"/>
                <a:ea typeface="Cambria" pitchFamily="34" charset="-122"/>
                <a:cs typeface="Cambria" pitchFamily="34" charset="-120"/>
              </a:rPr>
              <a:t>14</a:t>
            </a:r>
            <a:endParaRPr lang="en-US" sz="3400" dirty="0"/>
          </a:p>
        </p:txBody>
      </p:sp>
      <p:sp>
        <p:nvSpPr>
          <p:cNvPr id="12" name="Text 10"/>
          <p:cNvSpPr/>
          <p:nvPr/>
        </p:nvSpPr>
        <p:spPr>
          <a:xfrm>
            <a:off x="6446520" y="2532888"/>
            <a:ext cx="2148840" cy="740664"/>
          </a:xfrm>
          <a:prstGeom prst="rect">
            <a:avLst/>
          </a:prstGeom>
          <a:noFill/>
          <a:ln/>
        </p:spPr>
        <p:txBody>
          <a:bodyPr wrap="square" lIns="0" tIns="0" rIns="0" bIns="0" rtlCol="0" anchor="t"/>
          <a:lstStyle/>
          <a:p>
            <a:pPr marL="0" indent="0">
              <a:lnSpc>
                <a:spcPts val="1600"/>
              </a:lnSpc>
              <a:buNone/>
            </a:pPr>
            <a:r>
              <a:rPr lang="en-US" sz="1200" dirty="0">
                <a:solidFill>
                  <a:srgbClr val="6E6E66"/>
                </a:solidFill>
                <a:latin typeface="Calibri" pitchFamily="34" charset="0"/>
                <a:ea typeface="Calibri" pitchFamily="34" charset="-122"/>
                <a:cs typeface="Calibri" pitchFamily="34" charset="-120"/>
              </a:rPr>
              <a:t>Known issues documented,</a:t>
            </a:r>
            <a:endParaRPr lang="en-US" sz="1200" dirty="0"/>
          </a:p>
          <a:p>
            <a:pPr marL="0" indent="0">
              <a:lnSpc>
                <a:spcPts val="1600"/>
              </a:lnSpc>
              <a:buNone/>
            </a:pPr>
            <a:r>
              <a:rPr lang="en-US" sz="1200" dirty="0">
                <a:solidFill>
                  <a:srgbClr val="6E6E66"/>
                </a:solidFill>
                <a:latin typeface="Calibri" pitchFamily="34" charset="0"/>
                <a:ea typeface="Calibri" pitchFamily="34" charset="-122"/>
                <a:cs typeface="Calibri" pitchFamily="34" charset="-120"/>
              </a:rPr>
              <a:t>not fixed</a:t>
            </a:r>
            <a:endParaRPr lang="en-US" sz="1200" dirty="0"/>
          </a:p>
        </p:txBody>
      </p:sp>
      <p:sp>
        <p:nvSpPr>
          <p:cNvPr id="13" name="Shape 11"/>
          <p:cNvSpPr/>
          <p:nvPr/>
        </p:nvSpPr>
        <p:spPr>
          <a:xfrm>
            <a:off x="9006840" y="1783080"/>
            <a:ext cx="2514600" cy="1600200"/>
          </a:xfrm>
          <a:prstGeom prst="roundRect">
            <a:avLst>
              <a:gd name="adj" fmla="val 4571"/>
            </a:avLst>
          </a:prstGeom>
          <a:solidFill>
            <a:srgbClr val="F4F6F1"/>
          </a:solidFill>
          <a:ln w="9525">
            <a:solidFill>
              <a:srgbClr val="E2E8DC"/>
            </a:solidFill>
            <a:prstDash val="solid"/>
          </a:ln>
        </p:spPr>
        <p:txBody>
          <a:bodyPr/>
          <a:p/>
        </p:txBody>
      </p:sp>
      <p:sp>
        <p:nvSpPr>
          <p:cNvPr id="14" name="Text 12"/>
          <p:cNvSpPr/>
          <p:nvPr/>
        </p:nvSpPr>
        <p:spPr>
          <a:xfrm>
            <a:off x="9235440" y="1911096"/>
            <a:ext cx="2057400" cy="603504"/>
          </a:xfrm>
          <a:prstGeom prst="rect">
            <a:avLst/>
          </a:prstGeom>
          <a:noFill/>
          <a:ln/>
        </p:spPr>
        <p:txBody>
          <a:bodyPr wrap="square" lIns="0" tIns="0" rIns="0" bIns="0" rtlCol="0" anchor="ctr"/>
          <a:lstStyle/>
          <a:p>
            <a:pPr marL="0" indent="0">
              <a:buNone/>
            </a:pPr>
            <a:r>
              <a:rPr lang="en-US" sz="3400" b="1" dirty="0">
                <a:solidFill>
                  <a:srgbClr val="B85042"/>
                </a:solidFill>
                <a:latin typeface="Cambria" pitchFamily="34" charset="0"/>
                <a:ea typeface="Cambria" pitchFamily="34" charset="-122"/>
                <a:cs typeface="Cambria" pitchFamily="34" charset="-120"/>
              </a:rPr>
              <a:t>6</a:t>
            </a:r>
            <a:endParaRPr lang="en-US" sz="3400" dirty="0"/>
          </a:p>
        </p:txBody>
      </p:sp>
      <p:sp>
        <p:nvSpPr>
          <p:cNvPr id="15" name="Text 13"/>
          <p:cNvSpPr/>
          <p:nvPr/>
        </p:nvSpPr>
        <p:spPr>
          <a:xfrm>
            <a:off x="9235440" y="2532888"/>
            <a:ext cx="2057400" cy="740664"/>
          </a:xfrm>
          <a:prstGeom prst="rect">
            <a:avLst/>
          </a:prstGeom>
          <a:noFill/>
          <a:ln/>
        </p:spPr>
        <p:txBody>
          <a:bodyPr wrap="square" lIns="0" tIns="0" rIns="0" bIns="0" rtlCol="0" anchor="t"/>
          <a:lstStyle/>
          <a:p>
            <a:pPr marL="0" indent="0">
              <a:lnSpc>
                <a:spcPts val="1600"/>
              </a:lnSpc>
              <a:buNone/>
            </a:pPr>
            <a:r>
              <a:rPr lang="en-US" sz="1200" dirty="0">
                <a:solidFill>
                  <a:srgbClr val="6E6E66"/>
                </a:solidFill>
                <a:latin typeface="Calibri" pitchFamily="34" charset="0"/>
                <a:ea typeface="Calibri" pitchFamily="34" charset="-122"/>
                <a:cs typeface="Calibri" pitchFamily="34" charset="-120"/>
              </a:rPr>
              <a:t>Build-process errors,</a:t>
            </a:r>
            <a:endParaRPr lang="en-US" sz="1200" dirty="0"/>
          </a:p>
          <a:p>
            <a:pPr marL="0" indent="0">
              <a:lnSpc>
                <a:spcPts val="1600"/>
              </a:lnSpc>
              <a:buNone/>
            </a:pPr>
            <a:r>
              <a:rPr lang="en-US" sz="1200" dirty="0">
                <a:solidFill>
                  <a:srgbClr val="6E6E66"/>
                </a:solidFill>
                <a:latin typeface="Calibri" pitchFamily="34" charset="0"/>
                <a:ea typeface="Calibri" pitchFamily="34" charset="-122"/>
                <a:cs typeface="Calibri" pitchFamily="34" charset="-120"/>
              </a:rPr>
              <a:t>including mine</a:t>
            </a:r>
            <a:endParaRPr lang="en-US" sz="1200" dirty="0"/>
          </a:p>
        </p:txBody>
      </p:sp>
      <p:sp>
        <p:nvSpPr>
          <p:cNvPr id="16" name="Shape 14"/>
          <p:cNvSpPr/>
          <p:nvPr/>
        </p:nvSpPr>
        <p:spPr>
          <a:xfrm>
            <a:off x="640080" y="3749040"/>
            <a:ext cx="10881360" cy="1417320"/>
          </a:xfrm>
          <a:prstGeom prst="roundRect">
            <a:avLst>
              <a:gd name="adj" fmla="val 5161"/>
            </a:avLst>
          </a:prstGeom>
          <a:solidFill>
            <a:srgbClr val="16301A"/>
          </a:solidFill>
          <a:ln/>
        </p:spPr>
        <p:txBody>
          <a:bodyPr/>
          <a:p/>
        </p:txBody>
      </p:sp>
      <p:sp>
        <p:nvSpPr>
          <p:cNvPr id="17" name="Text 15"/>
          <p:cNvSpPr/>
          <p:nvPr/>
        </p:nvSpPr>
        <p:spPr>
          <a:xfrm>
            <a:off x="1005840" y="3977640"/>
            <a:ext cx="10149840" cy="1005840"/>
          </a:xfrm>
          <a:prstGeom prst="rect">
            <a:avLst/>
          </a:prstGeom>
          <a:noFill/>
          <a:ln/>
        </p:spPr>
        <p:txBody>
          <a:bodyPr wrap="square" lIns="0" tIns="0" rIns="0" bIns="0" rtlCol="0" anchor="ctr"/>
          <a:lstStyle/>
          <a:p>
            <a:pPr marL="0" indent="0">
              <a:lnSpc>
                <a:spcPts val="2200"/>
              </a:lnSpc>
              <a:buNone/>
            </a:pPr>
            <a:r>
              <a:rPr lang="en-US" sz="1450" dirty="0">
                <a:solidFill>
                  <a:srgbClr val="D4E3C6"/>
                </a:solidFill>
                <a:latin typeface="Calibri" pitchFamily="34" charset="0"/>
                <a:ea typeface="Calibri" pitchFamily="34" charset="-122"/>
                <a:cs typeface="Calibri" pitchFamily="34" charset="-120"/>
              </a:rPr>
              <a:t>Two of these defects only became visible because fixing another one exposed them. Correcting the burn-rate calculation made the urgency flag fire on more than half the catalogue; modelling in-flight purchase orders revealed the system was double-ordering against stock already on its way.</a:t>
            </a:r>
            <a:endParaRPr lang="en-US" sz="1450" dirty="0"/>
          </a:p>
        </p:txBody>
      </p:sp>
      <p:sp>
        <p:nvSpPr>
          <p:cNvPr id="18" name="Text 16"/>
          <p:cNvSpPr/>
          <p:nvPr/>
        </p:nvSpPr>
        <p:spPr>
          <a:xfrm>
            <a:off x="640080" y="6291072"/>
            <a:ext cx="10881360" cy="292608"/>
          </a:xfrm>
          <a:prstGeom prst="rect">
            <a:avLst/>
          </a:prstGeom>
          <a:noFill/>
          <a:ln/>
        </p:spPr>
        <p:txBody>
          <a:bodyPr wrap="square" lIns="0" tIns="0" rIns="0" bIns="0" rtlCol="0" anchor="ctr"/>
          <a:lstStyle/>
          <a:p>
            <a:pPr marL="0" indent="0">
              <a:buNone/>
            </a:pPr>
            <a:r>
              <a:rPr lang="en-US" sz="1050" i="1" dirty="0">
                <a:solidFill>
                  <a:srgbClr val="6E6E66"/>
                </a:solidFill>
                <a:latin typeface="Calibri" pitchFamily="34" charset="0"/>
                <a:ea typeface="Calibri" pitchFamily="34" charset="-122"/>
                <a:cs typeface="Calibri" pitchFamily="34" charset="-120"/>
              </a:rPr>
              <a:t>A change log listing only successes is not a record of what happened.</a:t>
            </a:r>
            <a:endParaRPr lang="en-US" sz="10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10881360" cy="566928"/>
          </a:xfrm>
          <a:prstGeom prst="rect">
            <a:avLst/>
          </a:prstGeom>
          <a:noFill/>
          <a:ln/>
        </p:spPr>
        <p:txBody>
          <a:bodyPr wrap="square" lIns="0" tIns="0" rIns="0" bIns="0" rtlCol="0" anchor="ctr"/>
          <a:lstStyle/>
          <a:p>
            <a:pPr marL="0" indent="0">
              <a:buNone/>
            </a:pPr>
            <a:r>
              <a:rPr lang="en-US" sz="3300" b="1" dirty="0">
                <a:solidFill>
                  <a:srgbClr val="2C5F2D"/>
                </a:solidFill>
                <a:latin typeface="Cambria" pitchFamily="34" charset="0"/>
                <a:ea typeface="Cambria" pitchFamily="34" charset="-122"/>
                <a:cs typeface="Cambria" pitchFamily="34" charset="-120"/>
              </a:rPr>
              <a:t>Three defects worth naming</a:t>
            </a:r>
            <a:endParaRPr lang="en-US" sz="3300" dirty="0"/>
          </a:p>
        </p:txBody>
      </p:sp>
      <p:sp>
        <p:nvSpPr>
          <p:cNvPr id="3" name="Text 1"/>
          <p:cNvSpPr/>
          <p:nvPr/>
        </p:nvSpPr>
        <p:spPr>
          <a:xfrm>
            <a:off x="640080" y="1042416"/>
            <a:ext cx="10424160" cy="384048"/>
          </a:xfrm>
          <a:prstGeom prst="rect">
            <a:avLst/>
          </a:prstGeom>
          <a:noFill/>
          <a:ln/>
        </p:spPr>
        <p:txBody>
          <a:bodyPr wrap="square" lIns="0" tIns="0" rIns="0" bIns="0" rtlCol="0" anchor="ctr"/>
          <a:lstStyle/>
          <a:p>
            <a:pPr marL="0" indent="0">
              <a:buNone/>
            </a:pPr>
            <a:r>
              <a:rPr lang="en-US" sz="1500" dirty="0">
                <a:solidFill>
                  <a:srgbClr val="6E6E66"/>
                </a:solidFill>
                <a:latin typeface="Calibri" pitchFamily="34" charset="0"/>
                <a:ea typeface="Calibri" pitchFamily="34" charset="-122"/>
                <a:cs typeface="Calibri" pitchFamily="34" charset="-120"/>
              </a:rPr>
              <a:t>Chosen because each says something a clean build would not</a:t>
            </a:r>
            <a:endParaRPr lang="en-US" sz="1500" dirty="0"/>
          </a:p>
        </p:txBody>
      </p:sp>
      <p:sp>
        <p:nvSpPr>
          <p:cNvPr id="4" name="Shape 2"/>
          <p:cNvSpPr/>
          <p:nvPr/>
        </p:nvSpPr>
        <p:spPr>
          <a:xfrm>
            <a:off x="640080" y="1783080"/>
            <a:ext cx="3520440" cy="3383280"/>
          </a:xfrm>
          <a:prstGeom prst="roundRect">
            <a:avLst>
              <a:gd name="adj" fmla="val 2162"/>
            </a:avLst>
          </a:prstGeom>
          <a:solidFill>
            <a:srgbClr val="F4F6F1"/>
          </a:solidFill>
          <a:ln w="9525">
            <a:solidFill>
              <a:srgbClr val="E2E8DC"/>
            </a:solidFill>
            <a:prstDash val="solid"/>
          </a:ln>
        </p:spPr>
        <p:txBody>
          <a:bodyPr/>
          <a:p/>
        </p:txBody>
      </p:sp>
      <p:sp>
        <p:nvSpPr>
          <p:cNvPr id="5" name="Text 3"/>
          <p:cNvSpPr/>
          <p:nvPr/>
        </p:nvSpPr>
        <p:spPr>
          <a:xfrm>
            <a:off x="914400" y="2011680"/>
            <a:ext cx="2971800" cy="685800"/>
          </a:xfrm>
          <a:prstGeom prst="rect">
            <a:avLst/>
          </a:prstGeom>
          <a:noFill/>
          <a:ln/>
        </p:spPr>
        <p:txBody>
          <a:bodyPr wrap="square" lIns="0" tIns="0" rIns="0" bIns="0" rtlCol="0" anchor="ctr"/>
          <a:lstStyle/>
          <a:p>
            <a:pPr marL="0" indent="0">
              <a:lnSpc>
                <a:spcPts val="2200"/>
              </a:lnSpc>
              <a:buNone/>
            </a:pPr>
            <a:r>
              <a:rPr lang="en-US" sz="1600" b="1" dirty="0">
                <a:solidFill>
                  <a:srgbClr val="2C5F2D"/>
                </a:solidFill>
                <a:latin typeface="Calibri" pitchFamily="34" charset="0"/>
                <a:ea typeface="Calibri" pitchFamily="34" charset="-122"/>
                <a:cs typeface="Calibri" pitchFamily="34" charset="-120"/>
              </a:rPr>
              <a:t>The correction that</a:t>
            </a:r>
            <a:endParaRPr lang="en-US" sz="1600" dirty="0"/>
          </a:p>
          <a:p>
            <a:pPr marL="0" indent="0">
              <a:lnSpc>
                <a:spcPts val="2200"/>
              </a:lnSpc>
              <a:buNone/>
            </a:pPr>
            <a:r>
              <a:rPr lang="en-US" sz="1600" b="1" dirty="0">
                <a:solidFill>
                  <a:srgbClr val="2C5F2D"/>
                </a:solidFill>
                <a:latin typeface="Calibri" pitchFamily="34" charset="0"/>
                <a:ea typeface="Calibri" pitchFamily="34" charset="-122"/>
                <a:cs typeface="Calibri" pitchFamily="34" charset="-120"/>
              </a:rPr>
              <a:t>did not correct</a:t>
            </a:r>
            <a:endParaRPr lang="en-US" sz="1600" dirty="0"/>
          </a:p>
        </p:txBody>
      </p:sp>
      <p:sp>
        <p:nvSpPr>
          <p:cNvPr id="6" name="Text 4"/>
          <p:cNvSpPr/>
          <p:nvPr/>
        </p:nvSpPr>
        <p:spPr>
          <a:xfrm>
            <a:off x="914400" y="2880360"/>
            <a:ext cx="2971800" cy="2011680"/>
          </a:xfrm>
          <a:prstGeom prst="rect">
            <a:avLst/>
          </a:prstGeom>
          <a:noFill/>
          <a:ln/>
        </p:spPr>
        <p:txBody>
          <a:bodyPr wrap="square" lIns="0" tIns="0" rIns="0" bIns="0" rtlCol="0" anchor="ctr"/>
          <a:lstStyle/>
          <a:p>
            <a:pPr marL="0" indent="0">
              <a:lnSpc>
                <a:spcPts val="1900"/>
              </a:lnSpc>
              <a:buNone/>
            </a:pPr>
            <a:r>
              <a:rPr lang="en-US" sz="1300" dirty="0">
                <a:solidFill>
                  <a:srgbClr val="6E6E66"/>
                </a:solidFill>
                <a:latin typeface="Calibri" pitchFamily="34" charset="0"/>
                <a:ea typeface="Calibri" pitchFamily="34" charset="-122"/>
                <a:cs typeface="Calibri" pitchFamily="34" charset="-120"/>
              </a:rPr>
              <a:t>Falling back to a longer average left the baseline inflated 2.25×, while the reasoning claimed the spike had been handled. Caught by testing output, not by reading code.</a:t>
            </a:r>
            <a:endParaRPr lang="en-US" sz="1300" dirty="0"/>
          </a:p>
        </p:txBody>
      </p:sp>
      <p:sp>
        <p:nvSpPr>
          <p:cNvPr id="7" name="Shape 5"/>
          <p:cNvSpPr/>
          <p:nvPr/>
        </p:nvSpPr>
        <p:spPr>
          <a:xfrm>
            <a:off x="4343400" y="1783080"/>
            <a:ext cx="3520440" cy="3383280"/>
          </a:xfrm>
          <a:prstGeom prst="roundRect">
            <a:avLst>
              <a:gd name="adj" fmla="val 2162"/>
            </a:avLst>
          </a:prstGeom>
          <a:solidFill>
            <a:srgbClr val="F4F6F1"/>
          </a:solidFill>
          <a:ln w="9525">
            <a:solidFill>
              <a:srgbClr val="E2E8DC"/>
            </a:solidFill>
            <a:prstDash val="solid"/>
          </a:ln>
        </p:spPr>
        <p:txBody>
          <a:bodyPr/>
          <a:p/>
        </p:txBody>
      </p:sp>
      <p:sp>
        <p:nvSpPr>
          <p:cNvPr id="8" name="Text 6"/>
          <p:cNvSpPr/>
          <p:nvPr/>
        </p:nvSpPr>
        <p:spPr>
          <a:xfrm>
            <a:off x="4617720" y="2011680"/>
            <a:ext cx="2971800" cy="685800"/>
          </a:xfrm>
          <a:prstGeom prst="rect">
            <a:avLst/>
          </a:prstGeom>
          <a:noFill/>
          <a:ln/>
        </p:spPr>
        <p:txBody>
          <a:bodyPr wrap="square" lIns="0" tIns="0" rIns="0" bIns="0" rtlCol="0" anchor="ctr"/>
          <a:lstStyle/>
          <a:p>
            <a:pPr marL="0" indent="0">
              <a:lnSpc>
                <a:spcPts val="2200"/>
              </a:lnSpc>
              <a:buNone/>
            </a:pPr>
            <a:r>
              <a:rPr lang="en-US" sz="1600" b="1" dirty="0">
                <a:solidFill>
                  <a:srgbClr val="2C5F2D"/>
                </a:solidFill>
                <a:latin typeface="Calibri" pitchFamily="34" charset="0"/>
                <a:ea typeface="Calibri" pitchFamily="34" charset="-122"/>
                <a:cs typeface="Calibri" pitchFamily="34" charset="-120"/>
              </a:rPr>
              <a:t>The flag that blocked</a:t>
            </a:r>
            <a:endParaRPr lang="en-US" sz="1600" dirty="0"/>
          </a:p>
          <a:p>
            <a:pPr marL="0" indent="0">
              <a:lnSpc>
                <a:spcPts val="2200"/>
              </a:lnSpc>
              <a:buNone/>
            </a:pPr>
            <a:r>
              <a:rPr lang="en-US" sz="1600" b="1" dirty="0">
                <a:solidFill>
                  <a:srgbClr val="2C5F2D"/>
                </a:solidFill>
                <a:latin typeface="Calibri" pitchFamily="34" charset="0"/>
                <a:ea typeface="Calibri" pitchFamily="34" charset="-122"/>
                <a:cs typeface="Calibri" pitchFamily="34" charset="-120"/>
              </a:rPr>
              <a:t>its own remedy</a:t>
            </a:r>
            <a:endParaRPr lang="en-US" sz="1600" dirty="0"/>
          </a:p>
        </p:txBody>
      </p:sp>
      <p:sp>
        <p:nvSpPr>
          <p:cNvPr id="9" name="Text 7"/>
          <p:cNvSpPr/>
          <p:nvPr/>
        </p:nvSpPr>
        <p:spPr>
          <a:xfrm>
            <a:off x="4617720" y="2880360"/>
            <a:ext cx="2971800" cy="2011680"/>
          </a:xfrm>
          <a:prstGeom prst="rect">
            <a:avLst/>
          </a:prstGeom>
          <a:noFill/>
          <a:ln/>
        </p:spPr>
        <p:txBody>
          <a:bodyPr wrap="square" lIns="0" tIns="0" rIns="0" bIns="0" rtlCol="0" anchor="ctr"/>
          <a:lstStyle/>
          <a:p>
            <a:pPr marL="0" indent="0">
              <a:lnSpc>
                <a:spcPts val="1900"/>
              </a:lnSpc>
              <a:buNone/>
            </a:pPr>
            <a:r>
              <a:rPr lang="en-US" sz="1300" dirty="0">
                <a:solidFill>
                  <a:srgbClr val="6E6E66"/>
                </a:solidFill>
                <a:latin typeface="Calibri" pitchFamily="34" charset="0"/>
                <a:ea typeface="Calibri" pitchFamily="34" charset="-122"/>
                <a:cs typeface="Calibri" pitchFamily="34" charset="-120"/>
              </a:rPr>
              <a:t>The urgent flag justifies itself in fulfilment terms but gates the purchase order — so for a confident recommendation it delays the very replenishment that ends the stockout. Documented, not fixed.</a:t>
            </a:r>
            <a:endParaRPr lang="en-US" sz="1300" dirty="0"/>
          </a:p>
        </p:txBody>
      </p:sp>
      <p:sp>
        <p:nvSpPr>
          <p:cNvPr id="10" name="Shape 8"/>
          <p:cNvSpPr/>
          <p:nvPr/>
        </p:nvSpPr>
        <p:spPr>
          <a:xfrm>
            <a:off x="8001000" y="1783080"/>
            <a:ext cx="3520440" cy="3383280"/>
          </a:xfrm>
          <a:prstGeom prst="roundRect">
            <a:avLst>
              <a:gd name="adj" fmla="val 2162"/>
            </a:avLst>
          </a:prstGeom>
          <a:solidFill>
            <a:srgbClr val="F4F6F1"/>
          </a:solidFill>
          <a:ln w="9525">
            <a:solidFill>
              <a:srgbClr val="E2E8DC"/>
            </a:solidFill>
            <a:prstDash val="solid"/>
          </a:ln>
        </p:spPr>
        <p:txBody>
          <a:bodyPr/>
          <a:p/>
        </p:txBody>
      </p:sp>
      <p:sp>
        <p:nvSpPr>
          <p:cNvPr id="11" name="Text 9"/>
          <p:cNvSpPr/>
          <p:nvPr/>
        </p:nvSpPr>
        <p:spPr>
          <a:xfrm>
            <a:off x="8275320" y="2011680"/>
            <a:ext cx="2971800" cy="685800"/>
          </a:xfrm>
          <a:prstGeom prst="rect">
            <a:avLst/>
          </a:prstGeom>
          <a:noFill/>
          <a:ln/>
        </p:spPr>
        <p:txBody>
          <a:bodyPr wrap="square" lIns="0" tIns="0" rIns="0" bIns="0" rtlCol="0" anchor="ctr"/>
          <a:lstStyle/>
          <a:p>
            <a:pPr marL="0" indent="0">
              <a:lnSpc>
                <a:spcPts val="2200"/>
              </a:lnSpc>
              <a:buNone/>
            </a:pPr>
            <a:r>
              <a:rPr lang="en-US" sz="1600" b="1" dirty="0">
                <a:solidFill>
                  <a:srgbClr val="2C5F2D"/>
                </a:solidFill>
                <a:latin typeface="Calibri" pitchFamily="34" charset="0"/>
                <a:ea typeface="Calibri" pitchFamily="34" charset="-122"/>
                <a:cs typeface="Calibri" pitchFamily="34" charset="-120"/>
              </a:rPr>
              <a:t>The safeguard with</a:t>
            </a:r>
            <a:endParaRPr lang="en-US" sz="1600" dirty="0"/>
          </a:p>
          <a:p>
            <a:pPr marL="0" indent="0">
              <a:lnSpc>
                <a:spcPts val="2200"/>
              </a:lnSpc>
              <a:buNone/>
            </a:pPr>
            <a:r>
              <a:rPr lang="en-US" sz="1600" b="1" dirty="0">
                <a:solidFill>
                  <a:srgbClr val="2C5F2D"/>
                </a:solidFill>
                <a:latin typeface="Calibri" pitchFamily="34" charset="0"/>
                <a:ea typeface="Calibri" pitchFamily="34" charset="-122"/>
                <a:cs typeface="Calibri" pitchFamily="34" charset="-120"/>
              </a:rPr>
              <a:t>no floor</a:t>
            </a:r>
            <a:endParaRPr lang="en-US" sz="1600" dirty="0"/>
          </a:p>
        </p:txBody>
      </p:sp>
      <p:sp>
        <p:nvSpPr>
          <p:cNvPr id="12" name="Text 10"/>
          <p:cNvSpPr/>
          <p:nvPr/>
        </p:nvSpPr>
        <p:spPr>
          <a:xfrm>
            <a:off x="8275320" y="2880360"/>
            <a:ext cx="2971800" cy="2011680"/>
          </a:xfrm>
          <a:prstGeom prst="rect">
            <a:avLst/>
          </a:prstGeom>
          <a:noFill/>
          <a:ln/>
        </p:spPr>
        <p:txBody>
          <a:bodyPr wrap="square" lIns="0" tIns="0" rIns="0" bIns="0" rtlCol="0" anchor="ctr"/>
          <a:lstStyle/>
          <a:p>
            <a:pPr marL="0" indent="0">
              <a:lnSpc>
                <a:spcPts val="1900"/>
              </a:lnSpc>
              <a:buNone/>
            </a:pPr>
            <a:r>
              <a:rPr lang="en-US" sz="1300" dirty="0">
                <a:solidFill>
                  <a:srgbClr val="6E6E66"/>
                </a:solidFill>
                <a:latin typeface="Calibri" pitchFamily="34" charset="0"/>
                <a:ea typeface="Calibri" pitchFamily="34" charset="-122"/>
                <a:cs typeface="Calibri" pitchFamily="34" charset="-120"/>
              </a:rPr>
              <a:t>A principle was asserted — the agent should not wave past risks it identified — then applied to exactly one signal. The agent's own admission of ignorance stayed fully overridable.</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10881360" cy="566928"/>
          </a:xfrm>
          <a:prstGeom prst="rect">
            <a:avLst/>
          </a:prstGeom>
          <a:noFill/>
          <a:ln/>
        </p:spPr>
        <p:txBody>
          <a:bodyPr wrap="square" lIns="0" tIns="0" rIns="0" bIns="0" rtlCol="0" anchor="ctr"/>
          <a:lstStyle/>
          <a:p>
            <a:pPr marL="0" indent="0">
              <a:buNone/>
            </a:pPr>
            <a:r>
              <a:rPr lang="en-US" sz="3300" b="1" dirty="0">
                <a:solidFill>
                  <a:srgbClr val="2C5F2D"/>
                </a:solidFill>
                <a:latin typeface="Cambria" pitchFamily="34" charset="0"/>
                <a:ea typeface="Cambria" pitchFamily="34" charset="-122"/>
                <a:cs typeface="Cambria" pitchFamily="34" charset="-120"/>
              </a:rPr>
              <a:t>The decisions behind the build</a:t>
            </a:r>
            <a:endParaRPr lang="en-US" sz="3300" dirty="0"/>
          </a:p>
        </p:txBody>
      </p:sp>
      <p:sp>
        <p:nvSpPr>
          <p:cNvPr id="3" name="Text 1"/>
          <p:cNvSpPr/>
          <p:nvPr/>
        </p:nvSpPr>
        <p:spPr>
          <a:xfrm>
            <a:off x="640080" y="1042416"/>
            <a:ext cx="10424160" cy="384048"/>
          </a:xfrm>
          <a:prstGeom prst="rect">
            <a:avLst/>
          </a:prstGeom>
          <a:noFill/>
          <a:ln/>
        </p:spPr>
        <p:txBody>
          <a:bodyPr wrap="square" lIns="0" tIns="0" rIns="0" bIns="0" rtlCol="0" anchor="ctr"/>
          <a:lstStyle/>
          <a:p>
            <a:pPr marL="0" indent="0">
              <a:buNone/>
            </a:pPr>
            <a:r>
              <a:rPr lang="en-US" sz="1500" dirty="0">
                <a:solidFill>
                  <a:srgbClr val="6E6E66"/>
                </a:solidFill>
                <a:latin typeface="Calibri" pitchFamily="34" charset="0"/>
                <a:ea typeface="Calibri" pitchFamily="34" charset="-122"/>
                <a:cs typeface="Calibri" pitchFamily="34" charset="-120"/>
              </a:rPr>
              <a:t>Twelve are recorded in full; these are the ones that shaped everything else</a:t>
            </a:r>
            <a:endParaRPr lang="en-US" sz="1500" dirty="0"/>
          </a:p>
        </p:txBody>
      </p:sp>
      <p:sp>
        <p:nvSpPr>
          <p:cNvPr id="4" name="Text 2"/>
          <p:cNvSpPr/>
          <p:nvPr/>
        </p:nvSpPr>
        <p:spPr>
          <a:xfrm>
            <a:off x="640080" y="1783080"/>
            <a:ext cx="5257800" cy="3657600"/>
          </a:xfrm>
          <a:prstGeom prst="rect">
            <a:avLst/>
          </a:prstGeom>
          <a:noFill/>
          <a:ln/>
        </p:spPr>
        <p:txBody>
          <a:bodyPr wrap="square" lIns="0" tIns="0" rIns="0" bIns="0" rtlCol="0" anchor="t"/>
          <a:lstStyle/>
          <a:p>
            <a:pPr marL="342900" indent="-342900">
              <a:lnSpc>
                <a:spcPts val="2100"/>
              </a:lnSpc>
              <a:spcAft>
                <a:spcPts val="900"/>
              </a:spcAft>
              <a:buSzPct val="100000"/>
              <a:buChar char="•"/>
            </a:pPr>
            <a:r>
              <a:rPr lang="en-US" sz="1350" dirty="0">
                <a:solidFill>
                  <a:srgbClr val="24241F"/>
                </a:solidFill>
                <a:latin typeface="Calibri" pitchFamily="34" charset="0"/>
                <a:ea typeface="Calibri" pitchFamily="34" charset="-122"/>
                <a:cs typeface="Calibri" pitchFamily="34" charset="-120"/>
              </a:rPr>
              <a:t>Rules, not a language model. Reorder sizing is a statistics problem, and a planner can follow every step. But rules are auditable in mechanism, not justified in parameters — nobody can check whether the thresholds are right.</a:t>
            </a:r>
            <a:endParaRPr lang="en-US" sz="1350" dirty="0"/>
          </a:p>
          <a:p>
            <a:pPr marL="342900" indent="-342900">
              <a:lnSpc>
                <a:spcPts val="2100"/>
              </a:lnSpc>
              <a:spcAft>
                <a:spcPts val="900"/>
              </a:spcAft>
              <a:buSzPct val="100000"/>
              <a:buChar char="•"/>
            </a:pPr>
            <a:r>
              <a:rPr lang="en-US" sz="1350" dirty="0">
                <a:solidFill>
                  <a:srgbClr val="24241F"/>
                </a:solidFill>
                <a:latin typeface="Calibri" pitchFamily="34" charset="0"/>
                <a:ea typeface="Calibri" pitchFamily="34" charset="-122"/>
                <a:cs typeface="Calibri" pitchFamily="34" charset="-120"/>
              </a:rPr>
              <a:t>Four separate stages rather than one function, so each can be tested, audited and explained independently.</a:t>
            </a:r>
            <a:endParaRPr lang="en-US" sz="1350" dirty="0"/>
          </a:p>
          <a:p>
            <a:pPr marL="342900" indent="-342900">
              <a:lnSpc>
                <a:spcPts val="2100"/>
              </a:lnSpc>
              <a:spcAft>
                <a:spcPts val="900"/>
              </a:spcAft>
              <a:buSzPct val="100000"/>
              <a:buChar char="•"/>
            </a:pPr>
            <a:r>
              <a:rPr lang="en-US" sz="1350" dirty="0">
                <a:solidFill>
                  <a:srgbClr val="24241F"/>
                </a:solidFill>
                <a:latin typeface="Calibri" pitchFamily="34" charset="0"/>
                <a:ea typeface="Calibri" pitchFamily="34" charset="-122"/>
                <a:cs typeface="Calibri" pitchFamily="34" charset="-120"/>
              </a:rPr>
              <a:t>Confidence as a first-class output. 'Not enough data' is treated as a legitimate answer rather than a gap to fill with a confident-looking number.</a:t>
            </a:r>
            <a:endParaRPr lang="en-US" sz="1350" dirty="0"/>
          </a:p>
        </p:txBody>
      </p:sp>
      <p:sp>
        <p:nvSpPr>
          <p:cNvPr id="5" name="Text 3"/>
          <p:cNvSpPr/>
          <p:nvPr/>
        </p:nvSpPr>
        <p:spPr>
          <a:xfrm>
            <a:off x="6309360" y="1783080"/>
            <a:ext cx="5212080" cy="3657600"/>
          </a:xfrm>
          <a:prstGeom prst="rect">
            <a:avLst/>
          </a:prstGeom>
          <a:noFill/>
          <a:ln/>
        </p:spPr>
        <p:txBody>
          <a:bodyPr wrap="square" lIns="0" tIns="0" rIns="0" bIns="0" rtlCol="0" anchor="t"/>
          <a:lstStyle/>
          <a:p>
            <a:pPr marL="342900" indent="-342900">
              <a:lnSpc>
                <a:spcPts val="2100"/>
              </a:lnSpc>
              <a:spcAft>
                <a:spcPts val="900"/>
              </a:spcAft>
              <a:buSzPct val="100000"/>
              <a:buChar char="•"/>
            </a:pPr>
            <a:r>
              <a:rPr lang="en-US" sz="1350" dirty="0">
                <a:solidFill>
                  <a:srgbClr val="24241F"/>
                </a:solidFill>
                <a:latin typeface="Calibri" pitchFamily="34" charset="0"/>
                <a:ea typeface="Calibri" pitchFamily="34" charset="-122"/>
                <a:cs typeface="Calibri" pitchFamily="34" charset="-120"/>
              </a:rPr>
              <a:t>Spikes excluded from the baseline rather than smoothed, because smoothing leaves the unusual weeks inside the window.</a:t>
            </a:r>
            <a:endParaRPr lang="en-US" sz="1350" dirty="0"/>
          </a:p>
          <a:p>
            <a:pPr marL="342900" indent="-342900">
              <a:lnSpc>
                <a:spcPts val="2100"/>
              </a:lnSpc>
              <a:spcAft>
                <a:spcPts val="900"/>
              </a:spcAft>
              <a:buSzPct val="100000"/>
              <a:buChar char="•"/>
            </a:pPr>
            <a:r>
              <a:rPr lang="en-US" sz="1350" dirty="0">
                <a:solidFill>
                  <a:srgbClr val="24241F"/>
                </a:solidFill>
                <a:latin typeface="Calibri" pitchFamily="34" charset="0"/>
                <a:ea typeface="Calibri" pitchFamily="34" charset="-122"/>
                <a:cs typeface="Calibri" pitchFamily="34" charset="-120"/>
              </a:rPr>
              <a:t>Urgency ranked by exposure rather than by days, because days buried the costliest problem.</a:t>
            </a:r>
            <a:endParaRPr lang="en-US" sz="1350" dirty="0"/>
          </a:p>
          <a:p>
            <a:pPr marL="342900" indent="-342900">
              <a:lnSpc>
                <a:spcPts val="2100"/>
              </a:lnSpc>
              <a:spcAft>
                <a:spcPts val="900"/>
              </a:spcAft>
              <a:buSzPct val="100000"/>
              <a:buChar char="•"/>
            </a:pPr>
            <a:r>
              <a:rPr lang="en-US" sz="1350" dirty="0">
                <a:solidFill>
                  <a:srgbClr val="24241F"/>
                </a:solidFill>
                <a:latin typeface="Calibri" pitchFamily="34" charset="0"/>
                <a:ea typeface="Calibri" pitchFamily="34" charset="-122"/>
                <a:cs typeface="Calibri" pitchFamily="34" charset="-120"/>
              </a:rPr>
              <a:t>Open purchase orders modelled, so alerts clear when a shortage is already being handled — and so the system stops ordering twice.</a:t>
            </a:r>
            <a:endParaRPr lang="en-US" sz="1350" dirty="0"/>
          </a:p>
        </p:txBody>
      </p:sp>
      <p:sp>
        <p:nvSpPr>
          <p:cNvPr id="6" name="Text 4"/>
          <p:cNvSpPr/>
          <p:nvPr/>
        </p:nvSpPr>
        <p:spPr>
          <a:xfrm>
            <a:off x="640080" y="6291072"/>
            <a:ext cx="10881360" cy="292608"/>
          </a:xfrm>
          <a:prstGeom prst="rect">
            <a:avLst/>
          </a:prstGeom>
          <a:noFill/>
          <a:ln/>
        </p:spPr>
        <p:txBody>
          <a:bodyPr wrap="square" lIns="0" tIns="0" rIns="0" bIns="0" rtlCol="0" anchor="ctr"/>
          <a:lstStyle/>
          <a:p>
            <a:pPr marL="0" indent="0">
              <a:buNone/>
            </a:pPr>
            <a:r>
              <a:rPr lang="en-US" sz="1050" i="1" dirty="0">
                <a:solidFill>
                  <a:srgbClr val="6E6E66"/>
                </a:solidFill>
                <a:latin typeface="Calibri" pitchFamily="34" charset="0"/>
                <a:ea typeface="Calibri" pitchFamily="34" charset="-122"/>
                <a:cs typeface="Calibri" pitchFamily="34" charset="-120"/>
              </a:rPr>
              <a:t>Eight of the fourteen decisions also record the conditions under which they would be the wrong call.</a:t>
            </a:r>
            <a:endParaRPr lang="en-US" sz="10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10881360" cy="566928"/>
          </a:xfrm>
          <a:prstGeom prst="rect">
            <a:avLst/>
          </a:prstGeom>
          <a:noFill/>
          <a:ln/>
        </p:spPr>
        <p:txBody>
          <a:bodyPr wrap="square" lIns="0" tIns="0" rIns="0" bIns="0" rtlCol="0" anchor="ctr"/>
          <a:lstStyle/>
          <a:p>
            <a:pPr marL="0" indent="0">
              <a:buNone/>
            </a:pPr>
            <a:r>
              <a:rPr lang="en-US" sz="3300" b="1" dirty="0">
                <a:solidFill>
                  <a:srgbClr val="2C5F2D"/>
                </a:solidFill>
                <a:latin typeface="Cambria" pitchFamily="34" charset="0"/>
                <a:ea typeface="Cambria" pitchFamily="34" charset="-122"/>
                <a:cs typeface="Cambria" pitchFamily="34" charset="-120"/>
              </a:rPr>
              <a:t>What remains broken</a:t>
            </a:r>
            <a:endParaRPr lang="en-US" sz="3300" dirty="0"/>
          </a:p>
        </p:txBody>
      </p:sp>
      <p:sp>
        <p:nvSpPr>
          <p:cNvPr id="3" name="Text 1"/>
          <p:cNvSpPr/>
          <p:nvPr/>
        </p:nvSpPr>
        <p:spPr>
          <a:xfrm>
            <a:off x="640080" y="1042416"/>
            <a:ext cx="10424160" cy="384048"/>
          </a:xfrm>
          <a:prstGeom prst="rect">
            <a:avLst/>
          </a:prstGeom>
          <a:noFill/>
          <a:ln/>
        </p:spPr>
        <p:txBody>
          <a:bodyPr wrap="square" lIns="0" tIns="0" rIns="0" bIns="0" rtlCol="0" anchor="ctr"/>
          <a:lstStyle/>
          <a:p>
            <a:pPr marL="0" indent="0">
              <a:buNone/>
            </a:pPr>
            <a:r>
              <a:rPr lang="en-US" sz="1500" dirty="0">
                <a:solidFill>
                  <a:srgbClr val="6E6E66"/>
                </a:solidFill>
                <a:latin typeface="Calibri" pitchFamily="34" charset="0"/>
                <a:ea typeface="Calibri" pitchFamily="34" charset="-122"/>
                <a:cs typeface="Calibri" pitchFamily="34" charset="-120"/>
              </a:rPr>
              <a:t>Recorded in the decision log with the same detail as the fixes</a:t>
            </a:r>
            <a:endParaRPr lang="en-US" sz="1500" dirty="0"/>
          </a:p>
        </p:txBody>
      </p:sp>
      <p:sp>
        <p:nvSpPr>
          <p:cNvPr id="4" name="Text 2"/>
          <p:cNvSpPr/>
          <p:nvPr/>
        </p:nvSpPr>
        <p:spPr>
          <a:xfrm>
            <a:off x="640080" y="1783080"/>
            <a:ext cx="5257800" cy="3566160"/>
          </a:xfrm>
          <a:prstGeom prst="rect">
            <a:avLst/>
          </a:prstGeom>
          <a:noFill/>
          <a:ln/>
        </p:spPr>
        <p:txBody>
          <a:bodyPr wrap="square" lIns="0" tIns="0" rIns="0" bIns="0" rtlCol="0" anchor="t"/>
          <a:lstStyle/>
          <a:p>
            <a:pPr marL="342900" indent="-342900">
              <a:lnSpc>
                <a:spcPts val="2100"/>
              </a:lnSpc>
              <a:spcAft>
                <a:spcPts val="900"/>
              </a:spcAft>
              <a:buSzPct val="100000"/>
              <a:buChar char="•"/>
            </a:pPr>
            <a:r>
              <a:rPr lang="en-US" sz="1350" dirty="0">
                <a:solidFill>
                  <a:srgbClr val="24241F"/>
                </a:solidFill>
                <a:latin typeface="Calibri" pitchFamily="34" charset="0"/>
                <a:ea typeface="Calibri" pitchFamily="34" charset="-122"/>
                <a:cs typeface="Calibri" pitchFamily="34" charset="-120"/>
              </a:rPr>
              <a:t>The spike measure is compressed by nested windows and saturates at 2.0 — a product whose demand doubles is classified stable at 95% confidence.</a:t>
            </a:r>
            <a:endParaRPr lang="en-US" sz="1350" dirty="0"/>
          </a:p>
          <a:p>
            <a:pPr marL="342900" indent="-342900">
              <a:lnSpc>
                <a:spcPts val="2100"/>
              </a:lnSpc>
              <a:spcAft>
                <a:spcPts val="900"/>
              </a:spcAft>
              <a:buSzPct val="100000"/>
              <a:buChar char="•"/>
            </a:pPr>
            <a:r>
              <a:rPr lang="en-US" sz="1350" dirty="0">
                <a:solidFill>
                  <a:srgbClr val="24241F"/>
                </a:solidFill>
                <a:latin typeface="Calibri" pitchFamily="34" charset="0"/>
                <a:ea typeface="Calibri" pitchFamily="34" charset="-122"/>
                <a:cs typeface="Calibri" pitchFamily="34" charset="-120"/>
              </a:rPr>
              <a:t>Thresholds were calibrated against invented data whose noise level was chosen. At realistic retail variability the false-positive rate rises to around 3%.</a:t>
            </a:r>
            <a:endParaRPr lang="en-US" sz="1350" dirty="0"/>
          </a:p>
          <a:p>
            <a:pPr marL="342900" indent="-342900">
              <a:lnSpc>
                <a:spcPts val="2100"/>
              </a:lnSpc>
              <a:spcAft>
                <a:spcPts val="900"/>
              </a:spcAft>
              <a:buSzPct val="100000"/>
              <a:buChar char="•"/>
            </a:pPr>
            <a:r>
              <a:rPr lang="en-US" sz="1350" dirty="0">
                <a:solidFill>
                  <a:srgbClr val="24241F"/>
                </a:solidFill>
                <a:latin typeface="Calibri" pitchFamily="34" charset="0"/>
                <a:ea typeface="Calibri" pitchFamily="34" charset="-122"/>
                <a:cs typeface="Calibri" pitchFamily="34" charset="-120"/>
              </a:rPr>
              <a:t>The channel-divergence measure is blind to direction and would flag two channels both growing.</a:t>
            </a:r>
            <a:endParaRPr lang="en-US" sz="1350" dirty="0"/>
          </a:p>
        </p:txBody>
      </p:sp>
      <p:sp>
        <p:nvSpPr>
          <p:cNvPr id="5" name="Text 3"/>
          <p:cNvSpPr/>
          <p:nvPr/>
        </p:nvSpPr>
        <p:spPr>
          <a:xfrm>
            <a:off x="6309360" y="1783080"/>
            <a:ext cx="5212080" cy="3566160"/>
          </a:xfrm>
          <a:prstGeom prst="rect">
            <a:avLst/>
          </a:prstGeom>
          <a:noFill/>
          <a:ln/>
        </p:spPr>
        <p:txBody>
          <a:bodyPr wrap="square" lIns="0" tIns="0" rIns="0" bIns="0" rtlCol="0" anchor="t"/>
          <a:lstStyle/>
          <a:p>
            <a:pPr marL="342900" indent="-342900">
              <a:lnSpc>
                <a:spcPts val="2000"/>
              </a:lnSpc>
              <a:spcAft>
                <a:spcPts val="800"/>
              </a:spcAft>
              <a:buSzPct val="100000"/>
              <a:buChar char="•"/>
            </a:pPr>
            <a:r>
              <a:rPr sz="1250">
                <a:solidFill>
                  <a:srgbClr val="24241F"/>
                </a:solidFill>
                <a:latin typeface="Calibri"/>
              </a:rPr>
              <a:t>The allocation signal fires on exactly the two products where a stale value was planted, and has never met organic drift.</a:t>
            </a:r>
            <a:endParaRPr lang="en-US" sz="1350" dirty="0"/>
          </a:p>
          <a:p>
            <a:pPr>
              <a:lnSpc>
                <a:spcPts val="2000"/>
              </a:lnSpc>
              <a:spcAft>
                <a:spcPts val="800"/>
              </a:spcAft>
            </a:pPr>
            <a:r>
              <a:rPr sz="1250">
                <a:solidFill>
                  <a:srgbClr val="24241F"/>
                </a:solidFill>
                <a:latin typeface="Calibri"/>
              </a:rPr>
              <a:t>BOPIS and BORIS were never considered. Unmodelled pickup reservations make stock look larger than it is; unmodelled returns make incoming supply look smaller. The system under-orders on one and over-orders on the other.</a:t>
            </a:r>
          </a:p>
          <a:p>
            <a:pPr>
              <a:lnSpc>
                <a:spcPts val="2000"/>
              </a:lnSpc>
              <a:spcAft>
                <a:spcPts val="800"/>
              </a:spcAft>
            </a:pPr>
            <a:r>
              <a:rPr sz="1250">
                <a:solidFill>
                  <a:srgbClr val="24241F"/>
                </a:solidFill>
                <a:latin typeface="Calibri"/>
              </a:rPr>
              <a:t>Safety stock is a flat half-week, unconnected to variability or lead time — the assumption a working planner would question first.</a:t>
            </a:r>
          </a:p>
          <a:p>
            <a:pPr>
              <a:lnSpc>
                <a:spcPts val="2000"/>
              </a:lnSpc>
              <a:spcAft>
                <a:spcPts val="800"/>
              </a:spcAft>
            </a:pPr>
            <a:r>
              <a:rPr sz="1250">
                <a:solidFill>
                  <a:srgbClr val="24241F"/>
                </a:solidFill>
                <a:latin typeface="Calibri"/>
              </a:rPr>
              <a:t>No per-location inventory, so inventory deployment — genuinely replenishment work — sits outside the build.</a:t>
            </a:r>
          </a:p>
        </p:txBody>
      </p:sp>
      <p:sp>
        <p:nvSpPr>
          <p:cNvPr id="6" name="Text 4"/>
          <p:cNvSpPr/>
          <p:nvPr/>
        </p:nvSpPr>
        <p:spPr>
          <a:xfrm>
            <a:off x="640080" y="6291072"/>
            <a:ext cx="10881360" cy="292608"/>
          </a:xfrm>
          <a:prstGeom prst="rect">
            <a:avLst/>
          </a:prstGeom>
          <a:noFill/>
          <a:ln/>
        </p:spPr>
        <p:txBody>
          <a:bodyPr wrap="square" lIns="0" tIns="0" rIns="0" bIns="0" rtlCol="0" anchor="ctr"/>
          <a:lstStyle/>
          <a:p>
            <a:pPr marL="0" indent="0">
              <a:buNone/>
            </a:pPr>
            <a:r>
              <a:rPr sz="1050">
                <a:solidFill>
                  <a:srgbClr val="6E6E66"/>
                </a:solidFill>
                <a:latin typeface="Calibri"/>
              </a:rPr>
              <a:t>Twenty-three limitations are recorded in total. The full list is in the appendix.</a:t>
            </a:r>
            <a:endParaRPr lang="en-US" sz="10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6">
    <p:bg>
      <p:bgPr>
        <a:solidFill>
          <a:srgbClr val="2C5F2D"/>
        </a:solidFill>
        <a:effectLst/>
      </p:bgPr>
    </p:bg>
    <p:spTree>
      <p:nvGrpSpPr>
        <p:cNvPr id="1" name=""/>
        <p:cNvGrpSpPr/>
        <p:nvPr/>
      </p:nvGrpSpPr>
      <p:grpSpPr>
        <a:xfrm>
          <a:off x="0" y="0"/>
          <a:ext cx="0" cy="0"/>
          <a:chOff x="0" y="0"/>
          <a:chExt cx="0" cy="0"/>
        </a:xfrm>
      </p:grpSpPr>
      <p:sp>
        <p:nvSpPr>
          <p:cNvPr id="2" name="Shape 0"/>
          <p:cNvSpPr/>
          <p:nvPr/>
        </p:nvSpPr>
        <p:spPr>
          <a:xfrm>
            <a:off x="640080" y="2286000"/>
            <a:ext cx="868680" cy="868680"/>
          </a:xfrm>
          <a:prstGeom prst="ellipse">
            <a:avLst/>
          </a:prstGeom>
          <a:solidFill>
            <a:srgbClr val="97BC62"/>
          </a:solidFill>
          <a:ln/>
        </p:spPr>
        <p:txBody>
          <a:bodyPr/>
          <a:p/>
        </p:txBody>
      </p:sp>
      <p:sp>
        <p:nvSpPr>
          <p:cNvPr id="3" name="Text 1"/>
          <p:cNvSpPr/>
          <p:nvPr/>
        </p:nvSpPr>
        <p:spPr>
          <a:xfrm>
            <a:off x="640080" y="2286000"/>
            <a:ext cx="868680" cy="868680"/>
          </a:xfrm>
          <a:prstGeom prst="rect">
            <a:avLst/>
          </a:prstGeom>
          <a:noFill/>
          <a:ln/>
        </p:spPr>
        <p:txBody>
          <a:bodyPr wrap="square" rtlCol="0" anchor="ctr"/>
          <a:lstStyle/>
          <a:p>
            <a:pPr marL="0" indent="0" algn="ctr">
              <a:buNone/>
            </a:pPr>
            <a:r>
              <a:rPr lang="en-US" sz="3200" b="1" dirty="0">
                <a:solidFill>
                  <a:srgbClr val="16301A"/>
                </a:solidFill>
                <a:latin typeface="Cambria" pitchFamily="34" charset="0"/>
                <a:ea typeface="Cambria" pitchFamily="34" charset="-122"/>
                <a:cs typeface="Cambria" pitchFamily="34" charset="-120"/>
              </a:rPr>
              <a:t>5</a:t>
            </a:r>
            <a:endParaRPr lang="en-US" sz="3200" dirty="0"/>
          </a:p>
        </p:txBody>
      </p:sp>
      <p:sp>
        <p:nvSpPr>
          <p:cNvPr id="4" name="Text 2"/>
          <p:cNvSpPr/>
          <p:nvPr/>
        </p:nvSpPr>
        <p:spPr>
          <a:xfrm>
            <a:off x="1874520" y="2240280"/>
            <a:ext cx="9509760" cy="777240"/>
          </a:xfrm>
          <a:prstGeom prst="rect">
            <a:avLst/>
          </a:prstGeom>
          <a:noFill/>
          <a:ln/>
        </p:spPr>
        <p:txBody>
          <a:bodyPr wrap="square" rtlCol="0" anchor="ctr"/>
          <a:lstStyle/>
          <a:p>
            <a:pPr marL="0" indent="0">
              <a:buNone/>
            </a:pPr>
            <a:r>
              <a:rPr lang="en-US" sz="3800" b="1" dirty="0">
                <a:solidFill>
                  <a:srgbClr val="FFFFFF"/>
                </a:solidFill>
                <a:latin typeface="Cambria" pitchFamily="34" charset="0"/>
                <a:ea typeface="Cambria" pitchFamily="34" charset="-122"/>
                <a:cs typeface="Cambria" pitchFamily="34" charset="-120"/>
              </a:rPr>
              <a:t>Appendix</a:t>
            </a:r>
            <a:endParaRPr lang="en-US" sz="3800" dirty="0"/>
          </a:p>
        </p:txBody>
      </p:sp>
      <p:sp>
        <p:nvSpPr>
          <p:cNvPr id="5" name="Text 3"/>
          <p:cNvSpPr/>
          <p:nvPr/>
        </p:nvSpPr>
        <p:spPr>
          <a:xfrm>
            <a:off x="1874520" y="3063240"/>
            <a:ext cx="8961120" cy="822960"/>
          </a:xfrm>
          <a:prstGeom prst="rect">
            <a:avLst/>
          </a:prstGeom>
          <a:noFill/>
          <a:ln/>
        </p:spPr>
        <p:txBody>
          <a:bodyPr wrap="square" rtlCol="0" anchor="ctr"/>
          <a:lstStyle/>
          <a:p>
            <a:pPr marL="0" indent="0">
              <a:lnSpc>
                <a:spcPts val="2400"/>
              </a:lnSpc>
              <a:buNone/>
            </a:pPr>
            <a:r>
              <a:rPr lang="en-US" sz="1600" dirty="0">
                <a:solidFill>
                  <a:srgbClr val="D4E3C6"/>
                </a:solidFill>
                <a:latin typeface="Calibri" pitchFamily="34" charset="0"/>
                <a:ea typeface="Calibri" pitchFamily="34" charset="-122"/>
                <a:cs typeface="Calibri" pitchFamily="34" charset="-120"/>
              </a:rPr>
              <a:t>The decision record and change log in depth. Intended as a leave-behind rather than presented live.</a:t>
            </a:r>
            <a:endParaRPr lang="en-US" sz="16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10881360" cy="566928"/>
          </a:xfrm>
          <a:prstGeom prst="rect">
            <a:avLst/>
          </a:prstGeom>
          <a:noFill/>
          <a:ln/>
        </p:spPr>
        <p:txBody>
          <a:bodyPr wrap="square" lIns="0" tIns="0" rIns="0" bIns="0" rtlCol="0" anchor="ctr"/>
          <a:lstStyle/>
          <a:p>
            <a:pPr marL="0" indent="0">
              <a:buNone/>
            </a:pPr>
            <a:r>
              <a:rPr lang="en-US" sz="3300" b="1" dirty="0">
                <a:solidFill>
                  <a:srgbClr val="2C5F2D"/>
                </a:solidFill>
                <a:latin typeface="Cambria" pitchFamily="34" charset="0"/>
                <a:ea typeface="Cambria" pitchFamily="34" charset="-122"/>
                <a:cs typeface="Cambria" pitchFamily="34" charset="-120"/>
              </a:rPr>
              <a:t>Decision record (1 of 3)</a:t>
            </a:r>
            <a:endParaRPr lang="en-US" sz="3300" dirty="0"/>
          </a:p>
        </p:txBody>
      </p:sp>
      <p:sp>
        <p:nvSpPr>
          <p:cNvPr id="3" name="Text 1"/>
          <p:cNvSpPr/>
          <p:nvPr/>
        </p:nvSpPr>
        <p:spPr>
          <a:xfrm>
            <a:off x="640080" y="1042416"/>
            <a:ext cx="10424160" cy="384048"/>
          </a:xfrm>
          <a:prstGeom prst="rect">
            <a:avLst/>
          </a:prstGeom>
          <a:noFill/>
          <a:ln/>
        </p:spPr>
        <p:txBody>
          <a:bodyPr wrap="square" lIns="0" tIns="0" rIns="0" bIns="0" rtlCol="0" anchor="ctr"/>
          <a:lstStyle/>
          <a:p>
            <a:pPr marL="0" indent="0">
              <a:buNone/>
            </a:pPr>
            <a:r>
              <a:rPr lang="en-US" sz="1500" dirty="0">
                <a:solidFill>
                  <a:srgbClr val="6E6E66"/>
                </a:solidFill>
                <a:latin typeface="Calibri" pitchFamily="34" charset="0"/>
                <a:ea typeface="Calibri" pitchFamily="34" charset="-122"/>
                <a:cs typeface="Calibri" pitchFamily="34" charset="-120"/>
              </a:rPr>
              <a:t>Fourteen decisions, each with the impact it had on the build</a:t>
            </a:r>
            <a:endParaRPr lang="en-US" sz="1500" dirty="0"/>
          </a:p>
        </p:txBody>
      </p:sp>
      <p:sp>
        <p:nvSpPr>
          <p:cNvPr id="4" name="Text 2"/>
          <p:cNvSpPr/>
          <p:nvPr/>
        </p:nvSpPr>
        <p:spPr>
          <a:xfrm>
            <a:off x="640080" y="1645920"/>
            <a:ext cx="5212080" cy="274320"/>
          </a:xfrm>
          <a:prstGeom prst="rect">
            <a:avLst/>
          </a:prstGeom>
          <a:noFill/>
          <a:ln/>
        </p:spPr>
        <p:txBody>
          <a:bodyPr wrap="square" lIns="0" tIns="0" rIns="0" bIns="0" rtlCol="0" anchor="ctr"/>
          <a:lstStyle/>
          <a:p>
            <a:pPr marL="0" indent="0">
              <a:buNone/>
            </a:pPr>
            <a:r>
              <a:rPr lang="en-US" sz="1350" b="1" dirty="0">
                <a:solidFill>
                  <a:srgbClr val="2C5F2D"/>
                </a:solidFill>
                <a:latin typeface="Calibri" pitchFamily="34" charset="0"/>
                <a:ea typeface="Calibri" pitchFamily="34" charset="-122"/>
                <a:cs typeface="Calibri" pitchFamily="34" charset="-120"/>
              </a:rPr>
              <a:t>1 — Rules rather than a language model</a:t>
            </a:r>
            <a:endParaRPr lang="en-US" sz="1350" dirty="0"/>
          </a:p>
        </p:txBody>
      </p:sp>
      <p:sp>
        <p:nvSpPr>
          <p:cNvPr id="5" name="Text 3"/>
          <p:cNvSpPr/>
          <p:nvPr/>
        </p:nvSpPr>
        <p:spPr>
          <a:xfrm>
            <a:off x="640080" y="1938528"/>
            <a:ext cx="5212080" cy="1051560"/>
          </a:xfrm>
          <a:prstGeom prst="rect">
            <a:avLst/>
          </a:prstGeom>
          <a:noFill/>
          <a:ln/>
        </p:spPr>
        <p:txBody>
          <a:bodyPr wrap="square" lIns="0" tIns="0" rIns="0" bIns="0" rtlCol="0" anchor="t"/>
          <a:lstStyle/>
          <a:p>
            <a:pPr marL="0" indent="0">
              <a:lnSpc>
                <a:spcPts val="1600"/>
              </a:lnSpc>
              <a:buNone/>
            </a:pPr>
            <a:r>
              <a:rPr lang="en-US" sz="1150" dirty="0">
                <a:solidFill>
                  <a:srgbClr val="24241F"/>
                </a:solidFill>
                <a:latin typeface="Calibri" pitchFamily="34" charset="0"/>
                <a:ea typeface="Calibri" pitchFamily="34" charset="-122"/>
                <a:cs typeface="Calibri" pitchFamily="34" charset="-120"/>
              </a:rPr>
              <a:t>Reorder sizing is a statistics problem, so the engine uses explicit rules a planner can follow line by line. Impact: every number is traceable by hand. But the thresholds inside those rules are hand-tuned, so the logic is auditable in mechanism without being justified in its parameters.</a:t>
            </a:r>
            <a:endParaRPr lang="en-US" sz="1150" dirty="0"/>
          </a:p>
        </p:txBody>
      </p:sp>
      <p:sp>
        <p:nvSpPr>
          <p:cNvPr id="6" name="Text 4"/>
          <p:cNvSpPr/>
          <p:nvPr/>
        </p:nvSpPr>
        <p:spPr>
          <a:xfrm>
            <a:off x="640080" y="3154680"/>
            <a:ext cx="5212080" cy="274320"/>
          </a:xfrm>
          <a:prstGeom prst="rect">
            <a:avLst/>
          </a:prstGeom>
          <a:noFill/>
          <a:ln/>
        </p:spPr>
        <p:txBody>
          <a:bodyPr wrap="square" lIns="0" tIns="0" rIns="0" bIns="0" rtlCol="0" anchor="ctr"/>
          <a:lstStyle/>
          <a:p>
            <a:pPr marL="0" indent="0">
              <a:buNone/>
            </a:pPr>
            <a:r>
              <a:rPr lang="en-US" sz="1350" b="1" dirty="0">
                <a:solidFill>
                  <a:srgbClr val="2C5F2D"/>
                </a:solidFill>
                <a:latin typeface="Calibri" pitchFamily="34" charset="0"/>
                <a:ea typeface="Calibri" pitchFamily="34" charset="-122"/>
                <a:cs typeface="Calibri" pitchFamily="34" charset="-120"/>
              </a:rPr>
              <a:t>2 — Four separate stages, not one function</a:t>
            </a:r>
            <a:endParaRPr lang="en-US" sz="1350" dirty="0"/>
          </a:p>
        </p:txBody>
      </p:sp>
      <p:sp>
        <p:nvSpPr>
          <p:cNvPr id="7" name="Text 5"/>
          <p:cNvSpPr/>
          <p:nvPr/>
        </p:nvSpPr>
        <p:spPr>
          <a:xfrm>
            <a:off x="640080" y="3447288"/>
            <a:ext cx="5212080" cy="1051560"/>
          </a:xfrm>
          <a:prstGeom prst="rect">
            <a:avLst/>
          </a:prstGeom>
          <a:noFill/>
          <a:ln/>
        </p:spPr>
        <p:txBody>
          <a:bodyPr wrap="square" lIns="0" tIns="0" rIns="0" bIns="0" rtlCol="0" anchor="t"/>
          <a:lstStyle/>
          <a:p>
            <a:pPr marL="0" indent="0">
              <a:lnSpc>
                <a:spcPts val="1600"/>
              </a:lnSpc>
              <a:buNone/>
            </a:pPr>
            <a:r>
              <a:rPr lang="en-US" sz="1150" dirty="0">
                <a:solidFill>
                  <a:srgbClr val="24241F"/>
                </a:solidFill>
                <a:latin typeface="Calibri" pitchFamily="34" charset="0"/>
                <a:ea typeface="Calibri" pitchFamily="34" charset="-122"/>
                <a:cs typeface="Calibri" pitchFamily="34" charset="-120"/>
              </a:rPr>
              <a:t>Sense, decide, act and escalate each live in their own module with a single responsibility. Impact: each stage can be tested and explained on its own, which is what made it possible to trace defects like the contaminated baseline to one stage rather than hunting through a single large function.</a:t>
            </a:r>
            <a:endParaRPr lang="en-US" sz="1150" dirty="0"/>
          </a:p>
        </p:txBody>
      </p:sp>
      <p:sp>
        <p:nvSpPr>
          <p:cNvPr id="8" name="Text 6"/>
          <p:cNvSpPr/>
          <p:nvPr/>
        </p:nvSpPr>
        <p:spPr>
          <a:xfrm>
            <a:off x="640080" y="4663440"/>
            <a:ext cx="5212080" cy="274320"/>
          </a:xfrm>
          <a:prstGeom prst="rect">
            <a:avLst/>
          </a:prstGeom>
          <a:noFill/>
          <a:ln/>
        </p:spPr>
        <p:txBody>
          <a:bodyPr wrap="square" lIns="0" tIns="0" rIns="0" bIns="0" rtlCol="0" anchor="ctr"/>
          <a:lstStyle/>
          <a:p>
            <a:pPr marL="0" indent="0">
              <a:buNone/>
            </a:pPr>
            <a:r>
              <a:rPr lang="en-US" sz="1350" b="1" dirty="0">
                <a:solidFill>
                  <a:srgbClr val="2C5F2D"/>
                </a:solidFill>
                <a:latin typeface="Calibri" pitchFamily="34" charset="0"/>
                <a:ea typeface="Calibri" pitchFamily="34" charset="-122"/>
                <a:cs typeface="Calibri" pitchFamily="34" charset="-120"/>
              </a:rPr>
              <a:t>3 — Confidence threshold as a live control</a:t>
            </a:r>
            <a:endParaRPr lang="en-US" sz="1350" dirty="0"/>
          </a:p>
        </p:txBody>
      </p:sp>
      <p:sp>
        <p:nvSpPr>
          <p:cNvPr id="9" name="Text 7"/>
          <p:cNvSpPr/>
          <p:nvPr/>
        </p:nvSpPr>
        <p:spPr>
          <a:xfrm>
            <a:off x="640080" y="4956048"/>
            <a:ext cx="5212080" cy="1051560"/>
          </a:xfrm>
          <a:prstGeom prst="rect">
            <a:avLst/>
          </a:prstGeom>
          <a:noFill/>
          <a:ln/>
        </p:spPr>
        <p:txBody>
          <a:bodyPr wrap="square" lIns="0" tIns="0" rIns="0" bIns="0" rtlCol="0" anchor="t"/>
          <a:lstStyle/>
          <a:p>
            <a:pPr marL="0" indent="0">
              <a:lnSpc>
                <a:spcPts val="1600"/>
              </a:lnSpc>
              <a:buNone/>
            </a:pPr>
            <a:r>
              <a:rPr lang="en-US" sz="1150" dirty="0">
                <a:solidFill>
                  <a:srgbClr val="24241F"/>
                </a:solidFill>
                <a:latin typeface="Calibri" pitchFamily="34" charset="0"/>
                <a:ea typeface="Calibri" pitchFamily="34" charset="-122"/>
                <a:cs typeface="Calibri" pitchFamily="34" charset="-120"/>
              </a:rPr>
              <a:t>How much the agent may act alone is a slider the planner sets, not a constant in the code. Impact: the trade-off between time saved and mistakes shipped sits with a person. It also exposed a flaw — an unbounded version let the agent's own admission of ignorance be overridden, which decision 10 corrects.</a:t>
            </a:r>
            <a:endParaRPr lang="en-US" sz="1150" dirty="0"/>
          </a:p>
        </p:txBody>
      </p:sp>
      <p:sp>
        <p:nvSpPr>
          <p:cNvPr id="10" name="Text 8"/>
          <p:cNvSpPr/>
          <p:nvPr/>
        </p:nvSpPr>
        <p:spPr>
          <a:xfrm>
            <a:off x="6309360" y="1645920"/>
            <a:ext cx="5212080" cy="274320"/>
          </a:xfrm>
          <a:prstGeom prst="rect">
            <a:avLst/>
          </a:prstGeom>
          <a:noFill/>
          <a:ln/>
        </p:spPr>
        <p:txBody>
          <a:bodyPr wrap="square" lIns="0" tIns="0" rIns="0" bIns="0" rtlCol="0" anchor="ctr"/>
          <a:lstStyle/>
          <a:p>
            <a:pPr marL="0" indent="0">
              <a:buNone/>
            </a:pPr>
            <a:r>
              <a:rPr lang="en-US" sz="1350" b="1" dirty="0">
                <a:solidFill>
                  <a:srgbClr val="2C5F2D"/>
                </a:solidFill>
                <a:latin typeface="Calibri" pitchFamily="34" charset="0"/>
                <a:ea typeface="Calibri" pitchFamily="34" charset="-122"/>
                <a:cs typeface="Calibri" pitchFamily="34" charset="-120"/>
              </a:rPr>
              <a:t>4 — Long-tail products fail conservative</a:t>
            </a:r>
            <a:endParaRPr lang="en-US" sz="1350" dirty="0"/>
          </a:p>
        </p:txBody>
      </p:sp>
      <p:sp>
        <p:nvSpPr>
          <p:cNvPr id="11" name="Text 9"/>
          <p:cNvSpPr/>
          <p:nvPr/>
        </p:nvSpPr>
        <p:spPr>
          <a:xfrm>
            <a:off x="6309360" y="1938528"/>
            <a:ext cx="5212080" cy="1051560"/>
          </a:xfrm>
          <a:prstGeom prst="rect">
            <a:avLst/>
          </a:prstGeom>
          <a:noFill/>
          <a:ln/>
        </p:spPr>
        <p:txBody>
          <a:bodyPr wrap="square" lIns="0" tIns="0" rIns="0" bIns="0" rtlCol="0" anchor="t"/>
          <a:lstStyle/>
          <a:p>
            <a:pPr marL="0" indent="0">
              <a:lnSpc>
                <a:spcPts val="1600"/>
              </a:lnSpc>
              <a:buNone/>
            </a:pPr>
            <a:r>
              <a:rPr lang="en-US" sz="1150" dirty="0">
                <a:solidFill>
                  <a:srgbClr val="24241F"/>
                </a:solidFill>
                <a:latin typeface="Calibri" pitchFamily="34" charset="0"/>
                <a:ea typeface="Calibri" pitchFamily="34" charset="-122"/>
                <a:cs typeface="Calibri" pitchFamily="34" charset="-120"/>
              </a:rPr>
              <a:t>Where sales history is too thin to support an average, the system says so rather than producing a confident-looking number. Impact: the buckle reports 40% confidence and routes to a human, instead of generating arithmetic that carries no information about what next month holds.</a:t>
            </a:r>
            <a:endParaRPr lang="en-US" sz="1150" dirty="0"/>
          </a:p>
        </p:txBody>
      </p:sp>
      <p:sp>
        <p:nvSpPr>
          <p:cNvPr id="12" name="Text 10"/>
          <p:cNvSpPr/>
          <p:nvPr/>
        </p:nvSpPr>
        <p:spPr>
          <a:xfrm>
            <a:off x="6309360" y="3154680"/>
            <a:ext cx="5212080" cy="274320"/>
          </a:xfrm>
          <a:prstGeom prst="rect">
            <a:avLst/>
          </a:prstGeom>
          <a:noFill/>
          <a:ln/>
        </p:spPr>
        <p:txBody>
          <a:bodyPr wrap="square" lIns="0" tIns="0" rIns="0" bIns="0" rtlCol="0" anchor="ctr"/>
          <a:lstStyle/>
          <a:p>
            <a:pPr marL="0" indent="0">
              <a:buNone/>
            </a:pPr>
            <a:r>
              <a:rPr lang="en-US" sz="1350" b="1" dirty="0">
                <a:solidFill>
                  <a:srgbClr val="2C5F2D"/>
                </a:solidFill>
                <a:latin typeface="Calibri" pitchFamily="34" charset="0"/>
                <a:ea typeface="Calibri" pitchFamily="34" charset="-122"/>
                <a:cs typeface="Calibri" pitchFamily="34" charset="-120"/>
              </a:rPr>
              <a:t>5 — Spikes excluded, not smoothed away</a:t>
            </a:r>
            <a:endParaRPr lang="en-US" sz="1350" dirty="0"/>
          </a:p>
        </p:txBody>
      </p:sp>
      <p:sp>
        <p:nvSpPr>
          <p:cNvPr id="13" name="Text 11"/>
          <p:cNvSpPr/>
          <p:nvPr/>
        </p:nvSpPr>
        <p:spPr>
          <a:xfrm>
            <a:off x="6309360" y="3447288"/>
            <a:ext cx="5212080" cy="1051560"/>
          </a:xfrm>
          <a:prstGeom prst="rect">
            <a:avLst/>
          </a:prstGeom>
          <a:noFill/>
          <a:ln/>
        </p:spPr>
        <p:txBody>
          <a:bodyPr wrap="square" lIns="0" tIns="0" rIns="0" bIns="0" rtlCol="0" anchor="t"/>
          <a:lstStyle/>
          <a:p>
            <a:pPr marL="0" indent="0">
              <a:lnSpc>
                <a:spcPts val="1600"/>
              </a:lnSpc>
              <a:buNone/>
            </a:pPr>
            <a:r>
              <a:rPr lang="en-US" sz="1150" dirty="0">
                <a:solidFill>
                  <a:srgbClr val="24241F"/>
                </a:solidFill>
                <a:latin typeface="Calibri" pitchFamily="34" charset="0"/>
                <a:ea typeface="Calibri" pitchFamily="34" charset="-122"/>
                <a:cs typeface="Calibri" pitchFamily="34" charset="-120"/>
              </a:rPr>
              <a:t>Flagged event weeks are removed from the baseline entirely rather than averaged out over a longer window. Impact: the jacket is sized against 42 units a week instead of 94.6. The smoothing approach left the baseline inflated 2.25 times while reporting that it had corrected for the spike.</a:t>
            </a:r>
            <a:endParaRPr lang="en-US" sz="11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10881360" cy="566928"/>
          </a:xfrm>
          <a:prstGeom prst="rect">
            <a:avLst/>
          </a:prstGeom>
          <a:noFill/>
          <a:ln/>
        </p:spPr>
        <p:txBody>
          <a:bodyPr wrap="square" lIns="0" tIns="0" rIns="0" bIns="0" rtlCol="0" anchor="ctr"/>
          <a:lstStyle/>
          <a:p>
            <a:pPr marL="0" indent="0">
              <a:buNone/>
            </a:pPr>
            <a:r>
              <a:rPr lang="en-US" sz="3300" b="1" dirty="0">
                <a:solidFill>
                  <a:srgbClr val="2C5F2D"/>
                </a:solidFill>
                <a:latin typeface="Cambria" pitchFamily="34" charset="0"/>
                <a:ea typeface="Cambria" pitchFamily="34" charset="-122"/>
                <a:cs typeface="Cambria" pitchFamily="34" charset="-120"/>
              </a:rPr>
              <a:t>Decision record (2 of 3)</a:t>
            </a:r>
            <a:endParaRPr lang="en-US" sz="3300" dirty="0"/>
          </a:p>
        </p:txBody>
      </p:sp>
      <p:sp>
        <p:nvSpPr>
          <p:cNvPr id="3" name="Text 1"/>
          <p:cNvSpPr/>
          <p:nvPr/>
        </p:nvSpPr>
        <p:spPr>
          <a:xfrm>
            <a:off x="640080" y="1042416"/>
            <a:ext cx="10424160" cy="384048"/>
          </a:xfrm>
          <a:prstGeom prst="rect">
            <a:avLst/>
          </a:prstGeom>
          <a:noFill/>
          <a:ln/>
        </p:spPr>
        <p:txBody>
          <a:bodyPr wrap="square" lIns="0" tIns="0" rIns="0" bIns="0" rtlCol="0" anchor="ctr"/>
          <a:lstStyle/>
          <a:p>
            <a:pPr marL="0" indent="0">
              <a:buNone/>
            </a:pPr>
            <a:r>
              <a:rPr lang="en-US" sz="1500" dirty="0">
                <a:solidFill>
                  <a:srgbClr val="6E6E66"/>
                </a:solidFill>
                <a:latin typeface="Calibri" pitchFamily="34" charset="0"/>
                <a:ea typeface="Calibri" pitchFamily="34" charset="-122"/>
                <a:cs typeface="Calibri" pitchFamily="34" charset="-120"/>
              </a:rPr>
              <a:t>Continued</a:t>
            </a:r>
            <a:endParaRPr lang="en-US" sz="1500" dirty="0"/>
          </a:p>
        </p:txBody>
      </p:sp>
      <p:sp>
        <p:nvSpPr>
          <p:cNvPr id="4" name="Text 2"/>
          <p:cNvSpPr/>
          <p:nvPr/>
        </p:nvSpPr>
        <p:spPr>
          <a:xfrm>
            <a:off x="640080" y="1645920"/>
            <a:ext cx="5212080" cy="274320"/>
          </a:xfrm>
          <a:prstGeom prst="rect">
            <a:avLst/>
          </a:prstGeom>
          <a:noFill/>
          <a:ln/>
        </p:spPr>
        <p:txBody>
          <a:bodyPr wrap="square" lIns="0" tIns="0" rIns="0" bIns="0" rtlCol="0" anchor="ctr"/>
          <a:lstStyle/>
          <a:p>
            <a:pPr marL="0" indent="0">
              <a:buNone/>
            </a:pPr>
            <a:r>
              <a:rPr lang="en-US" sz="1350" b="1" dirty="0">
                <a:solidFill>
                  <a:srgbClr val="2C5F2D"/>
                </a:solidFill>
                <a:latin typeface="Calibri" pitchFamily="34" charset="0"/>
                <a:ea typeface="Calibri" pitchFamily="34" charset="-122"/>
                <a:cs typeface="Calibri" pitchFamily="34" charset="-120"/>
              </a:rPr>
              <a:t>5b — Declines checked as well as spikes</a:t>
            </a:r>
            <a:endParaRPr lang="en-US" sz="1350" dirty="0"/>
          </a:p>
        </p:txBody>
      </p:sp>
      <p:sp>
        <p:nvSpPr>
          <p:cNvPr id="5" name="Text 3"/>
          <p:cNvSpPr/>
          <p:nvPr/>
        </p:nvSpPr>
        <p:spPr>
          <a:xfrm>
            <a:off x="640080" y="1938528"/>
            <a:ext cx="5212080" cy="1051560"/>
          </a:xfrm>
          <a:prstGeom prst="rect">
            <a:avLst/>
          </a:prstGeom>
          <a:noFill/>
          <a:ln/>
        </p:spPr>
        <p:txBody>
          <a:bodyPr wrap="square" lIns="0" tIns="0" rIns="0" bIns="0" rtlCol="0" anchor="t"/>
          <a:lstStyle/>
          <a:p>
            <a:pPr marL="0" indent="0">
              <a:lnSpc>
                <a:spcPts val="1600"/>
              </a:lnSpc>
              <a:buNone/>
            </a:pPr>
            <a:r>
              <a:rPr lang="en-US" sz="1150" dirty="0">
                <a:solidFill>
                  <a:srgbClr val="24241F"/>
                </a:solidFill>
                <a:latin typeface="Calibri" pitchFamily="34" charset="0"/>
                <a:ea typeface="Calibri" pitchFamily="34" charset="-122"/>
                <a:cs typeface="Calibri" pitchFamily="34" charset="-120"/>
              </a:rPr>
              <a:t>The trend test runs in both directions, sizing a falling product against its recent lower demand rather than a stale average. Impact: on a test product whose demand halved, the recommendation drops from 41 units to 26. Without it, a collapse was reported as stable at 95% confidence.</a:t>
            </a:r>
            <a:endParaRPr lang="en-US" sz="1150" dirty="0"/>
          </a:p>
        </p:txBody>
      </p:sp>
      <p:sp>
        <p:nvSpPr>
          <p:cNvPr id="6" name="Text 4"/>
          <p:cNvSpPr/>
          <p:nvPr/>
        </p:nvSpPr>
        <p:spPr>
          <a:xfrm>
            <a:off x="640080" y="3154680"/>
            <a:ext cx="5212080" cy="274320"/>
          </a:xfrm>
          <a:prstGeom prst="rect">
            <a:avLst/>
          </a:prstGeom>
          <a:noFill/>
          <a:ln/>
        </p:spPr>
        <p:txBody>
          <a:bodyPr wrap="square" lIns="0" tIns="0" rIns="0" bIns="0" rtlCol="0" anchor="ctr"/>
          <a:lstStyle/>
          <a:p>
            <a:pPr marL="0" indent="0">
              <a:buNone/>
            </a:pPr>
            <a:r>
              <a:rPr lang="en-US" sz="1350" b="1" dirty="0">
                <a:solidFill>
                  <a:srgbClr val="2C5F2D"/>
                </a:solidFill>
                <a:latin typeface="Calibri" pitchFamily="34" charset="0"/>
                <a:ea typeface="Calibri" pitchFamily="34" charset="-122"/>
                <a:cs typeface="Calibri" pitchFamily="34" charset="-120"/>
              </a:rPr>
              <a:t>5c — Urgency scaled by size, not existence</a:t>
            </a:r>
            <a:endParaRPr lang="en-US" sz="1350" dirty="0"/>
          </a:p>
        </p:txBody>
      </p:sp>
      <p:sp>
        <p:nvSpPr>
          <p:cNvPr id="7" name="Text 5"/>
          <p:cNvSpPr/>
          <p:nvPr/>
        </p:nvSpPr>
        <p:spPr>
          <a:xfrm>
            <a:off x="640080" y="3447288"/>
            <a:ext cx="5212080" cy="1051560"/>
          </a:xfrm>
          <a:prstGeom prst="rect">
            <a:avLst/>
          </a:prstGeom>
          <a:noFill/>
          <a:ln/>
        </p:spPr>
        <p:txBody>
          <a:bodyPr wrap="square" lIns="0" tIns="0" rIns="0" bIns="0" rtlCol="0" anchor="t"/>
          <a:lstStyle/>
          <a:p>
            <a:pPr marL="0" indent="0">
              <a:lnSpc>
                <a:spcPts val="1600"/>
              </a:lnSpc>
              <a:buNone/>
            </a:pPr>
            <a:r>
              <a:rPr lang="en-US" sz="1150" dirty="0">
                <a:solidFill>
                  <a:srgbClr val="24241F"/>
                </a:solidFill>
                <a:latin typeface="Calibri" pitchFamily="34" charset="0"/>
                <a:ea typeface="Calibri" pitchFamily="34" charset="-122"/>
                <a:cs typeface="Calibri" pitchFamily="34" charset="-120"/>
              </a:rPr>
              <a:t>A shortage escalates only once the projected gap reaches seven days with nothing on the shelf. Impact: the flag went from firing on more than half the catalogue to a meaningful handful. A bare 'will run out' test caught products running dry a single day early, which turns urgency into noise.</a:t>
            </a:r>
            <a:endParaRPr lang="en-US" sz="1150" dirty="0"/>
          </a:p>
        </p:txBody>
      </p:sp>
      <p:sp>
        <p:nvSpPr>
          <p:cNvPr id="8" name="Text 6"/>
          <p:cNvSpPr/>
          <p:nvPr/>
        </p:nvSpPr>
        <p:spPr>
          <a:xfrm>
            <a:off x="640080" y="4663440"/>
            <a:ext cx="5212080" cy="274320"/>
          </a:xfrm>
          <a:prstGeom prst="rect">
            <a:avLst/>
          </a:prstGeom>
          <a:noFill/>
          <a:ln/>
        </p:spPr>
        <p:txBody>
          <a:bodyPr wrap="square" lIns="0" tIns="0" rIns="0" bIns="0" rtlCol="0" anchor="ctr"/>
          <a:lstStyle/>
          <a:p>
            <a:pPr marL="0" indent="0">
              <a:buNone/>
            </a:pPr>
            <a:r>
              <a:rPr lang="en-US" sz="1350" b="1" dirty="0">
                <a:solidFill>
                  <a:srgbClr val="2C5F2D"/>
                </a:solidFill>
                <a:latin typeface="Calibri" pitchFamily="34" charset="0"/>
                <a:ea typeface="Calibri" pitchFamily="34" charset="-122"/>
                <a:cs typeface="Calibri" pitchFamily="34" charset="-120"/>
              </a:rPr>
              <a:t>6 — Synthetic data over anything real</a:t>
            </a:r>
            <a:endParaRPr lang="en-US" sz="1350" dirty="0"/>
          </a:p>
        </p:txBody>
      </p:sp>
      <p:sp>
        <p:nvSpPr>
          <p:cNvPr id="9" name="Text 7"/>
          <p:cNvSpPr/>
          <p:nvPr/>
        </p:nvSpPr>
        <p:spPr>
          <a:xfrm>
            <a:off x="640080" y="4956048"/>
            <a:ext cx="5212080" cy="1051560"/>
          </a:xfrm>
          <a:prstGeom prst="rect">
            <a:avLst/>
          </a:prstGeom>
          <a:noFill/>
          <a:ln/>
        </p:spPr>
        <p:txBody>
          <a:bodyPr wrap="square" lIns="0" tIns="0" rIns="0" bIns="0" rtlCol="0" anchor="t"/>
          <a:lstStyle/>
          <a:p>
            <a:pPr marL="0" indent="0">
              <a:lnSpc>
                <a:spcPts val="1600"/>
              </a:lnSpc>
              <a:buNone/>
            </a:pPr>
            <a:r>
              <a:rPr lang="en-US" sz="1150" dirty="0">
                <a:solidFill>
                  <a:srgbClr val="24241F"/>
                </a:solidFill>
                <a:latin typeface="Calibri" pitchFamily="34" charset="0"/>
                <a:ea typeface="Calibri" pitchFamily="34" charset="-122"/>
                <a:cs typeface="Calibri" pitchFamily="34" charset="-120"/>
              </a:rPr>
              <a:t>No real dataset was available, so twenty-six weeks of trading were generated with every hard case placed deliberately. Impact: every situation the system meets can be explained rather than guessed at — but thresholds are tuned to a noise level that was chosen, well below real retail variability.</a:t>
            </a:r>
            <a:endParaRPr lang="en-US" sz="1150" dirty="0"/>
          </a:p>
        </p:txBody>
      </p:sp>
      <p:sp>
        <p:nvSpPr>
          <p:cNvPr id="10" name="Text 8"/>
          <p:cNvSpPr/>
          <p:nvPr/>
        </p:nvSpPr>
        <p:spPr>
          <a:xfrm>
            <a:off x="6309360" y="1645920"/>
            <a:ext cx="5212080" cy="274320"/>
          </a:xfrm>
          <a:prstGeom prst="rect">
            <a:avLst/>
          </a:prstGeom>
          <a:noFill/>
          <a:ln/>
        </p:spPr>
        <p:txBody>
          <a:bodyPr wrap="square" lIns="0" tIns="0" rIns="0" bIns="0" rtlCol="0" anchor="ctr"/>
          <a:lstStyle/>
          <a:p>
            <a:pPr marL="0" indent="0">
              <a:buNone/>
            </a:pPr>
            <a:r>
              <a:rPr lang="en-US" sz="1350" b="1" dirty="0">
                <a:solidFill>
                  <a:srgbClr val="2C5F2D"/>
                </a:solidFill>
                <a:latin typeface="Calibri" pitchFamily="34" charset="0"/>
                <a:ea typeface="Calibri" pitchFamily="34" charset="-122"/>
                <a:cs typeface="Calibri" pitchFamily="34" charset="-120"/>
              </a:rPr>
              <a:t>7 — Channel modelled on the demand side only</a:t>
            </a:r>
            <a:endParaRPr lang="en-US" sz="1350" dirty="0"/>
          </a:p>
        </p:txBody>
      </p:sp>
      <p:sp>
        <p:nvSpPr>
          <p:cNvPr id="11" name="Text 9"/>
          <p:cNvSpPr/>
          <p:nvPr/>
        </p:nvSpPr>
        <p:spPr>
          <a:xfrm>
            <a:off x="6309360" y="1938528"/>
            <a:ext cx="5212080" cy="1051560"/>
          </a:xfrm>
          <a:prstGeom prst="rect">
            <a:avLst/>
          </a:prstGeom>
          <a:noFill/>
          <a:ln/>
        </p:spPr>
        <p:txBody>
          <a:bodyPr wrap="square" lIns="0" tIns="0" rIns="0" bIns="0" rtlCol="0" anchor="t"/>
          <a:lstStyle/>
          <a:p>
            <a:pPr marL="0" indent="0">
              <a:lnSpc>
                <a:spcPts val="1600"/>
              </a:lnSpc>
              <a:buNone/>
            </a:pPr>
            <a:r>
              <a:rPr lang="en-US" sz="1150" dirty="0">
                <a:solidFill>
                  <a:srgbClr val="24241F"/>
                </a:solidFill>
                <a:latin typeface="Calibri" pitchFamily="34" charset="0"/>
                <a:ea typeface="Calibri" pitchFamily="34" charset="-122"/>
                <a:cs typeface="Calibri" pitchFamily="34" charset="-120"/>
              </a:rPr>
              <a:t>Sales are split by shop and website; inventory stays a single pooled figure. Impact: channel shifts become detectable, but inventory deployment across locations — genuinely replenishment work — sits outside the build. The boundary is partly principled and partly where the time ran out.</a:t>
            </a:r>
            <a:endParaRPr lang="en-US" sz="1150" dirty="0"/>
          </a:p>
        </p:txBody>
      </p:sp>
      <p:sp>
        <p:nvSpPr>
          <p:cNvPr id="12" name="Text 10"/>
          <p:cNvSpPr/>
          <p:nvPr/>
        </p:nvSpPr>
        <p:spPr>
          <a:xfrm>
            <a:off x="6309360" y="3154680"/>
            <a:ext cx="5212080" cy="274320"/>
          </a:xfrm>
          <a:prstGeom prst="rect">
            <a:avLst/>
          </a:prstGeom>
          <a:noFill/>
          <a:ln/>
        </p:spPr>
        <p:txBody>
          <a:bodyPr wrap="square" lIns="0" tIns="0" rIns="0" bIns="0" rtlCol="0" anchor="ctr"/>
          <a:lstStyle/>
          <a:p>
            <a:pPr marL="0" indent="0">
              <a:buNone/>
            </a:pPr>
            <a:r>
              <a:rPr lang="en-US" sz="1350" b="1" dirty="0">
                <a:solidFill>
                  <a:srgbClr val="2C5F2D"/>
                </a:solidFill>
                <a:latin typeface="Calibri" pitchFamily="34" charset="0"/>
                <a:ea typeface="Calibri" pitchFamily="34" charset="-122"/>
                <a:cs typeface="Calibri" pitchFamily="34" charset="-120"/>
              </a:rPr>
              <a:t>8 — A channel shift invisible in the aggregate</a:t>
            </a:r>
            <a:endParaRPr lang="en-US" sz="1350" dirty="0"/>
          </a:p>
        </p:txBody>
      </p:sp>
      <p:sp>
        <p:nvSpPr>
          <p:cNvPr id="13" name="Text 11"/>
          <p:cNvSpPr/>
          <p:nvPr/>
        </p:nvSpPr>
        <p:spPr>
          <a:xfrm>
            <a:off x="6309360" y="3447288"/>
            <a:ext cx="5212080" cy="1051560"/>
          </a:xfrm>
          <a:prstGeom prst="rect">
            <a:avLst/>
          </a:prstGeom>
          <a:noFill/>
          <a:ln/>
        </p:spPr>
        <p:txBody>
          <a:bodyPr wrap="square" lIns="0" tIns="0" rIns="0" bIns="0" rtlCol="0" anchor="t"/>
          <a:lstStyle/>
          <a:p>
            <a:pPr marL="0" indent="0">
              <a:lnSpc>
                <a:spcPts val="1600"/>
              </a:lnSpc>
              <a:buNone/>
            </a:pPr>
            <a:r>
              <a:rPr lang="en-US" sz="1150" dirty="0">
                <a:solidFill>
                  <a:srgbClr val="24241F"/>
                </a:solidFill>
                <a:latin typeface="Calibri" pitchFamily="34" charset="0"/>
                <a:ea typeface="Calibri" pitchFamily="34" charset="-122"/>
                <a:cs typeface="Calibri" pitchFamily="34" charset="-120"/>
              </a:rPr>
              <a:t>One hard case was built so the total stays flat while the mix underneath it moves. Impact: it establishes that aggregate-only sensing is structurally blind to mix shifts. It does not establish that this detector works, because the case was constructed so that it would be caught.</a:t>
            </a:r>
            <a:endParaRPr lang="en-US" sz="11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10881360" cy="566928"/>
          </a:xfrm>
          <a:prstGeom prst="rect">
            <a:avLst/>
          </a:prstGeom>
          <a:noFill/>
          <a:ln/>
        </p:spPr>
        <p:txBody>
          <a:bodyPr wrap="square" lIns="0" tIns="0" rIns="0" bIns="0" rtlCol="0" anchor="ctr"/>
          <a:lstStyle/>
          <a:p>
            <a:pPr marL="0" indent="0">
              <a:buNone/>
            </a:pPr>
            <a:r>
              <a:rPr lang="en-US" sz="3300" b="1" dirty="0">
                <a:solidFill>
                  <a:srgbClr val="2C5F2D"/>
                </a:solidFill>
                <a:latin typeface="Cambria" pitchFamily="34" charset="0"/>
                <a:ea typeface="Cambria" pitchFamily="34" charset="-122"/>
                <a:cs typeface="Cambria" pitchFamily="34" charset="-120"/>
              </a:rPr>
              <a:t>Decision record (3 of 3)</a:t>
            </a:r>
            <a:endParaRPr lang="en-US" sz="3300" dirty="0"/>
          </a:p>
        </p:txBody>
      </p:sp>
      <p:sp>
        <p:nvSpPr>
          <p:cNvPr id="3" name="Text 1"/>
          <p:cNvSpPr/>
          <p:nvPr/>
        </p:nvSpPr>
        <p:spPr>
          <a:xfrm>
            <a:off x="640080" y="1042416"/>
            <a:ext cx="10424160" cy="384048"/>
          </a:xfrm>
          <a:prstGeom prst="rect">
            <a:avLst/>
          </a:prstGeom>
          <a:noFill/>
          <a:ln/>
        </p:spPr>
        <p:txBody>
          <a:bodyPr wrap="square" lIns="0" tIns="0" rIns="0" bIns="0" rtlCol="0" anchor="ctr"/>
          <a:lstStyle/>
          <a:p>
            <a:pPr marL="0" indent="0">
              <a:buNone/>
            </a:pPr>
            <a:r>
              <a:rPr lang="en-US" sz="1500" dirty="0">
                <a:solidFill>
                  <a:srgbClr val="6E6E66"/>
                </a:solidFill>
                <a:latin typeface="Calibri" pitchFamily="34" charset="0"/>
                <a:ea typeface="Calibri" pitchFamily="34" charset="-122"/>
                <a:cs typeface="Calibri" pitchFamily="34" charset="-120"/>
              </a:rPr>
              <a:t>Continued</a:t>
            </a:r>
            <a:endParaRPr lang="en-US" sz="1500" dirty="0"/>
          </a:p>
        </p:txBody>
      </p:sp>
      <p:sp>
        <p:nvSpPr>
          <p:cNvPr id="4" name="Text 2"/>
          <p:cNvSpPr/>
          <p:nvPr/>
        </p:nvSpPr>
        <p:spPr>
          <a:xfrm>
            <a:off x="640080" y="1645920"/>
            <a:ext cx="5212080" cy="274320"/>
          </a:xfrm>
          <a:prstGeom prst="rect">
            <a:avLst/>
          </a:prstGeom>
          <a:noFill/>
          <a:ln/>
        </p:spPr>
        <p:txBody>
          <a:bodyPr wrap="square" lIns="0" tIns="0" rIns="0" bIns="0" rtlCol="0" anchor="ctr"/>
          <a:lstStyle/>
          <a:p>
            <a:pPr marL="0" indent="0">
              <a:buNone/>
            </a:pPr>
            <a:r>
              <a:rPr lang="en-US" sz="1350" b="1" dirty="0">
                <a:solidFill>
                  <a:srgbClr val="2C5F2D"/>
                </a:solidFill>
                <a:latin typeface="Calibri" pitchFamily="34" charset="0"/>
                <a:ea typeface="Calibri" pitchFamily="34" charset="-122"/>
                <a:cs typeface="Calibri" pitchFamily="34" charset="-120"/>
              </a:rPr>
              <a:t>9 — Stockout risk as a flag, not a penalty</a:t>
            </a:r>
            <a:endParaRPr lang="en-US" sz="1350" dirty="0"/>
          </a:p>
        </p:txBody>
      </p:sp>
      <p:sp>
        <p:nvSpPr>
          <p:cNvPr id="5" name="Text 3"/>
          <p:cNvSpPr/>
          <p:nvPr/>
        </p:nvSpPr>
        <p:spPr>
          <a:xfrm>
            <a:off x="640080" y="1938528"/>
            <a:ext cx="5212080" cy="1051560"/>
          </a:xfrm>
          <a:prstGeom prst="rect">
            <a:avLst/>
          </a:prstGeom>
          <a:noFill/>
          <a:ln/>
        </p:spPr>
        <p:txBody>
          <a:bodyPr wrap="square" lIns="0" tIns="0" rIns="0" bIns="0" rtlCol="0" anchor="t"/>
          <a:lstStyle/>
          <a:p>
            <a:pPr marL="0" indent="0">
              <a:lnSpc>
                <a:spcPts val="1600"/>
              </a:lnSpc>
              <a:buNone/>
            </a:pPr>
            <a:r>
              <a:rPr lang="en-US" sz="1150" dirty="0">
                <a:solidFill>
                  <a:srgbClr val="24241F"/>
                </a:solidFill>
                <a:latin typeface="Calibri" pitchFamily="34" charset="0"/>
                <a:ea typeface="Calibri" pitchFamily="34" charset="-122"/>
                <a:cs typeface="Calibri" pitchFamily="34" charset="-120"/>
              </a:rPr>
              <a:t>Operational timing risk escalates independently of forecast accuracy. Impact: a product about to go dark reaches a human however confident the forecast is. But the flag gates the purchase order while justifying itself in fulfilment terms — a known defect, recorded rather than presented as clean.</a:t>
            </a:r>
            <a:endParaRPr lang="en-US" sz="1150" dirty="0"/>
          </a:p>
        </p:txBody>
      </p:sp>
      <p:sp>
        <p:nvSpPr>
          <p:cNvPr id="6" name="Text 4"/>
          <p:cNvSpPr/>
          <p:nvPr/>
        </p:nvSpPr>
        <p:spPr>
          <a:xfrm>
            <a:off x="640080" y="3154680"/>
            <a:ext cx="5212080" cy="274320"/>
          </a:xfrm>
          <a:prstGeom prst="rect">
            <a:avLst/>
          </a:prstGeom>
          <a:noFill/>
          <a:ln/>
        </p:spPr>
        <p:txBody>
          <a:bodyPr wrap="square" lIns="0" tIns="0" rIns="0" bIns="0" rtlCol="0" anchor="ctr"/>
          <a:lstStyle/>
          <a:p>
            <a:pPr marL="0" indent="0">
              <a:buNone/>
            </a:pPr>
            <a:r>
              <a:rPr lang="en-US" sz="1350" b="1" dirty="0">
                <a:solidFill>
                  <a:srgbClr val="2C5F2D"/>
                </a:solidFill>
                <a:latin typeface="Calibri" pitchFamily="34" charset="0"/>
                <a:ea typeface="Calibri" pitchFamily="34" charset="-122"/>
                <a:cs typeface="Calibri" pitchFamily="34" charset="-120"/>
              </a:rPr>
              <a:t>10 — The autonomy slider has a floor</a:t>
            </a:r>
            <a:endParaRPr lang="en-US" sz="1350" dirty="0"/>
          </a:p>
        </p:txBody>
      </p:sp>
      <p:sp>
        <p:nvSpPr>
          <p:cNvPr id="7" name="Text 5"/>
          <p:cNvSpPr/>
          <p:nvPr/>
        </p:nvSpPr>
        <p:spPr>
          <a:xfrm>
            <a:off x="640080" y="3447288"/>
            <a:ext cx="5212080" cy="1051560"/>
          </a:xfrm>
          <a:prstGeom prst="rect">
            <a:avLst/>
          </a:prstGeom>
          <a:noFill/>
          <a:ln/>
        </p:spPr>
        <p:txBody>
          <a:bodyPr wrap="square" lIns="0" tIns="0" rIns="0" bIns="0" rtlCol="0" anchor="t"/>
          <a:lstStyle/>
          <a:p>
            <a:pPr marL="0" indent="0">
              <a:lnSpc>
                <a:spcPts val="1600"/>
              </a:lnSpc>
              <a:buNone/>
            </a:pPr>
            <a:r>
              <a:rPr lang="en-US" sz="1150" dirty="0">
                <a:solidFill>
                  <a:srgbClr val="24241F"/>
                </a:solidFill>
                <a:latin typeface="Calibri" pitchFamily="34" charset="0"/>
                <a:ea typeface="Calibri" pitchFamily="34" charset="-122"/>
                <a:cs typeface="Calibri" pitchFamily="34" charset="-120"/>
              </a:rPr>
              <a:t>Below 50% confidence nothing auto-approves, whatever the setting. Impact: at a low setting, eleven of fifteen products previously auto-approved, including one whose own reasoning read 'too little history to trust a demand average'. A safeguard that can be switched off entirely is not a safeguard.</a:t>
            </a:r>
            <a:endParaRPr lang="en-US" sz="1150" dirty="0"/>
          </a:p>
        </p:txBody>
      </p:sp>
      <p:sp>
        <p:nvSpPr>
          <p:cNvPr id="8" name="Text 6"/>
          <p:cNvSpPr/>
          <p:nvPr/>
        </p:nvSpPr>
        <p:spPr>
          <a:xfrm>
            <a:off x="640080" y="4663440"/>
            <a:ext cx="5212080" cy="274320"/>
          </a:xfrm>
          <a:prstGeom prst="rect">
            <a:avLst/>
          </a:prstGeom>
          <a:noFill/>
          <a:ln/>
        </p:spPr>
        <p:txBody>
          <a:bodyPr wrap="square" lIns="0" tIns="0" rIns="0" bIns="0" rtlCol="0" anchor="ctr"/>
          <a:lstStyle/>
          <a:p>
            <a:pPr marL="0" indent="0">
              <a:buNone/>
            </a:pPr>
            <a:r>
              <a:rPr lang="en-US" sz="1350" b="1" dirty="0">
                <a:solidFill>
                  <a:srgbClr val="2C5F2D"/>
                </a:solidFill>
                <a:latin typeface="Calibri" pitchFamily="34" charset="0"/>
                <a:ea typeface="Calibri" pitchFamily="34" charset="-122"/>
                <a:cs typeface="Calibri" pitchFamily="34" charset="-120"/>
              </a:rPr>
              <a:t>11 — Urgency ranked by exposure, not days</a:t>
            </a:r>
            <a:endParaRPr lang="en-US" sz="1350" dirty="0"/>
          </a:p>
        </p:txBody>
      </p:sp>
      <p:sp>
        <p:nvSpPr>
          <p:cNvPr id="9" name="Text 7"/>
          <p:cNvSpPr/>
          <p:nvPr/>
        </p:nvSpPr>
        <p:spPr>
          <a:xfrm>
            <a:off x="640080" y="4956048"/>
            <a:ext cx="5212080" cy="1051560"/>
          </a:xfrm>
          <a:prstGeom prst="rect">
            <a:avLst/>
          </a:prstGeom>
          <a:noFill/>
          <a:ln/>
        </p:spPr>
        <p:txBody>
          <a:bodyPr wrap="square" lIns="0" tIns="0" rIns="0" bIns="0" rtlCol="0" anchor="t"/>
          <a:lstStyle/>
          <a:p>
            <a:pPr marL="0" indent="0">
              <a:lnSpc>
                <a:spcPts val="1600"/>
              </a:lnSpc>
              <a:buNone/>
            </a:pPr>
            <a:r>
              <a:rPr lang="en-US" sz="1150" dirty="0">
                <a:solidFill>
                  <a:srgbClr val="24241F"/>
                </a:solidFill>
                <a:latin typeface="Calibri" pitchFamily="34" charset="0"/>
                <a:ea typeface="Calibri" pitchFamily="34" charset="-122"/>
                <a:cs typeface="Calibri" pitchFamily="34" charset="-120"/>
              </a:rPr>
              <a:t>The queue orders by units left unserved valued at retail, which uses price — information the reorder maths never touches. Impact: the jacket carries the smallest shortfall in days of the urgent set and the largest exposure. Ranking by days pushed the costliest problem down the list.</a:t>
            </a:r>
            <a:endParaRPr lang="en-US" sz="1150" dirty="0"/>
          </a:p>
        </p:txBody>
      </p:sp>
      <p:sp>
        <p:nvSpPr>
          <p:cNvPr id="10" name="Text 8"/>
          <p:cNvSpPr/>
          <p:nvPr/>
        </p:nvSpPr>
        <p:spPr>
          <a:xfrm>
            <a:off x="6309360" y="1645920"/>
            <a:ext cx="5212080" cy="274320"/>
          </a:xfrm>
          <a:prstGeom prst="rect">
            <a:avLst/>
          </a:prstGeom>
          <a:noFill/>
          <a:ln/>
        </p:spPr>
        <p:txBody>
          <a:bodyPr wrap="square" lIns="0" tIns="0" rIns="0" bIns="0" rtlCol="0" anchor="ctr"/>
          <a:lstStyle/>
          <a:p>
            <a:pPr marL="0" indent="0">
              <a:buNone/>
            </a:pPr>
            <a:r>
              <a:rPr lang="en-US" sz="1350" b="1" dirty="0">
                <a:solidFill>
                  <a:srgbClr val="2C5F2D"/>
                </a:solidFill>
                <a:latin typeface="Calibri" pitchFamily="34" charset="0"/>
                <a:ea typeface="Calibri" pitchFamily="34" charset="-122"/>
                <a:cs typeface="Calibri" pitchFamily="34" charset="-120"/>
              </a:rPr>
              <a:t>12 — Open purchase orders modelled</a:t>
            </a:r>
            <a:endParaRPr lang="en-US" sz="1350" dirty="0"/>
          </a:p>
        </p:txBody>
      </p:sp>
      <p:sp>
        <p:nvSpPr>
          <p:cNvPr id="11" name="Text 9"/>
          <p:cNvSpPr/>
          <p:nvPr/>
        </p:nvSpPr>
        <p:spPr>
          <a:xfrm>
            <a:off x="6309360" y="1938528"/>
            <a:ext cx="5212080" cy="1051560"/>
          </a:xfrm>
          <a:prstGeom prst="rect">
            <a:avLst/>
          </a:prstGeom>
          <a:noFill/>
          <a:ln/>
        </p:spPr>
        <p:txBody>
          <a:bodyPr wrap="square" lIns="0" tIns="0" rIns="0" bIns="0" rtlCol="0" anchor="t"/>
          <a:lstStyle/>
          <a:p>
            <a:pPr marL="0" indent="0">
              <a:lnSpc>
                <a:spcPts val="1600"/>
              </a:lnSpc>
              <a:buNone/>
            </a:pPr>
            <a:r>
              <a:rPr lang="en-US" sz="1150" dirty="0">
                <a:solidFill>
                  <a:srgbClr val="24241F"/>
                </a:solidFill>
                <a:latin typeface="Calibri" pitchFamily="34" charset="0"/>
                <a:ea typeface="Calibri" pitchFamily="34" charset="-122"/>
                <a:cs typeface="Calibri" pitchFamily="34" charset="-120"/>
              </a:rPr>
              <a:t>Stock already in transit is tracked, so the shortage horizon runs to the next real arrival rather than a hypothetical one. Impact: alerts clear once a shortage is being handled, and reorders net against inventory position — preventing a 79-unit duplicate order on one product.</a:t>
            </a:r>
            <a:endParaRPr lang="en-US" sz="11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06789446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10881360" cy="566928"/>
          </a:xfrm>
          <a:prstGeom prst="rect">
            <a:avLst/>
          </a:prstGeom>
          <a:noFill/>
          <a:ln/>
        </p:spPr>
        <p:txBody>
          <a:bodyPr wrap="square" lIns="0" tIns="0" rIns="0" bIns="0" rtlCol="0" anchor="ctr"/>
          <a:lstStyle/>
          <a:p>
            <a:pPr marL="0" indent="0">
              <a:buNone/>
            </a:pPr>
            <a:r>
              <a:rPr lang="en-US" sz="3300" b="1" dirty="0">
                <a:solidFill>
                  <a:srgbClr val="2C5F2D"/>
                </a:solidFill>
                <a:latin typeface="Cambria" pitchFamily="34" charset="0"/>
                <a:ea typeface="Cambria" pitchFamily="34" charset="-122"/>
                <a:cs typeface="Cambria" pitchFamily="34" charset="-120"/>
              </a:rPr>
              <a:t>Defects found and fixed (1 of 4)</a:t>
            </a:r>
            <a:endParaRPr lang="en-US" sz="3300" dirty="0"/>
          </a:p>
        </p:txBody>
      </p:sp>
      <p:sp>
        <p:nvSpPr>
          <p:cNvPr id="3" name="Text 1"/>
          <p:cNvSpPr/>
          <p:nvPr/>
        </p:nvSpPr>
        <p:spPr>
          <a:xfrm>
            <a:off x="640080" y="1042416"/>
            <a:ext cx="10424160" cy="384048"/>
          </a:xfrm>
          <a:prstGeom prst="rect">
            <a:avLst/>
          </a:prstGeom>
          <a:noFill/>
          <a:ln/>
        </p:spPr>
        <p:txBody>
          <a:bodyPr wrap="square" lIns="0" tIns="0" rIns="0" bIns="0" rtlCol="0" anchor="ctr"/>
          <a:lstStyle/>
          <a:p>
            <a:pPr marL="0" indent="0">
              <a:buNone/>
            </a:pPr>
            <a:r>
              <a:rPr lang="en-US" sz="1500" dirty="0">
                <a:solidFill>
                  <a:srgbClr val="6E6E66"/>
                </a:solidFill>
                <a:latin typeface="Calibri" pitchFamily="34" charset="0"/>
                <a:ea typeface="Calibri" pitchFamily="34" charset="-122"/>
                <a:cs typeface="Calibri" pitchFamily="34" charset="-120"/>
              </a:rPr>
              <a:t>Seventeen in total. Each was found by running the code, not by reading it</a:t>
            </a:r>
            <a:endParaRPr lang="en-US" sz="1500" dirty="0"/>
          </a:p>
        </p:txBody>
      </p:sp>
      <p:sp>
        <p:nvSpPr>
          <p:cNvPr id="4" name="Text 2"/>
          <p:cNvSpPr/>
          <p:nvPr/>
        </p:nvSpPr>
        <p:spPr>
          <a:xfrm>
            <a:off x="640080" y="1645920"/>
            <a:ext cx="5212080" cy="274320"/>
          </a:xfrm>
          <a:prstGeom prst="rect">
            <a:avLst/>
          </a:prstGeom>
          <a:noFill/>
          <a:ln/>
        </p:spPr>
        <p:txBody>
          <a:bodyPr wrap="square" lIns="0" tIns="0" rIns="0" bIns="0" rtlCol="0" anchor="ctr"/>
          <a:lstStyle/>
          <a:p>
            <a:pPr marL="0" indent="0">
              <a:buNone/>
            </a:pPr>
            <a:r>
              <a:rPr lang="en-US" sz="1350" b="1" dirty="0">
                <a:solidFill>
                  <a:srgbClr val="2C5F2D"/>
                </a:solidFill>
                <a:latin typeface="Calibri" pitchFamily="34" charset="0"/>
                <a:ea typeface="Calibri" pitchFamily="34" charset="-122"/>
                <a:cs typeface="Calibri" pitchFamily="34" charset="-120"/>
              </a:rPr>
              <a:t>A1 — Spike generated outside the window</a:t>
            </a:r>
            <a:endParaRPr lang="en-US" sz="1350" dirty="0"/>
          </a:p>
        </p:txBody>
      </p:sp>
      <p:sp>
        <p:nvSpPr>
          <p:cNvPr id="5" name="Text 3"/>
          <p:cNvSpPr/>
          <p:nvPr/>
        </p:nvSpPr>
        <p:spPr>
          <a:xfrm>
            <a:off x="640080" y="1938528"/>
            <a:ext cx="5212080" cy="1051560"/>
          </a:xfrm>
          <a:prstGeom prst="rect">
            <a:avLst/>
          </a:prstGeom>
          <a:noFill/>
          <a:ln/>
        </p:spPr>
        <p:txBody>
          <a:bodyPr wrap="square" lIns="0" tIns="0" rIns="0" bIns="0" rtlCol="0" anchor="t"/>
          <a:lstStyle/>
          <a:p>
            <a:pPr marL="0" indent="0">
              <a:lnSpc>
                <a:spcPts val="1600"/>
              </a:lnSpc>
              <a:buNone/>
            </a:pPr>
            <a:r>
              <a:rPr lang="en-US" sz="1150" dirty="0">
                <a:solidFill>
                  <a:srgbClr val="24241F"/>
                </a:solidFill>
                <a:latin typeface="Calibri" pitchFamily="34" charset="0"/>
                <a:ea typeface="Calibri" pitchFamily="34" charset="-122"/>
                <a:cs typeface="Calibri" pitchFamily="34" charset="-120"/>
              </a:rPr>
              <a:t>The synthetic spike sat in weeks 20 to 22 while the snapshot represents week 26, so it had already receded from the trailing window. Impact: the detector was being tested against a lull rather than a live spike — the opposite of the intended scenario. Caught on the first end-to-end run.</a:t>
            </a:r>
            <a:endParaRPr lang="en-US" sz="1150" dirty="0"/>
          </a:p>
        </p:txBody>
      </p:sp>
      <p:sp>
        <p:nvSpPr>
          <p:cNvPr id="6" name="Text 4"/>
          <p:cNvSpPr/>
          <p:nvPr/>
        </p:nvSpPr>
        <p:spPr>
          <a:xfrm>
            <a:off x="640080" y="3154680"/>
            <a:ext cx="5212080" cy="274320"/>
          </a:xfrm>
          <a:prstGeom prst="rect">
            <a:avLst/>
          </a:prstGeom>
          <a:noFill/>
          <a:ln/>
        </p:spPr>
        <p:txBody>
          <a:bodyPr wrap="square" lIns="0" tIns="0" rIns="0" bIns="0" rtlCol="0" anchor="ctr"/>
          <a:lstStyle/>
          <a:p>
            <a:pPr marL="0" indent="0">
              <a:buNone/>
            </a:pPr>
            <a:r>
              <a:rPr lang="en-US" sz="1350" b="1" dirty="0">
                <a:solidFill>
                  <a:srgbClr val="2C5F2D"/>
                </a:solidFill>
                <a:latin typeface="Calibri" pitchFamily="34" charset="0"/>
                <a:ea typeface="Calibri" pitchFamily="34" charset="-122"/>
                <a:cs typeface="Calibri" pitchFamily="34" charset="-120"/>
              </a:rPr>
              <a:t>A2 — Threshold set above its own signal</a:t>
            </a:r>
            <a:endParaRPr lang="en-US" sz="1350" dirty="0"/>
          </a:p>
        </p:txBody>
      </p:sp>
      <p:sp>
        <p:nvSpPr>
          <p:cNvPr id="7" name="Text 5"/>
          <p:cNvSpPr/>
          <p:nvPr/>
        </p:nvSpPr>
        <p:spPr>
          <a:xfrm>
            <a:off x="640080" y="3447288"/>
            <a:ext cx="5212080" cy="1051560"/>
          </a:xfrm>
          <a:prstGeom prst="rect">
            <a:avLst/>
          </a:prstGeom>
          <a:noFill/>
          <a:ln/>
        </p:spPr>
        <p:txBody>
          <a:bodyPr wrap="square" lIns="0" tIns="0" rIns="0" bIns="0" rtlCol="0" anchor="t"/>
          <a:lstStyle/>
          <a:p>
            <a:pPr marL="0" indent="0">
              <a:lnSpc>
                <a:spcPts val="1600"/>
              </a:lnSpc>
              <a:buNone/>
            </a:pPr>
            <a:r>
              <a:rPr lang="en-US" sz="1150" dirty="0">
                <a:solidFill>
                  <a:srgbClr val="24241F"/>
                </a:solidFill>
                <a:latin typeface="Calibri" pitchFamily="34" charset="0"/>
                <a:ea typeface="Calibri" pitchFamily="34" charset="-122"/>
                <a:cs typeface="Calibri" pitchFamily="34" charset="-120"/>
              </a:rPr>
              <a:t>The spike threshold was 1.6 against an observed ratio of 1.54. Impact: the headline hard case never fired, and nothing in the output flagged a problem — the product simply looked ordinary. Lowered to 1.4, on the reasoning that a sustained 40% deviation is already an anomaly worth naming.</a:t>
            </a:r>
            <a:endParaRPr lang="en-US" sz="1150" dirty="0"/>
          </a:p>
        </p:txBody>
      </p:sp>
      <p:sp>
        <p:nvSpPr>
          <p:cNvPr id="8" name="Text 6"/>
          <p:cNvSpPr/>
          <p:nvPr/>
        </p:nvSpPr>
        <p:spPr>
          <a:xfrm>
            <a:off x="640080" y="4663440"/>
            <a:ext cx="5212080" cy="274320"/>
          </a:xfrm>
          <a:prstGeom prst="rect">
            <a:avLst/>
          </a:prstGeom>
          <a:noFill/>
          <a:ln/>
        </p:spPr>
        <p:txBody>
          <a:bodyPr wrap="square" lIns="0" tIns="0" rIns="0" bIns="0" rtlCol="0" anchor="ctr"/>
          <a:lstStyle/>
          <a:p>
            <a:pPr marL="0" indent="0">
              <a:buNone/>
            </a:pPr>
            <a:r>
              <a:rPr lang="en-US" sz="1350" b="1" dirty="0">
                <a:solidFill>
                  <a:srgbClr val="2C5F2D"/>
                </a:solidFill>
                <a:latin typeface="Calibri" pitchFamily="34" charset="0"/>
                <a:ea typeface="Calibri" pitchFamily="34" charset="-122"/>
                <a:cs typeface="Calibri" pitchFamily="34" charset="-120"/>
              </a:rPr>
              <a:t>A3 — Correction used an inflated baseline</a:t>
            </a:r>
            <a:endParaRPr lang="en-US" sz="1350" dirty="0"/>
          </a:p>
        </p:txBody>
      </p:sp>
      <p:sp>
        <p:nvSpPr>
          <p:cNvPr id="9" name="Text 7"/>
          <p:cNvSpPr/>
          <p:nvPr/>
        </p:nvSpPr>
        <p:spPr>
          <a:xfrm>
            <a:off x="640080" y="4956048"/>
            <a:ext cx="5212080" cy="1051560"/>
          </a:xfrm>
          <a:prstGeom prst="rect">
            <a:avLst/>
          </a:prstGeom>
          <a:noFill/>
          <a:ln/>
        </p:spPr>
        <p:txBody>
          <a:bodyPr wrap="square" lIns="0" tIns="0" rIns="0" bIns="0" rtlCol="0" anchor="t"/>
          <a:lstStyle/>
          <a:p>
            <a:pPr marL="0" indent="0">
              <a:lnSpc>
                <a:spcPts val="1600"/>
              </a:lnSpc>
              <a:buNone/>
            </a:pPr>
            <a:r>
              <a:rPr lang="en-US" sz="1150" dirty="0">
                <a:solidFill>
                  <a:srgbClr val="24241F"/>
                </a:solidFill>
                <a:latin typeface="Calibri" pitchFamily="34" charset="0"/>
                <a:ea typeface="Calibri" pitchFamily="34" charset="-122"/>
                <a:cs typeface="Calibri" pitchFamily="34" charset="-120"/>
              </a:rPr>
              <a:t>Falling back to the eight-week average failed, because all three spike weeks sit inside that window. Impact: the system over-ordered by more than double while telling the planner it had corrected for the spike. The most serious defect found, and one that undercuts the claim of auditability.</a:t>
            </a:r>
            <a:endParaRPr lang="en-US" sz="1150" dirty="0"/>
          </a:p>
        </p:txBody>
      </p:sp>
      <p:sp>
        <p:nvSpPr>
          <p:cNvPr id="10" name="Text 8"/>
          <p:cNvSpPr/>
          <p:nvPr/>
        </p:nvSpPr>
        <p:spPr>
          <a:xfrm>
            <a:off x="6309360" y="1645920"/>
            <a:ext cx="5212080" cy="274320"/>
          </a:xfrm>
          <a:prstGeom prst="rect">
            <a:avLst/>
          </a:prstGeom>
          <a:noFill/>
          <a:ln/>
        </p:spPr>
        <p:txBody>
          <a:bodyPr wrap="square" lIns="0" tIns="0" rIns="0" bIns="0" rtlCol="0" anchor="ctr"/>
          <a:lstStyle/>
          <a:p>
            <a:pPr marL="0" indent="0">
              <a:buNone/>
            </a:pPr>
            <a:r>
              <a:rPr lang="en-US" sz="1350" b="1" dirty="0">
                <a:solidFill>
                  <a:srgbClr val="2C5F2D"/>
                </a:solidFill>
                <a:latin typeface="Calibri" pitchFamily="34" charset="0"/>
                <a:ea typeface="Calibri" pitchFamily="34" charset="-122"/>
                <a:cs typeface="Calibri" pitchFamily="34" charset="-120"/>
              </a:rPr>
              <a:t>A4 — Long-tail reorder ignored stock on hand</a:t>
            </a:r>
            <a:endParaRPr lang="en-US" sz="1350" dirty="0"/>
          </a:p>
        </p:txBody>
      </p:sp>
      <p:sp>
        <p:nvSpPr>
          <p:cNvPr id="11" name="Text 9"/>
          <p:cNvSpPr/>
          <p:nvPr/>
        </p:nvSpPr>
        <p:spPr>
          <a:xfrm>
            <a:off x="6309360" y="1938528"/>
            <a:ext cx="5212080" cy="1051560"/>
          </a:xfrm>
          <a:prstGeom prst="rect">
            <a:avLst/>
          </a:prstGeom>
          <a:noFill/>
          <a:ln/>
        </p:spPr>
        <p:txBody>
          <a:bodyPr wrap="square" lIns="0" tIns="0" rIns="0" bIns="0" rtlCol="0" anchor="t"/>
          <a:lstStyle/>
          <a:p>
            <a:pPr marL="0" indent="0">
              <a:lnSpc>
                <a:spcPts val="1600"/>
              </a:lnSpc>
              <a:buNone/>
            </a:pPr>
            <a:r>
              <a:rPr lang="en-US" sz="1150" dirty="0">
                <a:solidFill>
                  <a:srgbClr val="24241F"/>
                </a:solidFill>
                <a:latin typeface="Calibri" pitchFamily="34" charset="0"/>
                <a:ea typeface="Calibri" pitchFamily="34" charset="-122"/>
                <a:cs typeface="Calibri" pitchFamily="34" charset="-120"/>
              </a:rPr>
              <a:t>The sparse-history branch sized orders as demand times lead time without subtracting existing inventory. Impact: a product already holding seven weeks of cover was told to order more. The branch was described in its own comments as minimal and conservative; it was neither.</a:t>
            </a:r>
            <a:endParaRPr lang="en-US" sz="1150" dirty="0"/>
          </a:p>
        </p:txBody>
      </p:sp>
      <p:sp>
        <p:nvSpPr>
          <p:cNvPr id="12" name="Text 10"/>
          <p:cNvSpPr/>
          <p:nvPr/>
        </p:nvSpPr>
        <p:spPr>
          <a:xfrm>
            <a:off x="6309360" y="3154680"/>
            <a:ext cx="5212080" cy="274320"/>
          </a:xfrm>
          <a:prstGeom prst="rect">
            <a:avLst/>
          </a:prstGeom>
          <a:noFill/>
          <a:ln/>
        </p:spPr>
        <p:txBody>
          <a:bodyPr wrap="square" lIns="0" tIns="0" rIns="0" bIns="0" rtlCol="0" anchor="ctr"/>
          <a:lstStyle/>
          <a:p>
            <a:pPr marL="0" indent="0">
              <a:buNone/>
            </a:pPr>
            <a:r>
              <a:rPr lang="en-US" sz="1350" b="1" dirty="0">
                <a:solidFill>
                  <a:srgbClr val="2C5F2D"/>
                </a:solidFill>
                <a:latin typeface="Calibri" pitchFamily="34" charset="0"/>
                <a:ea typeface="Calibri" pitchFamily="34" charset="-122"/>
                <a:cs typeface="Calibri" pitchFamily="34" charset="-120"/>
              </a:rPr>
              <a:t>A5 — Conservative branch, least conservative maths</a:t>
            </a:r>
            <a:endParaRPr lang="en-US" sz="1350" dirty="0"/>
          </a:p>
        </p:txBody>
      </p:sp>
      <p:sp>
        <p:nvSpPr>
          <p:cNvPr id="13" name="Text 11"/>
          <p:cNvSpPr/>
          <p:nvPr/>
        </p:nvSpPr>
        <p:spPr>
          <a:xfrm>
            <a:off x="6309360" y="3447288"/>
            <a:ext cx="5212080" cy="1051560"/>
          </a:xfrm>
          <a:prstGeom prst="rect">
            <a:avLst/>
          </a:prstGeom>
          <a:noFill/>
          <a:ln/>
        </p:spPr>
        <p:txBody>
          <a:bodyPr wrap="square" lIns="0" tIns="0" rIns="0" bIns="0" rtlCol="0" anchor="t"/>
          <a:lstStyle/>
          <a:p>
            <a:pPr marL="0" indent="0">
              <a:lnSpc>
                <a:spcPts val="1600"/>
              </a:lnSpc>
              <a:buNone/>
            </a:pPr>
            <a:r>
              <a:rPr lang="en-US" sz="1150" dirty="0">
                <a:solidFill>
                  <a:srgbClr val="24241F"/>
                </a:solidFill>
                <a:latin typeface="Calibri" pitchFamily="34" charset="0"/>
                <a:ea typeface="Calibri" pitchFamily="34" charset="-122"/>
                <a:cs typeface="Calibri" pitchFamily="34" charset="-120"/>
              </a:rPr>
              <a:t>The demand basis was selected using the maximum of two averages. Impact: on lumpy low-volume history a single busy week drags the estimate upward — applied to exactly the data the system trusts least. Changed to the minimum, which is what the surrounding comment already claimed.</a:t>
            </a:r>
            <a:endParaRPr lang="en-US" sz="11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10881360" cy="566928"/>
          </a:xfrm>
          <a:prstGeom prst="rect">
            <a:avLst/>
          </a:prstGeom>
          <a:noFill/>
          <a:ln/>
        </p:spPr>
        <p:txBody>
          <a:bodyPr wrap="square" lIns="0" tIns="0" rIns="0" bIns="0" rtlCol="0" anchor="ctr"/>
          <a:lstStyle/>
          <a:p>
            <a:pPr marL="0" indent="0">
              <a:buNone/>
            </a:pPr>
            <a:r>
              <a:rPr lang="en-US" sz="3300" b="1" dirty="0">
                <a:solidFill>
                  <a:srgbClr val="2C5F2D"/>
                </a:solidFill>
                <a:latin typeface="Cambria" pitchFamily="34" charset="0"/>
                <a:ea typeface="Cambria" pitchFamily="34" charset="-122"/>
                <a:cs typeface="Cambria" pitchFamily="34" charset="-120"/>
              </a:rPr>
              <a:t>Defects found and fixed (2 of 4)</a:t>
            </a:r>
            <a:endParaRPr lang="en-US" sz="3300" dirty="0"/>
          </a:p>
        </p:txBody>
      </p:sp>
      <p:sp>
        <p:nvSpPr>
          <p:cNvPr id="3" name="Text 1"/>
          <p:cNvSpPr/>
          <p:nvPr/>
        </p:nvSpPr>
        <p:spPr>
          <a:xfrm>
            <a:off x="640080" y="1042416"/>
            <a:ext cx="10424160" cy="384048"/>
          </a:xfrm>
          <a:prstGeom prst="rect">
            <a:avLst/>
          </a:prstGeom>
          <a:noFill/>
          <a:ln/>
        </p:spPr>
        <p:txBody>
          <a:bodyPr wrap="square" lIns="0" tIns="0" rIns="0" bIns="0" rtlCol="0" anchor="ctr"/>
          <a:lstStyle/>
          <a:p>
            <a:pPr marL="0" indent="0">
              <a:buNone/>
            </a:pPr>
            <a:r>
              <a:rPr lang="en-US" sz="1500" dirty="0">
                <a:solidFill>
                  <a:srgbClr val="6E6E66"/>
                </a:solidFill>
                <a:latin typeface="Calibri" pitchFamily="34" charset="0"/>
                <a:ea typeface="Calibri" pitchFamily="34" charset="-122"/>
                <a:cs typeface="Calibri" pitchFamily="34" charset="-120"/>
              </a:rPr>
              <a:t>Continued</a:t>
            </a:r>
            <a:endParaRPr lang="en-US" sz="1500" dirty="0"/>
          </a:p>
        </p:txBody>
      </p:sp>
      <p:sp>
        <p:nvSpPr>
          <p:cNvPr id="4" name="Text 2"/>
          <p:cNvSpPr/>
          <p:nvPr/>
        </p:nvSpPr>
        <p:spPr>
          <a:xfrm>
            <a:off x="640080" y="1645920"/>
            <a:ext cx="5212080" cy="274320"/>
          </a:xfrm>
          <a:prstGeom prst="rect">
            <a:avLst/>
          </a:prstGeom>
          <a:noFill/>
          <a:ln/>
        </p:spPr>
        <p:txBody>
          <a:bodyPr wrap="square" lIns="0" tIns="0" rIns="0" bIns="0" rtlCol="0" anchor="ctr"/>
          <a:lstStyle/>
          <a:p>
            <a:pPr marL="0" indent="0">
              <a:buNone/>
            </a:pPr>
            <a:r>
              <a:rPr lang="en-US" sz="1350" b="1" dirty="0">
                <a:solidFill>
                  <a:srgbClr val="2C5F2D"/>
                </a:solidFill>
                <a:latin typeface="Calibri" pitchFamily="34" charset="0"/>
                <a:ea typeface="Calibri" pitchFamily="34" charset="-122"/>
                <a:cs typeface="Calibri" pitchFamily="34" charset="-120"/>
              </a:rPr>
              <a:t>A6 — Risk assessed at the wrong burn rate</a:t>
            </a:r>
            <a:endParaRPr lang="en-US" sz="1350" dirty="0"/>
          </a:p>
        </p:txBody>
      </p:sp>
      <p:sp>
        <p:nvSpPr>
          <p:cNvPr id="5" name="Text 3"/>
          <p:cNvSpPr/>
          <p:nvPr/>
        </p:nvSpPr>
        <p:spPr>
          <a:xfrm>
            <a:off x="640080" y="1938528"/>
            <a:ext cx="5212080" cy="1051560"/>
          </a:xfrm>
          <a:prstGeom prst="rect">
            <a:avLst/>
          </a:prstGeom>
          <a:noFill/>
          <a:ln/>
        </p:spPr>
        <p:txBody>
          <a:bodyPr wrap="square" lIns="0" tIns="0" rIns="0" bIns="0" rtlCol="0" anchor="t"/>
          <a:lstStyle/>
          <a:p>
            <a:pPr marL="0" indent="0">
              <a:lnSpc>
                <a:spcPts val="1600"/>
              </a:lnSpc>
              <a:buNone/>
            </a:pPr>
            <a:r>
              <a:rPr lang="en-US" sz="1150" dirty="0">
                <a:solidFill>
                  <a:srgbClr val="24241F"/>
                </a:solidFill>
                <a:latin typeface="Calibri" pitchFamily="34" charset="0"/>
                <a:ea typeface="Calibri" pitchFamily="34" charset="-122"/>
                <a:cs typeface="Calibri" pitchFamily="34" charset="-120"/>
              </a:rPr>
              <a:t>Days of cover divided stock by the spike-discounted average rather than the rate stock was actually leaving the shelf. Impact: risk was understated exactly when highest — the jacket showed 1.6 days of cover against a real figure of 1.0. Discounting a spike to size an order is fair; to judge depletion is not.</a:t>
            </a:r>
            <a:endParaRPr lang="en-US" sz="1150" dirty="0"/>
          </a:p>
        </p:txBody>
      </p:sp>
      <p:sp>
        <p:nvSpPr>
          <p:cNvPr id="6" name="Text 4"/>
          <p:cNvSpPr/>
          <p:nvPr/>
        </p:nvSpPr>
        <p:spPr>
          <a:xfrm>
            <a:off x="640080" y="3154680"/>
            <a:ext cx="5212080" cy="274320"/>
          </a:xfrm>
          <a:prstGeom prst="rect">
            <a:avLst/>
          </a:prstGeom>
          <a:noFill/>
          <a:ln/>
        </p:spPr>
        <p:txBody>
          <a:bodyPr wrap="square" lIns="0" tIns="0" rIns="0" bIns="0" rtlCol="0" anchor="ctr"/>
          <a:lstStyle/>
          <a:p>
            <a:pPr marL="0" indent="0">
              <a:buNone/>
            </a:pPr>
            <a:r>
              <a:rPr lang="en-US" sz="1350" b="1" dirty="0">
                <a:solidFill>
                  <a:srgbClr val="2C5F2D"/>
                </a:solidFill>
                <a:latin typeface="Calibri" pitchFamily="34" charset="0"/>
                <a:ea typeface="Calibri" pitchFamily="34" charset="-122"/>
                <a:cs typeface="Calibri" pitchFamily="34" charset="-120"/>
              </a:rPr>
              <a:t>A7 — Truncation in a planner-facing message</a:t>
            </a:r>
            <a:endParaRPr lang="en-US" sz="1350" dirty="0"/>
          </a:p>
        </p:txBody>
      </p:sp>
      <p:sp>
        <p:nvSpPr>
          <p:cNvPr id="7" name="Text 5"/>
          <p:cNvSpPr/>
          <p:nvPr/>
        </p:nvSpPr>
        <p:spPr>
          <a:xfrm>
            <a:off x="640080" y="3447288"/>
            <a:ext cx="5212080" cy="1051560"/>
          </a:xfrm>
          <a:prstGeom prst="rect">
            <a:avLst/>
          </a:prstGeom>
          <a:noFill/>
          <a:ln/>
        </p:spPr>
        <p:txBody>
          <a:bodyPr wrap="square" lIns="0" tIns="0" rIns="0" bIns="0" rtlCol="0" anchor="t"/>
          <a:lstStyle/>
          <a:p>
            <a:pPr marL="0" indent="0">
              <a:lnSpc>
                <a:spcPts val="1600"/>
              </a:lnSpc>
              <a:buNone/>
            </a:pPr>
            <a:r>
              <a:rPr lang="en-US" sz="1150" dirty="0">
                <a:solidFill>
                  <a:srgbClr val="24241F"/>
                </a:solidFill>
                <a:latin typeface="Calibri" pitchFamily="34" charset="0"/>
                <a:ea typeface="Calibri" pitchFamily="34" charset="-122"/>
                <a:cs typeface="Calibri" pitchFamily="34" charset="-120"/>
              </a:rPr>
              <a:t>A week count was reconstructed from an already-rounded ratio using integer truncation. Impact: one non-zero week would have displayed as 'sold in 0 of the last 12 weeks'. Latent on the current data, wrong in principle, and it appears in text shown directly to a person.</a:t>
            </a:r>
            <a:endParaRPr lang="en-US" sz="1150" dirty="0"/>
          </a:p>
        </p:txBody>
      </p:sp>
      <p:sp>
        <p:nvSpPr>
          <p:cNvPr id="8" name="Text 6"/>
          <p:cNvSpPr/>
          <p:nvPr/>
        </p:nvSpPr>
        <p:spPr>
          <a:xfrm>
            <a:off x="640080" y="4663440"/>
            <a:ext cx="5212080" cy="274320"/>
          </a:xfrm>
          <a:prstGeom prst="rect">
            <a:avLst/>
          </a:prstGeom>
          <a:noFill/>
          <a:ln/>
        </p:spPr>
        <p:txBody>
          <a:bodyPr wrap="square" lIns="0" tIns="0" rIns="0" bIns="0" rtlCol="0" anchor="ctr"/>
          <a:lstStyle/>
          <a:p>
            <a:pPr marL="0" indent="0">
              <a:buNone/>
            </a:pPr>
            <a:r>
              <a:rPr lang="en-US" sz="1350" b="1" dirty="0">
                <a:solidFill>
                  <a:srgbClr val="2C5F2D"/>
                </a:solidFill>
                <a:latin typeface="Calibri" pitchFamily="34" charset="0"/>
                <a:ea typeface="Calibri" pitchFamily="34" charset="-122"/>
                <a:cs typeface="Calibri" pitchFamily="34" charset="-120"/>
              </a:rPr>
              <a:t>A8 — Message asserted more than the rule tested</a:t>
            </a:r>
            <a:endParaRPr lang="en-US" sz="1350" dirty="0"/>
          </a:p>
        </p:txBody>
      </p:sp>
      <p:sp>
        <p:nvSpPr>
          <p:cNvPr id="9" name="Text 7"/>
          <p:cNvSpPr/>
          <p:nvPr/>
        </p:nvSpPr>
        <p:spPr>
          <a:xfrm>
            <a:off x="640080" y="4956048"/>
            <a:ext cx="5212080" cy="1051560"/>
          </a:xfrm>
          <a:prstGeom prst="rect">
            <a:avLst/>
          </a:prstGeom>
          <a:noFill/>
          <a:ln/>
        </p:spPr>
        <p:txBody>
          <a:bodyPr wrap="square" lIns="0" tIns="0" rIns="0" bIns="0" rtlCol="0" anchor="t"/>
          <a:lstStyle/>
          <a:p>
            <a:pPr marL="0" indent="0">
              <a:lnSpc>
                <a:spcPts val="1600"/>
              </a:lnSpc>
              <a:buNone/>
            </a:pPr>
            <a:r>
              <a:rPr lang="en-US" sz="1150" dirty="0">
                <a:solidFill>
                  <a:srgbClr val="24241F"/>
                </a:solidFill>
                <a:latin typeface="Calibri" pitchFamily="34" charset="0"/>
                <a:ea typeface="Calibri" pitchFamily="34" charset="-122"/>
                <a:cs typeface="Calibri" pitchFamily="34" charset="-120"/>
              </a:rPr>
              <a:t>Two independent conditions shared one message describing an allocation problem, and direction was discarded. Impact: a product tripping only the trend condition received a confident claim the rule never checked, and a shift toward the shop would have read as a shift online.</a:t>
            </a:r>
            <a:endParaRPr lang="en-US" sz="1150" dirty="0"/>
          </a:p>
        </p:txBody>
      </p:sp>
      <p:sp>
        <p:nvSpPr>
          <p:cNvPr id="10" name="Text 8"/>
          <p:cNvSpPr/>
          <p:nvPr/>
        </p:nvSpPr>
        <p:spPr>
          <a:xfrm>
            <a:off x="6309360" y="1645920"/>
            <a:ext cx="5212080" cy="274320"/>
          </a:xfrm>
          <a:prstGeom prst="rect">
            <a:avLst/>
          </a:prstGeom>
          <a:noFill/>
          <a:ln/>
        </p:spPr>
        <p:txBody>
          <a:bodyPr wrap="square" lIns="0" tIns="0" rIns="0" bIns="0" rtlCol="0" anchor="ctr"/>
          <a:lstStyle/>
          <a:p>
            <a:pPr marL="0" indent="0">
              <a:buNone/>
            </a:pPr>
            <a:r>
              <a:rPr lang="en-US" sz="1350" b="1" dirty="0">
                <a:solidFill>
                  <a:srgbClr val="2C5F2D"/>
                </a:solidFill>
                <a:latin typeface="Calibri" pitchFamily="34" charset="0"/>
                <a:ea typeface="Calibri" pitchFamily="34" charset="-122"/>
                <a:cs typeface="Calibri" pitchFamily="34" charset="-120"/>
              </a:rPr>
              <a:t>A9 — Urgency stopped discriminating</a:t>
            </a:r>
            <a:endParaRPr lang="en-US" sz="1350" dirty="0"/>
          </a:p>
        </p:txBody>
      </p:sp>
      <p:sp>
        <p:nvSpPr>
          <p:cNvPr id="11" name="Text 9"/>
          <p:cNvSpPr/>
          <p:nvPr/>
        </p:nvSpPr>
        <p:spPr>
          <a:xfrm>
            <a:off x="6309360" y="1938528"/>
            <a:ext cx="5212080" cy="1051560"/>
          </a:xfrm>
          <a:prstGeom prst="rect">
            <a:avLst/>
          </a:prstGeom>
          <a:noFill/>
          <a:ln/>
        </p:spPr>
        <p:txBody>
          <a:bodyPr wrap="square" lIns="0" tIns="0" rIns="0" bIns="0" rtlCol="0" anchor="t"/>
          <a:lstStyle/>
          <a:p>
            <a:pPr marL="0" indent="0">
              <a:lnSpc>
                <a:spcPts val="1600"/>
              </a:lnSpc>
              <a:buNone/>
            </a:pPr>
            <a:r>
              <a:rPr lang="en-US" sz="1150" dirty="0">
                <a:solidFill>
                  <a:srgbClr val="24241F"/>
                </a:solidFill>
                <a:latin typeface="Calibri" pitchFamily="34" charset="0"/>
                <a:ea typeface="Calibri" pitchFamily="34" charset="-122"/>
                <a:cs typeface="Calibri" pitchFamily="34" charset="-120"/>
              </a:rPr>
              <a:t>With the burn rate corrected, the shortage test fired on eight of fifteen products, with shortfalls from 1.2 to 27.6 days. Impact: a flag raised on more than half the catalogue is noise rather than urgency. Fixing one defect made the calculation accurate and exposed that the threshold was too loose.</a:t>
            </a:r>
            <a:endParaRPr lang="en-US" sz="1150" dirty="0"/>
          </a:p>
        </p:txBody>
      </p:sp>
      <p:sp>
        <p:nvSpPr>
          <p:cNvPr id="12" name="Text 10"/>
          <p:cNvSpPr/>
          <p:nvPr/>
        </p:nvSpPr>
        <p:spPr>
          <a:xfrm>
            <a:off x="6309360" y="3154680"/>
            <a:ext cx="5212080" cy="274320"/>
          </a:xfrm>
          <a:prstGeom prst="rect">
            <a:avLst/>
          </a:prstGeom>
          <a:noFill/>
          <a:ln/>
        </p:spPr>
        <p:txBody>
          <a:bodyPr wrap="square" lIns="0" tIns="0" rIns="0" bIns="0" rtlCol="0" anchor="ctr"/>
          <a:lstStyle/>
          <a:p>
            <a:pPr marL="0" indent="0">
              <a:buNone/>
            </a:pPr>
            <a:r>
              <a:rPr lang="en-US" sz="1350" b="1" dirty="0">
                <a:solidFill>
                  <a:srgbClr val="2C5F2D"/>
                </a:solidFill>
                <a:latin typeface="Calibri" pitchFamily="34" charset="0"/>
                <a:ea typeface="Calibri" pitchFamily="34" charset="-122"/>
                <a:cs typeface="Calibri" pitchFamily="34" charset="-120"/>
              </a:rPr>
              <a:t>A10 — No check for falling demand</a:t>
            </a:r>
            <a:endParaRPr lang="en-US" sz="1350" dirty="0"/>
          </a:p>
        </p:txBody>
      </p:sp>
      <p:sp>
        <p:nvSpPr>
          <p:cNvPr id="13" name="Text 11"/>
          <p:cNvSpPr/>
          <p:nvPr/>
        </p:nvSpPr>
        <p:spPr>
          <a:xfrm>
            <a:off x="6309360" y="3447288"/>
            <a:ext cx="5212080" cy="1051560"/>
          </a:xfrm>
          <a:prstGeom prst="rect">
            <a:avLst/>
          </a:prstGeom>
          <a:noFill/>
          <a:ln/>
        </p:spPr>
        <p:txBody>
          <a:bodyPr wrap="square" lIns="0" tIns="0" rIns="0" bIns="0" rtlCol="0" anchor="t"/>
          <a:lstStyle/>
          <a:p>
            <a:pPr marL="0" indent="0">
              <a:lnSpc>
                <a:spcPts val="1600"/>
              </a:lnSpc>
              <a:buNone/>
            </a:pPr>
            <a:r>
              <a:rPr lang="en-US" sz="1150" dirty="0">
                <a:solidFill>
                  <a:srgbClr val="24241F"/>
                </a:solidFill>
                <a:latin typeface="Calibri" pitchFamily="34" charset="0"/>
                <a:ea typeface="Calibri" pitchFamily="34" charset="-122"/>
                <a:cs typeface="Calibri" pitchFamily="34" charset="-120"/>
              </a:rPr>
              <a:t>The trend test examined only the upward direction. Impact: a product whose demand collapsed fell through to the 'looks stable' branch at 95% confidence, while orders were sized against an average still carrying the higher pre-decline weeks — ordering into a market already being lost.</a:t>
            </a:r>
            <a:endParaRPr lang="en-US" sz="11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10881360" cy="566928"/>
          </a:xfrm>
          <a:prstGeom prst="rect">
            <a:avLst/>
          </a:prstGeom>
          <a:noFill/>
          <a:ln/>
        </p:spPr>
        <p:txBody>
          <a:bodyPr wrap="square" lIns="0" tIns="0" rIns="0" bIns="0" rtlCol="0" anchor="ctr"/>
          <a:lstStyle/>
          <a:p>
            <a:pPr marL="0" indent="0">
              <a:buNone/>
            </a:pPr>
            <a:r>
              <a:rPr lang="en-US" sz="3300" b="1" dirty="0">
                <a:solidFill>
                  <a:srgbClr val="2C5F2D"/>
                </a:solidFill>
                <a:latin typeface="Cambria" pitchFamily="34" charset="0"/>
                <a:ea typeface="Cambria" pitchFamily="34" charset="-122"/>
                <a:cs typeface="Cambria" pitchFamily="34" charset="-120"/>
              </a:rPr>
              <a:t>Defects found and fixed (3 of 4)</a:t>
            </a:r>
            <a:endParaRPr lang="en-US" sz="3300" dirty="0"/>
          </a:p>
        </p:txBody>
      </p:sp>
      <p:sp>
        <p:nvSpPr>
          <p:cNvPr id="3" name="Text 1"/>
          <p:cNvSpPr/>
          <p:nvPr/>
        </p:nvSpPr>
        <p:spPr>
          <a:xfrm>
            <a:off x="640080" y="1042416"/>
            <a:ext cx="10424160" cy="384048"/>
          </a:xfrm>
          <a:prstGeom prst="rect">
            <a:avLst/>
          </a:prstGeom>
          <a:noFill/>
          <a:ln/>
        </p:spPr>
        <p:txBody>
          <a:bodyPr wrap="square" lIns="0" tIns="0" rIns="0" bIns="0" rtlCol="0" anchor="ctr"/>
          <a:lstStyle/>
          <a:p>
            <a:pPr marL="0" indent="0">
              <a:buNone/>
            </a:pPr>
            <a:r>
              <a:rPr lang="en-US" sz="1500" dirty="0">
                <a:solidFill>
                  <a:srgbClr val="6E6E66"/>
                </a:solidFill>
                <a:latin typeface="Calibri" pitchFamily="34" charset="0"/>
                <a:ea typeface="Calibri" pitchFamily="34" charset="-122"/>
                <a:cs typeface="Calibri" pitchFamily="34" charset="-120"/>
              </a:rPr>
              <a:t>Continued</a:t>
            </a:r>
            <a:endParaRPr lang="en-US" sz="1500" dirty="0"/>
          </a:p>
        </p:txBody>
      </p:sp>
      <p:sp>
        <p:nvSpPr>
          <p:cNvPr id="4" name="Text 2"/>
          <p:cNvSpPr/>
          <p:nvPr/>
        </p:nvSpPr>
        <p:spPr>
          <a:xfrm>
            <a:off x="640080" y="1645920"/>
            <a:ext cx="5212080" cy="274320"/>
          </a:xfrm>
          <a:prstGeom prst="rect">
            <a:avLst/>
          </a:prstGeom>
          <a:noFill/>
          <a:ln/>
        </p:spPr>
        <p:txBody>
          <a:bodyPr wrap="square" lIns="0" tIns="0" rIns="0" bIns="0" rtlCol="0" anchor="ctr"/>
          <a:lstStyle/>
          <a:p>
            <a:pPr marL="0" indent="0">
              <a:buNone/>
            </a:pPr>
            <a:r>
              <a:rPr lang="en-US" sz="1350" b="1" dirty="0">
                <a:solidFill>
                  <a:srgbClr val="2C5F2D"/>
                </a:solidFill>
                <a:latin typeface="Calibri" pitchFamily="34" charset="0"/>
                <a:ea typeface="Calibri" pitchFamily="34" charset="-122"/>
                <a:cs typeface="Calibri" pitchFamily="34" charset="-120"/>
              </a:rPr>
              <a:t>A11 — No floor beneath the autonomy slider</a:t>
            </a:r>
            <a:endParaRPr lang="en-US" sz="1350" dirty="0"/>
          </a:p>
        </p:txBody>
      </p:sp>
      <p:sp>
        <p:nvSpPr>
          <p:cNvPr id="5" name="Text 3"/>
          <p:cNvSpPr/>
          <p:nvPr/>
        </p:nvSpPr>
        <p:spPr>
          <a:xfrm>
            <a:off x="640080" y="1938528"/>
            <a:ext cx="5212080" cy="1051560"/>
          </a:xfrm>
          <a:prstGeom prst="rect">
            <a:avLst/>
          </a:prstGeom>
          <a:noFill/>
          <a:ln/>
        </p:spPr>
        <p:txBody>
          <a:bodyPr wrap="square" lIns="0" tIns="0" rIns="0" bIns="0" rtlCol="0" anchor="t"/>
          <a:lstStyle/>
          <a:p>
            <a:pPr marL="0" indent="0">
              <a:lnSpc>
                <a:spcPts val="1600"/>
              </a:lnSpc>
              <a:buNone/>
            </a:pPr>
            <a:r>
              <a:rPr lang="en-US" sz="1150" dirty="0">
                <a:solidFill>
                  <a:srgbClr val="24241F"/>
                </a:solidFill>
                <a:latin typeface="Calibri" pitchFamily="34" charset="0"/>
                <a:ea typeface="Calibri" pitchFamily="34" charset="-122"/>
                <a:cs typeface="Calibri" pitchFamily="34" charset="-120"/>
              </a:rPr>
              <a:t>The urgent flag was carved out as un-overridable; nothing else was. Impact: at a setting of 0.40, a product whose own reasoning read 'too little history to trust a demand average' auto-approved with no human ever seeing it. At zero, eleven of fifteen products auto-approved.</a:t>
            </a:r>
            <a:endParaRPr lang="en-US" sz="1150" dirty="0"/>
          </a:p>
        </p:txBody>
      </p:sp>
      <p:sp>
        <p:nvSpPr>
          <p:cNvPr id="6" name="Text 4"/>
          <p:cNvSpPr/>
          <p:nvPr/>
        </p:nvSpPr>
        <p:spPr>
          <a:xfrm>
            <a:off x="640080" y="3154680"/>
            <a:ext cx="5212080" cy="274320"/>
          </a:xfrm>
          <a:prstGeom prst="rect">
            <a:avLst/>
          </a:prstGeom>
          <a:noFill/>
          <a:ln/>
        </p:spPr>
        <p:txBody>
          <a:bodyPr wrap="square" lIns="0" tIns="0" rIns="0" bIns="0" rtlCol="0" anchor="ctr"/>
          <a:lstStyle/>
          <a:p>
            <a:pPr marL="0" indent="0">
              <a:buNone/>
            </a:pPr>
            <a:r>
              <a:rPr lang="en-US" sz="1350" b="1" dirty="0">
                <a:solidFill>
                  <a:srgbClr val="2C5F2D"/>
                </a:solidFill>
                <a:latin typeface="Calibri" pitchFamily="34" charset="0"/>
                <a:ea typeface="Calibri" pitchFamily="34" charset="-122"/>
                <a:cs typeface="Calibri" pitchFamily="34" charset="-120"/>
              </a:rPr>
              <a:t>A12 — Routing discarded its own reason</a:t>
            </a:r>
            <a:endParaRPr lang="en-US" sz="1350" dirty="0"/>
          </a:p>
        </p:txBody>
      </p:sp>
      <p:sp>
        <p:nvSpPr>
          <p:cNvPr id="7" name="Text 5"/>
          <p:cNvSpPr/>
          <p:nvPr/>
        </p:nvSpPr>
        <p:spPr>
          <a:xfrm>
            <a:off x="640080" y="3447288"/>
            <a:ext cx="5212080" cy="1051560"/>
          </a:xfrm>
          <a:prstGeom prst="rect">
            <a:avLst/>
          </a:prstGeom>
          <a:noFill/>
          <a:ln/>
        </p:spPr>
        <p:txBody>
          <a:bodyPr wrap="square" lIns="0" tIns="0" rIns="0" bIns="0" rtlCol="0" anchor="t"/>
          <a:lstStyle/>
          <a:p>
            <a:pPr marL="0" indent="0">
              <a:lnSpc>
                <a:spcPts val="1600"/>
              </a:lnSpc>
              <a:buNone/>
            </a:pPr>
            <a:r>
              <a:rPr lang="en-US" sz="1150" dirty="0">
                <a:solidFill>
                  <a:srgbClr val="24241F"/>
                </a:solidFill>
                <a:latin typeface="Calibri" pitchFamily="34" charset="0"/>
                <a:ea typeface="Calibri" pitchFamily="34" charset="-122"/>
                <a:cs typeface="Calibri" pitchFamily="34" charset="-120"/>
              </a:rPr>
              <a:t>A single return value meant every escalated item looked identical to any caller. Impact: a product carrying three stacked risk tags at 50% confidence was indistinguishable from one with a single flag at 75%, so nothing downstream could rank, prioritise or apply a service level.</a:t>
            </a:r>
            <a:endParaRPr lang="en-US" sz="1150" dirty="0"/>
          </a:p>
        </p:txBody>
      </p:sp>
      <p:sp>
        <p:nvSpPr>
          <p:cNvPr id="8" name="Text 6"/>
          <p:cNvSpPr/>
          <p:nvPr/>
        </p:nvSpPr>
        <p:spPr>
          <a:xfrm>
            <a:off x="640080" y="4663440"/>
            <a:ext cx="5212080" cy="274320"/>
          </a:xfrm>
          <a:prstGeom prst="rect">
            <a:avLst/>
          </a:prstGeom>
          <a:noFill/>
          <a:ln/>
        </p:spPr>
        <p:txBody>
          <a:bodyPr wrap="square" lIns="0" tIns="0" rIns="0" bIns="0" rtlCol="0" anchor="ctr"/>
          <a:lstStyle/>
          <a:p>
            <a:pPr marL="0" indent="0">
              <a:buNone/>
            </a:pPr>
            <a:r>
              <a:rPr lang="en-US" sz="1350" b="1" dirty="0">
                <a:solidFill>
                  <a:srgbClr val="2C5F2D"/>
                </a:solidFill>
                <a:latin typeface="Calibri" pitchFamily="34" charset="0"/>
                <a:ea typeface="Calibri" pitchFamily="34" charset="-122"/>
                <a:cs typeface="Calibri" pitchFamily="34" charset="-120"/>
              </a:rPr>
              <a:t>A13 — Inconsistent defensive access</a:t>
            </a:r>
            <a:endParaRPr lang="en-US" sz="1350" dirty="0"/>
          </a:p>
        </p:txBody>
      </p:sp>
      <p:sp>
        <p:nvSpPr>
          <p:cNvPr id="9" name="Text 7"/>
          <p:cNvSpPr/>
          <p:nvPr/>
        </p:nvSpPr>
        <p:spPr>
          <a:xfrm>
            <a:off x="640080" y="4956048"/>
            <a:ext cx="5212080" cy="1051560"/>
          </a:xfrm>
          <a:prstGeom prst="rect">
            <a:avLst/>
          </a:prstGeom>
          <a:noFill/>
          <a:ln/>
        </p:spPr>
        <p:txBody>
          <a:bodyPr wrap="square" lIns="0" tIns="0" rIns="0" bIns="0" rtlCol="0" anchor="t"/>
          <a:lstStyle/>
          <a:p>
            <a:pPr marL="0" indent="0">
              <a:lnSpc>
                <a:spcPts val="1600"/>
              </a:lnSpc>
              <a:buNone/>
            </a:pPr>
            <a:r>
              <a:rPr lang="en-US" sz="1150" dirty="0">
                <a:solidFill>
                  <a:srgbClr val="24241F"/>
                </a:solidFill>
                <a:latin typeface="Calibri" pitchFamily="34" charset="0"/>
                <a:ea typeface="Calibri" pitchFamily="34" charset="-122"/>
                <a:cs typeface="Calibri" pitchFamily="34" charset="-120"/>
              </a:rPr>
              <a:t>One key was read defensively and another directly. Impact: a draft missing its risk flag would silently route as safe, while one missing its confidence value would raise an error. The silent path was the unsafe one, which is the wrong way round.</a:t>
            </a:r>
            <a:endParaRPr lang="en-US" sz="1150" dirty="0"/>
          </a:p>
        </p:txBody>
      </p:sp>
      <p:sp>
        <p:nvSpPr>
          <p:cNvPr id="10" name="Text 8"/>
          <p:cNvSpPr/>
          <p:nvPr/>
        </p:nvSpPr>
        <p:spPr>
          <a:xfrm>
            <a:off x="6309360" y="1645920"/>
            <a:ext cx="5212080" cy="274320"/>
          </a:xfrm>
          <a:prstGeom prst="rect">
            <a:avLst/>
          </a:prstGeom>
          <a:noFill/>
          <a:ln/>
        </p:spPr>
        <p:txBody>
          <a:bodyPr wrap="square" lIns="0" tIns="0" rIns="0" bIns="0" rtlCol="0" anchor="ctr"/>
          <a:lstStyle/>
          <a:p>
            <a:pPr marL="0" indent="0">
              <a:buNone/>
            </a:pPr>
            <a:r>
              <a:rPr lang="en-US" sz="1350" b="1" dirty="0">
                <a:solidFill>
                  <a:srgbClr val="2C5F2D"/>
                </a:solidFill>
                <a:latin typeface="Calibri" pitchFamily="34" charset="0"/>
                <a:ea typeface="Calibri" pitchFamily="34" charset="-122"/>
                <a:cs typeface="Calibri" pitchFamily="34" charset="-120"/>
              </a:rPr>
              <a:t>A14 — Engine package missing after deployment</a:t>
            </a:r>
            <a:endParaRPr lang="en-US" sz="1350" dirty="0"/>
          </a:p>
        </p:txBody>
      </p:sp>
      <p:sp>
        <p:nvSpPr>
          <p:cNvPr id="11" name="Text 9"/>
          <p:cNvSpPr/>
          <p:nvPr/>
        </p:nvSpPr>
        <p:spPr>
          <a:xfrm>
            <a:off x="6309360" y="1938528"/>
            <a:ext cx="5212080" cy="1051560"/>
          </a:xfrm>
          <a:prstGeom prst="rect">
            <a:avLst/>
          </a:prstGeom>
          <a:noFill/>
          <a:ln/>
        </p:spPr>
        <p:txBody>
          <a:bodyPr wrap="square" lIns="0" tIns="0" rIns="0" bIns="0" rtlCol="0" anchor="t"/>
          <a:lstStyle/>
          <a:p>
            <a:pPr marL="0" indent="0">
              <a:lnSpc>
                <a:spcPts val="1600"/>
              </a:lnSpc>
              <a:buNone/>
            </a:pPr>
            <a:r>
              <a:rPr lang="en-US" sz="1150" dirty="0">
                <a:solidFill>
                  <a:srgbClr val="24241F"/>
                </a:solidFill>
                <a:latin typeface="Calibri" pitchFamily="34" charset="0"/>
                <a:ea typeface="Calibri" pitchFamily="34" charset="-122"/>
                <a:cs typeface="Calibri" pitchFamily="34" charset="-120"/>
              </a:rPr>
              <a:t>Deployment failed on the engine import. Impact: the browser upload had silently skipped nested folders, so the code directory never reached the repository at all. Resolved by adding the files individually through a route that preserves paths.</a:t>
            </a:r>
            <a:endParaRPr lang="en-US" sz="1150" dirty="0"/>
          </a:p>
        </p:txBody>
      </p:sp>
      <p:sp>
        <p:nvSpPr>
          <p:cNvPr id="12" name="Text 10"/>
          <p:cNvSpPr/>
          <p:nvPr/>
        </p:nvSpPr>
        <p:spPr>
          <a:xfrm>
            <a:off x="6309360" y="3154680"/>
            <a:ext cx="5212080" cy="274320"/>
          </a:xfrm>
          <a:prstGeom prst="rect">
            <a:avLst/>
          </a:prstGeom>
          <a:noFill/>
          <a:ln/>
        </p:spPr>
        <p:txBody>
          <a:bodyPr wrap="square" lIns="0" tIns="0" rIns="0" bIns="0" rtlCol="0" anchor="ctr"/>
          <a:lstStyle/>
          <a:p>
            <a:pPr marL="0" indent="0">
              <a:buNone/>
            </a:pPr>
            <a:r>
              <a:rPr lang="en-US" sz="1350" b="1" dirty="0">
                <a:solidFill>
                  <a:srgbClr val="2C5F2D"/>
                </a:solidFill>
                <a:latin typeface="Calibri" pitchFamily="34" charset="0"/>
                <a:ea typeface="Calibri" pitchFamily="34" charset="-122"/>
                <a:cs typeface="Calibri" pitchFamily="34" charset="-120"/>
              </a:rPr>
              <a:t>A15 — Urgency measured days, not exposure</a:t>
            </a:r>
            <a:endParaRPr lang="en-US" sz="1350" dirty="0"/>
          </a:p>
        </p:txBody>
      </p:sp>
      <p:sp>
        <p:nvSpPr>
          <p:cNvPr id="13" name="Text 11"/>
          <p:cNvSpPr/>
          <p:nvPr/>
        </p:nvSpPr>
        <p:spPr>
          <a:xfrm>
            <a:off x="6309360" y="3447288"/>
            <a:ext cx="5212080" cy="1051560"/>
          </a:xfrm>
          <a:prstGeom prst="rect">
            <a:avLst/>
          </a:prstGeom>
          <a:noFill/>
          <a:ln/>
        </p:spPr>
        <p:txBody>
          <a:bodyPr wrap="square" lIns="0" tIns="0" rIns="0" bIns="0" rtlCol="0" anchor="t"/>
          <a:lstStyle/>
          <a:p>
            <a:pPr marL="0" indent="0">
              <a:lnSpc>
                <a:spcPts val="1600"/>
              </a:lnSpc>
              <a:buNone/>
            </a:pPr>
            <a:r>
              <a:rPr lang="en-US" sz="1150" dirty="0">
                <a:solidFill>
                  <a:srgbClr val="24241F"/>
                </a:solidFill>
                <a:latin typeface="Calibri" pitchFamily="34" charset="0"/>
                <a:ea typeface="Calibri" pitchFamily="34" charset="-122"/>
                <a:cs typeface="Calibri" pitchFamily="34" charset="-120"/>
              </a:rPr>
              <a:t>The urgency trigger was near-collinear with the reorder trigger — a severity band on the same axis rather than a second dimension. Impact: ranking by days put the highest-exposure product fourth, so a planner working top to bottom would have handled three cheaper problems first.</a:t>
            </a:r>
            <a:endParaRPr lang="en-US" sz="11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10881360" cy="566928"/>
          </a:xfrm>
          <a:prstGeom prst="rect">
            <a:avLst/>
          </a:prstGeom>
          <a:noFill/>
          <a:ln/>
        </p:spPr>
        <p:txBody>
          <a:bodyPr wrap="square" lIns="0" tIns="0" rIns="0" bIns="0" rtlCol="0" anchor="ctr"/>
          <a:lstStyle/>
          <a:p>
            <a:pPr marL="0" indent="0">
              <a:buNone/>
            </a:pPr>
            <a:r>
              <a:rPr lang="en-US" sz="3300" b="1" dirty="0">
                <a:solidFill>
                  <a:srgbClr val="2C5F2D"/>
                </a:solidFill>
                <a:latin typeface="Cambria" pitchFamily="34" charset="0"/>
                <a:ea typeface="Cambria" pitchFamily="34" charset="-122"/>
                <a:cs typeface="Cambria" pitchFamily="34" charset="-120"/>
              </a:rPr>
              <a:t>Defects found and fixed (4 of 4)</a:t>
            </a:r>
            <a:endParaRPr lang="en-US" sz="3300" dirty="0"/>
          </a:p>
        </p:txBody>
      </p:sp>
      <p:sp>
        <p:nvSpPr>
          <p:cNvPr id="3" name="Text 1"/>
          <p:cNvSpPr/>
          <p:nvPr/>
        </p:nvSpPr>
        <p:spPr>
          <a:xfrm>
            <a:off x="640080" y="1042416"/>
            <a:ext cx="10424160" cy="384048"/>
          </a:xfrm>
          <a:prstGeom prst="rect">
            <a:avLst/>
          </a:prstGeom>
          <a:noFill/>
          <a:ln/>
        </p:spPr>
        <p:txBody>
          <a:bodyPr wrap="square" lIns="0" tIns="0" rIns="0" bIns="0" rtlCol="0" anchor="ctr"/>
          <a:lstStyle/>
          <a:p>
            <a:pPr marL="0" indent="0">
              <a:buNone/>
            </a:pPr>
            <a:r>
              <a:rPr lang="en-US" sz="1500" dirty="0">
                <a:solidFill>
                  <a:srgbClr val="6E6E66"/>
                </a:solidFill>
                <a:latin typeface="Calibri" pitchFamily="34" charset="0"/>
                <a:ea typeface="Calibri" pitchFamily="34" charset="-122"/>
                <a:cs typeface="Calibri" pitchFamily="34" charset="-120"/>
              </a:rPr>
              <a:t>Both of these were exposed by fixing something else</a:t>
            </a:r>
            <a:endParaRPr lang="en-US" sz="1500" dirty="0"/>
          </a:p>
        </p:txBody>
      </p:sp>
      <p:sp>
        <p:nvSpPr>
          <p:cNvPr id="4" name="Text 2"/>
          <p:cNvSpPr/>
          <p:nvPr/>
        </p:nvSpPr>
        <p:spPr>
          <a:xfrm>
            <a:off x="640080" y="1645920"/>
            <a:ext cx="5212080" cy="274320"/>
          </a:xfrm>
          <a:prstGeom prst="rect">
            <a:avLst/>
          </a:prstGeom>
          <a:noFill/>
          <a:ln/>
        </p:spPr>
        <p:txBody>
          <a:bodyPr wrap="square" lIns="0" tIns="0" rIns="0" bIns="0" rtlCol="0" anchor="ctr"/>
          <a:lstStyle/>
          <a:p>
            <a:pPr marL="0" indent="0">
              <a:buNone/>
            </a:pPr>
            <a:r>
              <a:rPr lang="en-US" sz="1350" b="1" dirty="0">
                <a:solidFill>
                  <a:srgbClr val="2C5F2D"/>
                </a:solidFill>
                <a:latin typeface="Calibri" pitchFamily="34" charset="0"/>
                <a:ea typeface="Calibri" pitchFamily="34" charset="-122"/>
                <a:cs typeface="Calibri" pitchFamily="34" charset="-120"/>
              </a:rPr>
              <a:t>A16 — Urgency alerts could never clear</a:t>
            </a:r>
            <a:endParaRPr lang="en-US" sz="1350" dirty="0"/>
          </a:p>
        </p:txBody>
      </p:sp>
      <p:sp>
        <p:nvSpPr>
          <p:cNvPr id="5" name="Text 3"/>
          <p:cNvSpPr/>
          <p:nvPr/>
        </p:nvSpPr>
        <p:spPr>
          <a:xfrm>
            <a:off x="640080" y="1938528"/>
            <a:ext cx="5212080" cy="1051560"/>
          </a:xfrm>
          <a:prstGeom prst="rect">
            <a:avLst/>
          </a:prstGeom>
          <a:noFill/>
          <a:ln/>
        </p:spPr>
        <p:txBody>
          <a:bodyPr wrap="square" lIns="0" tIns="0" rIns="0" bIns="0" rtlCol="0" anchor="t"/>
          <a:lstStyle/>
          <a:p>
            <a:pPr marL="0" indent="0">
              <a:lnSpc>
                <a:spcPts val="1600"/>
              </a:lnSpc>
              <a:buNone/>
            </a:pPr>
            <a:r>
              <a:rPr lang="en-US" sz="1150" dirty="0">
                <a:solidFill>
                  <a:srgbClr val="24241F"/>
                </a:solidFill>
                <a:latin typeface="Calibri" pitchFamily="34" charset="0"/>
                <a:ea typeface="Calibri" pitchFamily="34" charset="-122"/>
                <a:cs typeface="Calibri" pitchFamily="34" charset="-120"/>
              </a:rPr>
              <a:t>The shortage horizon assumed a hypothetical new order and ignored stock already in transit. Impact: a product stayed flagged on every run until physical stock arrived, regardless of a purchase order approved the day before. This is the standard route to alert fatigue and a queue people stop reading.</a:t>
            </a:r>
            <a:endParaRPr lang="en-US" sz="1150" dirty="0"/>
          </a:p>
        </p:txBody>
      </p:sp>
      <p:sp>
        <p:nvSpPr>
          <p:cNvPr id="6" name="Text 4"/>
          <p:cNvSpPr/>
          <p:nvPr/>
        </p:nvSpPr>
        <p:spPr>
          <a:xfrm>
            <a:off x="640080" y="3154680"/>
            <a:ext cx="5212080" cy="274320"/>
          </a:xfrm>
          <a:prstGeom prst="rect">
            <a:avLst/>
          </a:prstGeom>
          <a:noFill/>
          <a:ln/>
        </p:spPr>
        <p:txBody>
          <a:bodyPr wrap="square" lIns="0" tIns="0" rIns="0" bIns="0" rtlCol="0" anchor="ctr"/>
          <a:lstStyle/>
          <a:p>
            <a:pPr marL="0" indent="0">
              <a:buNone/>
            </a:pPr>
            <a:r>
              <a:rPr lang="en-US" sz="1350" b="1" dirty="0">
                <a:solidFill>
                  <a:srgbClr val="2C5F2D"/>
                </a:solidFill>
                <a:latin typeface="Calibri" pitchFamily="34" charset="0"/>
                <a:ea typeface="Calibri" pitchFamily="34" charset="-122"/>
                <a:cs typeface="Calibri" pitchFamily="34" charset="-120"/>
              </a:rPr>
              <a:t>A17 — Reorders double-counted open orders</a:t>
            </a:r>
            <a:endParaRPr lang="en-US" sz="1350" dirty="0"/>
          </a:p>
        </p:txBody>
      </p:sp>
      <p:sp>
        <p:nvSpPr>
          <p:cNvPr id="7" name="Text 5"/>
          <p:cNvSpPr/>
          <p:nvPr/>
        </p:nvSpPr>
        <p:spPr>
          <a:xfrm>
            <a:off x="640080" y="3447288"/>
            <a:ext cx="5212080" cy="1051560"/>
          </a:xfrm>
          <a:prstGeom prst="rect">
            <a:avLst/>
          </a:prstGeom>
          <a:noFill/>
          <a:ln/>
        </p:spPr>
        <p:txBody>
          <a:bodyPr wrap="square" lIns="0" tIns="0" rIns="0" bIns="0" rtlCol="0" anchor="t"/>
          <a:lstStyle/>
          <a:p>
            <a:pPr marL="0" indent="0">
              <a:lnSpc>
                <a:spcPts val="1600"/>
              </a:lnSpc>
              <a:buNone/>
            </a:pPr>
            <a:r>
              <a:rPr lang="en-US" sz="1150" dirty="0">
                <a:solidFill>
                  <a:srgbClr val="24241F"/>
                </a:solidFill>
                <a:latin typeface="Calibri" pitchFamily="34" charset="0"/>
                <a:ea typeface="Calibri" pitchFamily="34" charset="-122"/>
                <a:cs typeface="Calibri" pitchFamily="34" charset="-120"/>
              </a:rPr>
              <a:t>Quantities were netted against on-hand stock only, ignoring units already on an open purchase order. Impact: the system re-ordered for demand a purchase order in transit already covered — a 79-unit duplicate on one product, compounding every cycle that order remains undelivered.</a:t>
            </a:r>
            <a:endParaRPr lang="en-US" sz="1150" dirty="0"/>
          </a:p>
        </p:txBody>
      </p:sp>
      <p:sp>
        <p:nvSpPr>
          <p:cNvPr id="8" name="Shape 6"/>
          <p:cNvSpPr/>
          <p:nvPr/>
        </p:nvSpPr>
        <p:spPr>
          <a:xfrm>
            <a:off x="6309360" y="1645920"/>
            <a:ext cx="5212080" cy="2560320"/>
          </a:xfrm>
          <a:prstGeom prst="roundRect">
            <a:avLst>
              <a:gd name="adj" fmla="val 2857"/>
            </a:avLst>
          </a:prstGeom>
          <a:solidFill>
            <a:srgbClr val="16301A"/>
          </a:solidFill>
          <a:ln/>
        </p:spPr>
        <p:txBody>
          <a:bodyPr/>
          <a:p/>
        </p:txBody>
      </p:sp>
      <p:sp>
        <p:nvSpPr>
          <p:cNvPr id="9" name="Text 7"/>
          <p:cNvSpPr/>
          <p:nvPr/>
        </p:nvSpPr>
        <p:spPr>
          <a:xfrm>
            <a:off x="6629400" y="1920240"/>
            <a:ext cx="4572000" cy="822960"/>
          </a:xfrm>
          <a:prstGeom prst="rect">
            <a:avLst/>
          </a:prstGeom>
          <a:noFill/>
          <a:ln/>
        </p:spPr>
        <p:txBody>
          <a:bodyPr wrap="square" lIns="0" tIns="0" rIns="0" bIns="0" rtlCol="0" anchor="ctr"/>
          <a:lstStyle/>
          <a:p>
            <a:pPr marL="0" indent="0">
              <a:lnSpc>
                <a:spcPts val="2600"/>
              </a:lnSpc>
              <a:buNone/>
            </a:pPr>
            <a:r>
              <a:rPr lang="en-US" sz="1900" b="1" dirty="0">
                <a:solidFill>
                  <a:srgbClr val="FFFFFF"/>
                </a:solidFill>
                <a:latin typeface="Cambria" pitchFamily="34" charset="0"/>
                <a:ea typeface="Cambria" pitchFamily="34" charset="-122"/>
                <a:cs typeface="Cambria" pitchFamily="34" charset="-120"/>
              </a:rPr>
              <a:t>Two defects surfaced only because</a:t>
            </a:r>
            <a:endParaRPr lang="en-US" sz="1900" dirty="0"/>
          </a:p>
          <a:p>
            <a:pPr marL="0" indent="0">
              <a:lnSpc>
                <a:spcPts val="2600"/>
              </a:lnSpc>
              <a:buNone/>
            </a:pPr>
            <a:r>
              <a:rPr lang="en-US" sz="1900" b="1" dirty="0">
                <a:solidFill>
                  <a:srgbClr val="FFFFFF"/>
                </a:solidFill>
                <a:latin typeface="Cambria" pitchFamily="34" charset="0"/>
                <a:ea typeface="Cambria" pitchFamily="34" charset="-122"/>
                <a:cs typeface="Cambria" pitchFamily="34" charset="-120"/>
              </a:rPr>
              <a:t>another was fixed first.</a:t>
            </a:r>
            <a:endParaRPr lang="en-US" sz="1900" dirty="0"/>
          </a:p>
        </p:txBody>
      </p:sp>
      <p:sp>
        <p:nvSpPr>
          <p:cNvPr id="10" name="Text 8"/>
          <p:cNvSpPr/>
          <p:nvPr/>
        </p:nvSpPr>
        <p:spPr>
          <a:xfrm>
            <a:off x="6629400" y="2880360"/>
            <a:ext cx="4572000" cy="1188720"/>
          </a:xfrm>
          <a:prstGeom prst="rect">
            <a:avLst/>
          </a:prstGeom>
          <a:noFill/>
          <a:ln/>
        </p:spPr>
        <p:txBody>
          <a:bodyPr wrap="square" lIns="0" tIns="0" rIns="0" bIns="0" rtlCol="0" anchor="ctr"/>
          <a:lstStyle/>
          <a:p>
            <a:pPr marL="0" indent="0">
              <a:lnSpc>
                <a:spcPts val="1700"/>
              </a:lnSpc>
              <a:buNone/>
            </a:pPr>
            <a:r>
              <a:rPr lang="en-US" sz="1250" dirty="0">
                <a:solidFill>
                  <a:srgbClr val="D4E3C6"/>
                </a:solidFill>
                <a:latin typeface="Calibri" pitchFamily="34" charset="0"/>
                <a:ea typeface="Calibri" pitchFamily="34" charset="-122"/>
                <a:cs typeface="Calibri" pitchFamily="34" charset="-120"/>
              </a:rPr>
              <a:t>Correcting the burn rate made the urgency flag fire on more than half the catalogue. Modelling stock in transit revealed the system had been ordering twice for the same demand. Neither was visible until the change before it landed.</a:t>
            </a:r>
            <a:endParaRPr lang="en-US" sz="12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5">
    <p:bg>
      <p:bgPr>
        <a:solidFill>
          <a:srgbClr val="16301A"/>
        </a:solidFill>
        <a:effectLst/>
      </p:bgPr>
    </p:bg>
    <p:spTree>
      <p:nvGrpSpPr>
        <p:cNvPr id="1" name=""/>
        <p:cNvGrpSpPr/>
        <p:nvPr/>
      </p:nvGrpSpPr>
      <p:grpSpPr>
        <a:xfrm>
          <a:off x="0" y="0"/>
          <a:ext cx="0" cy="0"/>
          <a:chOff x="0" y="0"/>
          <a:chExt cx="0" cy="0"/>
        </a:xfrm>
      </p:grpSpPr>
      <p:sp>
        <p:nvSpPr>
          <p:cNvPr id="2" name="Text 0"/>
          <p:cNvSpPr/>
          <p:nvPr/>
        </p:nvSpPr>
        <p:spPr>
          <a:xfrm>
            <a:off x="640080" y="1691640"/>
            <a:ext cx="8229600" cy="320040"/>
          </a:xfrm>
          <a:prstGeom prst="rect">
            <a:avLst/>
          </a:prstGeom>
          <a:noFill/>
          <a:ln/>
        </p:spPr>
        <p:txBody>
          <a:bodyPr wrap="square" rtlCol="0" anchor="ctr"/>
          <a:lstStyle/>
          <a:p>
            <a:pPr marL="0" indent="0">
              <a:buNone/>
            </a:pPr>
            <a:r>
              <a:rPr lang="en-US" sz="1300" b="1" kern="0" spc="300" dirty="0">
                <a:solidFill>
                  <a:srgbClr val="97BC62"/>
                </a:solidFill>
                <a:latin typeface="Calibri" pitchFamily="34" charset="0"/>
                <a:ea typeface="Calibri" pitchFamily="34" charset="-122"/>
                <a:cs typeface="Calibri" pitchFamily="34" charset="-120"/>
              </a:rPr>
              <a:t>IN CLOSING</a:t>
            </a:r>
            <a:endParaRPr lang="en-US" sz="1300" dirty="0"/>
          </a:p>
        </p:txBody>
      </p:sp>
      <p:sp>
        <p:nvSpPr>
          <p:cNvPr id="3" name="Text 1"/>
          <p:cNvSpPr/>
          <p:nvPr/>
        </p:nvSpPr>
        <p:spPr>
          <a:xfrm>
            <a:off x="640080" y="2057400"/>
            <a:ext cx="10241280" cy="1371600"/>
          </a:xfrm>
          <a:prstGeom prst="rect">
            <a:avLst/>
          </a:prstGeom>
          <a:noFill/>
          <a:ln/>
        </p:spPr>
        <p:txBody>
          <a:bodyPr wrap="square" rtlCol="0" anchor="t"/>
          <a:lstStyle/>
          <a:p>
            <a:pPr marL="0" indent="0">
              <a:buNone/>
            </a:pPr>
            <a:r>
              <a:rPr lang="en-US" sz="4600" b="1" dirty="0">
                <a:solidFill>
                  <a:srgbClr val="FFFFFF"/>
                </a:solidFill>
                <a:latin typeface="Cambria" pitchFamily="34" charset="0"/>
                <a:ea typeface="Cambria" pitchFamily="34" charset="-122"/>
                <a:cs typeface="Cambria" pitchFamily="34" charset="-120"/>
              </a:rPr>
              <a:t>The point is not that it works</a:t>
            </a:r>
            <a:endParaRPr lang="en-US" sz="4600" dirty="0"/>
          </a:p>
        </p:txBody>
      </p:sp>
      <p:sp>
        <p:nvSpPr>
          <p:cNvPr id="4" name="Text 2"/>
          <p:cNvSpPr/>
          <p:nvPr/>
        </p:nvSpPr>
        <p:spPr>
          <a:xfrm>
            <a:off x="640080" y="3520440"/>
            <a:ext cx="9326880" cy="914400"/>
          </a:xfrm>
          <a:prstGeom prst="rect">
            <a:avLst/>
          </a:prstGeom>
          <a:noFill/>
          <a:ln/>
        </p:spPr>
        <p:txBody>
          <a:bodyPr wrap="square" rtlCol="0" anchor="ctr"/>
          <a:lstStyle/>
          <a:p>
            <a:pPr marL="0" indent="0">
              <a:lnSpc>
                <a:spcPts val="2600"/>
              </a:lnSpc>
              <a:buNone/>
            </a:pPr>
            <a:r>
              <a:rPr lang="en-US" sz="1700" dirty="0">
                <a:solidFill>
                  <a:srgbClr val="C7D6BE"/>
                </a:solidFill>
                <a:latin typeface="Calibri" pitchFamily="34" charset="0"/>
                <a:ea typeface="Calibri" pitchFamily="34" charset="-122"/>
                <a:cs typeface="Calibri" pitchFamily="34" charset="-120"/>
              </a:rPr>
              <a:t>It is that when it did not, the failures were found, measured, written down, and — where sensible to do so — left in place with an explanation.</a:t>
            </a:r>
            <a:endParaRPr lang="en-US" sz="1700" dirty="0"/>
          </a:p>
        </p:txBody>
      </p:sp>
      <p:sp>
        <p:nvSpPr>
          <p:cNvPr id="5" name="Text 3"/>
          <p:cNvSpPr/>
          <p:nvPr/>
        </p:nvSpPr>
        <p:spPr>
          <a:xfrm>
            <a:off x="640080" y="5029200"/>
            <a:ext cx="10058400" cy="320040"/>
          </a:xfrm>
          <a:prstGeom prst="rect">
            <a:avLst/>
          </a:prstGeom>
          <a:noFill/>
          <a:ln/>
        </p:spPr>
        <p:txBody>
          <a:bodyPr wrap="square" lIns="0" tIns="0" rIns="0" bIns="0" rtlCol="0" anchor="ctr"/>
          <a:lstStyle/>
          <a:p>
            <a:pPr marL="0" indent="0">
              <a:buNone/>
            </a:pPr>
            <a:r>
              <a:rPr lang="en-US" sz="1300" dirty="0">
                <a:solidFill>
                  <a:srgbClr val="97BC62"/>
                </a:solidFill>
                <a:latin typeface="Calibri" pitchFamily="34" charset="0"/>
                <a:ea typeface="Calibri" pitchFamily="34" charset="-122"/>
                <a:cs typeface="Calibri" pitchFamily="34" charset="-120"/>
              </a:rPr>
              <a:t>Prototype  ·  decision record  ·  change log  ·  data dictionary  ·  walkthrough script</a:t>
            </a:r>
            <a:endParaRPr lang="en-US" sz="13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10881360" cy="566928"/>
          </a:xfrm>
          <a:prstGeom prst="rect">
            <a:avLst/>
          </a:prstGeom>
          <a:noFill/>
          <a:ln/>
        </p:spPr>
        <p:txBody>
          <a:bodyPr wrap="square" lIns="0" tIns="0" rIns="0" bIns="0" rtlCol="0" anchor="ctr"/>
          <a:lstStyle/>
          <a:p>
            <a:pPr marL="0" indent="0">
              <a:buNone/>
            </a:pPr>
            <a:r>
              <a:rPr lang="en-US" sz="3300" b="1" dirty="0">
                <a:solidFill>
                  <a:srgbClr val="2C5F2D"/>
                </a:solidFill>
                <a:latin typeface="Cambria" pitchFamily="34" charset="0"/>
                <a:ea typeface="Cambria" pitchFamily="34" charset="-122"/>
                <a:cs typeface="Cambria" pitchFamily="34" charset="-120"/>
              </a:rPr>
              <a:t>Build-process errors</a:t>
            </a:r>
            <a:endParaRPr lang="en-US" sz="3300" dirty="0"/>
          </a:p>
        </p:txBody>
      </p:sp>
      <p:sp>
        <p:nvSpPr>
          <p:cNvPr id="3" name="Text 1"/>
          <p:cNvSpPr/>
          <p:nvPr/>
        </p:nvSpPr>
        <p:spPr>
          <a:xfrm>
            <a:off x="640080" y="1042416"/>
            <a:ext cx="10424160" cy="384048"/>
          </a:xfrm>
          <a:prstGeom prst="rect">
            <a:avLst/>
          </a:prstGeom>
          <a:noFill/>
          <a:ln/>
        </p:spPr>
        <p:txBody>
          <a:bodyPr wrap="square" lIns="0" tIns="0" rIns="0" bIns="0" rtlCol="0" anchor="ctr"/>
          <a:lstStyle/>
          <a:p>
            <a:pPr marL="0" indent="0">
              <a:buNone/>
            </a:pPr>
            <a:r>
              <a:rPr lang="en-US" sz="1500" dirty="0">
                <a:solidFill>
                  <a:srgbClr val="6E6E66"/>
                </a:solidFill>
                <a:latin typeface="Calibri" pitchFamily="34" charset="0"/>
                <a:ea typeface="Calibri" pitchFamily="34" charset="-122"/>
                <a:cs typeface="Calibri" pitchFamily="34" charset="-120"/>
              </a:rPr>
              <a:t>Included because a change log listing only successes is not a record</a:t>
            </a:r>
            <a:endParaRPr lang="en-US" sz="1500" dirty="0"/>
          </a:p>
        </p:txBody>
      </p:sp>
      <p:sp>
        <p:nvSpPr>
          <p:cNvPr id="4" name="Text 2"/>
          <p:cNvSpPr/>
          <p:nvPr/>
        </p:nvSpPr>
        <p:spPr>
          <a:xfrm>
            <a:off x="640080" y="1783080"/>
            <a:ext cx="10881360" cy="3291840"/>
          </a:xfrm>
          <a:prstGeom prst="rect">
            <a:avLst/>
          </a:prstGeom>
          <a:noFill/>
          <a:ln/>
        </p:spPr>
        <p:txBody>
          <a:bodyPr wrap="square" lIns="0" tIns="0" rIns="0" bIns="0" rtlCol="0" anchor="t"/>
          <a:lstStyle/>
          <a:p>
            <a:pPr marL="342900" indent="-342900">
              <a:lnSpc>
                <a:spcPts val="2100"/>
              </a:lnSpc>
              <a:spcAft>
                <a:spcPts val="900"/>
              </a:spcAft>
              <a:buSzPct val="100000"/>
              <a:buChar char="•"/>
            </a:pPr>
            <a:r>
              <a:rPr lang="en-US" sz="1400" dirty="0">
                <a:solidFill>
                  <a:srgbClr val="24241F"/>
                </a:solidFill>
                <a:latin typeface="Calibri" pitchFamily="34" charset="0"/>
                <a:ea typeface="Calibri" pitchFamily="34" charset="-122"/>
                <a:cs typeface="Calibri" pitchFamily="34" charset="-120"/>
              </a:rPr>
              <a:t>Documentation files deleted during a folder rebuild, because the delivery folder was treated as reproducible when it held the only copies.</a:t>
            </a:r>
            <a:endParaRPr lang="en-US" sz="1400" dirty="0"/>
          </a:p>
          <a:p>
            <a:pPr marL="342900" indent="-342900">
              <a:lnSpc>
                <a:spcPts val="2100"/>
              </a:lnSpc>
              <a:spcAft>
                <a:spcPts val="900"/>
              </a:spcAft>
              <a:buSzPct val="100000"/>
              <a:buChar char="•"/>
            </a:pPr>
            <a:r>
              <a:rPr lang="en-US" sz="1400" dirty="0">
                <a:solidFill>
                  <a:srgbClr val="24241F"/>
                </a:solidFill>
                <a:latin typeface="Calibri" pitchFamily="34" charset="0"/>
                <a:ea typeface="Calibri" pitchFamily="34" charset="-122"/>
                <a:cs typeface="Calibri" pitchFamily="34" charset="-120"/>
              </a:rPr>
              <a:t>A section heading destroyed by a text replacement that overwrote rather than preceded it — then destroyed a second time, the same way, after being documented.</a:t>
            </a:r>
            <a:endParaRPr lang="en-US" sz="1400" dirty="0"/>
          </a:p>
          <a:p>
            <a:pPr marL="342900" indent="-342900">
              <a:lnSpc>
                <a:spcPts val="2100"/>
              </a:lnSpc>
              <a:spcAft>
                <a:spcPts val="900"/>
              </a:spcAft>
              <a:buSzPct val="100000"/>
              <a:buChar char="•"/>
            </a:pPr>
            <a:r>
              <a:rPr lang="en-US" sz="1400" dirty="0">
                <a:solidFill>
                  <a:srgbClr val="24241F"/>
                </a:solidFill>
                <a:latin typeface="Calibri" pitchFamily="34" charset="0"/>
                <a:ea typeface="Calibri" pitchFamily="34" charset="-122"/>
                <a:cs typeface="Calibri" pitchFamily="34" charset="-120"/>
              </a:rPr>
              <a:t>A stray package file copied to the project root by an overly broad pattern.</a:t>
            </a:r>
            <a:endParaRPr lang="en-US" sz="1400" dirty="0"/>
          </a:p>
          <a:p>
            <a:pPr marL="342900" indent="-342900">
              <a:lnSpc>
                <a:spcPts val="2100"/>
              </a:lnSpc>
              <a:spcAft>
                <a:spcPts val="900"/>
              </a:spcAft>
              <a:buSzPct val="100000"/>
              <a:buChar char="•"/>
            </a:pPr>
            <a:r>
              <a:rPr lang="en-US" sz="1400" dirty="0">
                <a:solidFill>
                  <a:srgbClr val="24241F"/>
                </a:solidFill>
                <a:latin typeface="Calibri" pitchFamily="34" charset="0"/>
                <a:ea typeface="Calibri" pitchFamily="34" charset="-122"/>
                <a:cs typeface="Calibri" pitchFamily="34" charset="-120"/>
              </a:rPr>
              <a:t>Decision entries numbered out of sequence.</a:t>
            </a:r>
            <a:endParaRPr lang="en-US" sz="1400" dirty="0"/>
          </a:p>
          <a:p>
            <a:pPr marL="342900" indent="-342900">
              <a:lnSpc>
                <a:spcPts val="2100"/>
              </a:lnSpc>
              <a:spcAft>
                <a:spcPts val="900"/>
              </a:spcAft>
              <a:buSzPct val="100000"/>
              <a:buChar char="•"/>
            </a:pPr>
            <a:r>
              <a:rPr lang="en-US" sz="1400" dirty="0">
                <a:solidFill>
                  <a:srgbClr val="24241F"/>
                </a:solidFill>
                <a:latin typeface="Calibri" pitchFamily="34" charset="0"/>
                <a:ea typeface="Calibri" pitchFamily="34" charset="-122"/>
                <a:cs typeface="Calibri" pitchFamily="34" charset="-120"/>
              </a:rPr>
              <a:t>The interface could not be executed during development — the build environment had no network access to install it, so the first deployment was the first run.</a:t>
            </a:r>
            <a:endParaRPr lang="en-US" sz="1400" dirty="0"/>
          </a:p>
        </p:txBody>
      </p:sp>
      <p:sp>
        <p:nvSpPr>
          <p:cNvPr id="5" name="Text 3"/>
          <p:cNvSpPr/>
          <p:nvPr/>
        </p:nvSpPr>
        <p:spPr>
          <a:xfrm>
            <a:off x="640080" y="6291072"/>
            <a:ext cx="10881360" cy="292608"/>
          </a:xfrm>
          <a:prstGeom prst="rect">
            <a:avLst/>
          </a:prstGeom>
          <a:noFill/>
          <a:ln/>
        </p:spPr>
        <p:txBody>
          <a:bodyPr wrap="square" lIns="0" tIns="0" rIns="0" bIns="0" rtlCol="0" anchor="ctr"/>
          <a:lstStyle/>
          <a:p>
            <a:pPr marL="0" indent="0">
              <a:buNone/>
            </a:pPr>
            <a:r>
              <a:rPr lang="en-US" sz="1050" i="1" dirty="0">
                <a:solidFill>
                  <a:srgbClr val="6E6E66"/>
                </a:solidFill>
                <a:latin typeface="Calibri" pitchFamily="34" charset="0"/>
                <a:ea typeface="Calibri" pitchFamily="34" charset="-122"/>
                <a:cs typeface="Calibri" pitchFamily="34" charset="-120"/>
              </a:rPr>
              <a:t>Each of these was caught by verifying output rather than by care during the edit. That is worth knowing when deciding how much of this work to check.</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888</TotalTime>
  <Words>5125</Words>
  <Application>Microsoft Macintosh PowerPoint</Application>
  <PresentationFormat>Widescreen</PresentationFormat>
  <Paragraphs>377</Paragraphs>
  <Slides>36</Slides>
  <Notes>35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36</vt:i4>
      </vt:variant>
    </vt:vector>
  </HeadingPairs>
  <TitlesOfParts>
    <vt:vector size="40"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Karan Advani</cp:lastModifiedBy>
  <cp:revision>3</cp:revision>
  <dcterms:created xsi:type="dcterms:W3CDTF">2026-07-29T19:15:41Z</dcterms:created>
  <dcterms:modified xsi:type="dcterms:W3CDTF">2026-07-30T10:09:58Z</dcterms:modified>
</cp:coreProperties>
</file>